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sldIdLst>
    <p:sldId id="256" r:id="rId2"/>
  </p:sldIdLst>
  <p:sldSz cx="30279975" cy="21386800"/>
  <p:notesSz cx="6858000" cy="9144000"/>
  <p:defaultTextStyle>
    <a:defPPr>
      <a:defRPr lang="en-US"/>
    </a:defPPr>
    <a:lvl1pPr marL="0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5086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30172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5257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60343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5429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90515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5601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20686" algn="l" defTabSz="9150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6328" autoAdjust="0"/>
  </p:normalViewPr>
  <p:slideViewPr>
    <p:cSldViewPr snapToGrid="0" snapToObjects="1">
      <p:cViewPr>
        <p:scale>
          <a:sx n="40" d="100"/>
          <a:sy n="40" d="100"/>
        </p:scale>
        <p:origin x="-730" y="-62"/>
      </p:cViewPr>
      <p:guideLst>
        <p:guide orient="horz" pos="4322"/>
        <p:guide pos="57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040" y="4262749"/>
            <a:ext cx="15561116" cy="29413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6079" y="7775863"/>
            <a:ext cx="12815037" cy="3506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5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30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5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60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5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90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5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20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142" y="8817728"/>
            <a:ext cx="15561116" cy="2725364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142" y="5816017"/>
            <a:ext cx="15561116" cy="3001711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5086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3017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5257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60343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5429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90515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5601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20686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360" y="3201827"/>
            <a:ext cx="8085678" cy="9055959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6158" y="3201827"/>
            <a:ext cx="8085678" cy="9055959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360" y="3071594"/>
            <a:ext cx="8088857" cy="128009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5086" indent="0">
              <a:buNone/>
              <a:defRPr sz="4000" b="1"/>
            </a:lvl2pPr>
            <a:lvl3pPr marL="1830172" indent="0">
              <a:buNone/>
              <a:defRPr sz="3600" b="1"/>
            </a:lvl3pPr>
            <a:lvl4pPr marL="2745257" indent="0">
              <a:buNone/>
              <a:defRPr sz="3200" b="1"/>
            </a:lvl4pPr>
            <a:lvl5pPr marL="3660343" indent="0">
              <a:buNone/>
              <a:defRPr sz="3200" b="1"/>
            </a:lvl5pPr>
            <a:lvl6pPr marL="4575429" indent="0">
              <a:buNone/>
              <a:defRPr sz="3200" b="1"/>
            </a:lvl6pPr>
            <a:lvl7pPr marL="5490515" indent="0">
              <a:buNone/>
              <a:defRPr sz="3200" b="1"/>
            </a:lvl7pPr>
            <a:lvl8pPr marL="6405601" indent="0">
              <a:buNone/>
              <a:defRPr sz="3200" b="1"/>
            </a:lvl8pPr>
            <a:lvl9pPr marL="7320686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360" y="4351688"/>
            <a:ext cx="8088857" cy="7906097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9802" y="3071594"/>
            <a:ext cx="8092035" cy="128009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5086" indent="0">
              <a:buNone/>
              <a:defRPr sz="4000" b="1"/>
            </a:lvl2pPr>
            <a:lvl3pPr marL="1830172" indent="0">
              <a:buNone/>
              <a:defRPr sz="3600" b="1"/>
            </a:lvl3pPr>
            <a:lvl4pPr marL="2745257" indent="0">
              <a:buNone/>
              <a:defRPr sz="3200" b="1"/>
            </a:lvl4pPr>
            <a:lvl5pPr marL="3660343" indent="0">
              <a:buNone/>
              <a:defRPr sz="3200" b="1"/>
            </a:lvl5pPr>
            <a:lvl6pPr marL="4575429" indent="0">
              <a:buNone/>
              <a:defRPr sz="3200" b="1"/>
            </a:lvl6pPr>
            <a:lvl7pPr marL="5490515" indent="0">
              <a:buNone/>
              <a:defRPr sz="3200" b="1"/>
            </a:lvl7pPr>
            <a:lvl8pPr marL="6405601" indent="0">
              <a:buNone/>
              <a:defRPr sz="3200" b="1"/>
            </a:lvl8pPr>
            <a:lvl9pPr marL="7320686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9802" y="4351688"/>
            <a:ext cx="8092035" cy="7906097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361" y="546344"/>
            <a:ext cx="6022941" cy="2325135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7605" y="546344"/>
            <a:ext cx="10234231" cy="1171144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361" y="2871480"/>
            <a:ext cx="6022941" cy="9386306"/>
          </a:xfrm>
        </p:spPr>
        <p:txBody>
          <a:bodyPr/>
          <a:lstStyle>
            <a:lvl1pPr marL="0" indent="0">
              <a:buNone/>
              <a:defRPr sz="2800"/>
            </a:lvl1pPr>
            <a:lvl2pPr marL="915086" indent="0">
              <a:buNone/>
              <a:defRPr sz="2400"/>
            </a:lvl2pPr>
            <a:lvl3pPr marL="1830172" indent="0">
              <a:buNone/>
              <a:defRPr sz="2000"/>
            </a:lvl3pPr>
            <a:lvl4pPr marL="2745257" indent="0">
              <a:buNone/>
              <a:defRPr sz="1800"/>
            </a:lvl4pPr>
            <a:lvl5pPr marL="3660343" indent="0">
              <a:buNone/>
              <a:defRPr sz="1800"/>
            </a:lvl5pPr>
            <a:lvl6pPr marL="4575429" indent="0">
              <a:buNone/>
              <a:defRPr sz="1800"/>
            </a:lvl6pPr>
            <a:lvl7pPr marL="5490515" indent="0">
              <a:buNone/>
              <a:defRPr sz="1800"/>
            </a:lvl7pPr>
            <a:lvl8pPr marL="6405601" indent="0">
              <a:buNone/>
              <a:defRPr sz="1800"/>
            </a:lvl8pPr>
            <a:lvl9pPr marL="7320686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8339" y="9605478"/>
            <a:ext cx="10984317" cy="1133981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8339" y="1226096"/>
            <a:ext cx="10984317" cy="8233266"/>
          </a:xfrm>
        </p:spPr>
        <p:txBody>
          <a:bodyPr/>
          <a:lstStyle>
            <a:lvl1pPr marL="0" indent="0">
              <a:buNone/>
              <a:defRPr sz="6400"/>
            </a:lvl1pPr>
            <a:lvl2pPr marL="915086" indent="0">
              <a:buNone/>
              <a:defRPr sz="5600"/>
            </a:lvl2pPr>
            <a:lvl3pPr marL="1830172" indent="0">
              <a:buNone/>
              <a:defRPr sz="4800"/>
            </a:lvl3pPr>
            <a:lvl4pPr marL="2745257" indent="0">
              <a:buNone/>
              <a:defRPr sz="4000"/>
            </a:lvl4pPr>
            <a:lvl5pPr marL="3660343" indent="0">
              <a:buNone/>
              <a:defRPr sz="4000"/>
            </a:lvl5pPr>
            <a:lvl6pPr marL="4575429" indent="0">
              <a:buNone/>
              <a:defRPr sz="4000"/>
            </a:lvl6pPr>
            <a:lvl7pPr marL="5490515" indent="0">
              <a:buNone/>
              <a:defRPr sz="4000"/>
            </a:lvl7pPr>
            <a:lvl8pPr marL="6405601" indent="0">
              <a:buNone/>
              <a:defRPr sz="4000"/>
            </a:lvl8pPr>
            <a:lvl9pPr marL="7320686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8339" y="10739459"/>
            <a:ext cx="10984317" cy="1610441"/>
          </a:xfrm>
        </p:spPr>
        <p:txBody>
          <a:bodyPr/>
          <a:lstStyle>
            <a:lvl1pPr marL="0" indent="0">
              <a:buNone/>
              <a:defRPr sz="2800"/>
            </a:lvl1pPr>
            <a:lvl2pPr marL="915086" indent="0">
              <a:buNone/>
              <a:defRPr sz="2400"/>
            </a:lvl2pPr>
            <a:lvl3pPr marL="1830172" indent="0">
              <a:buNone/>
              <a:defRPr sz="2000"/>
            </a:lvl3pPr>
            <a:lvl4pPr marL="2745257" indent="0">
              <a:buNone/>
              <a:defRPr sz="1800"/>
            </a:lvl4pPr>
            <a:lvl5pPr marL="3660343" indent="0">
              <a:buNone/>
              <a:defRPr sz="1800"/>
            </a:lvl5pPr>
            <a:lvl6pPr marL="4575429" indent="0">
              <a:buNone/>
              <a:defRPr sz="1800"/>
            </a:lvl6pPr>
            <a:lvl7pPr marL="5490515" indent="0">
              <a:buNone/>
              <a:defRPr sz="1800"/>
            </a:lvl7pPr>
            <a:lvl8pPr marL="6405601" indent="0">
              <a:buNone/>
              <a:defRPr sz="1800"/>
            </a:lvl8pPr>
            <a:lvl9pPr marL="7320686" indent="0">
              <a:buNone/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72717" y="549522"/>
            <a:ext cx="4119119" cy="1170826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360" y="549522"/>
            <a:ext cx="12052237" cy="117082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360" y="549521"/>
            <a:ext cx="16476476" cy="2287018"/>
          </a:xfrm>
          <a:prstGeom prst="rect">
            <a:avLst/>
          </a:prstGeom>
        </p:spPr>
        <p:txBody>
          <a:bodyPr vert="horz" lIns="183017" tIns="91509" rIns="183017" bIns="915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360" y="3201827"/>
            <a:ext cx="16476476" cy="9055959"/>
          </a:xfrm>
          <a:prstGeom prst="rect">
            <a:avLst/>
          </a:prstGeom>
        </p:spPr>
        <p:txBody>
          <a:bodyPr vert="horz" lIns="183017" tIns="91509" rIns="183017" bIns="915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360" y="12718365"/>
            <a:ext cx="42716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4958" y="12718365"/>
            <a:ext cx="57972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20157" y="12718365"/>
            <a:ext cx="4271679" cy="730575"/>
          </a:xfrm>
          <a:prstGeom prst="rect">
            <a:avLst/>
          </a:prstGeom>
        </p:spPr>
        <p:txBody>
          <a:bodyPr vert="horz" lIns="183017" tIns="91509" rIns="183017" bIns="91509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5086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6314" indent="-686314" algn="l" defTabSz="915086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7014" indent="-571929" algn="l" defTabSz="915086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7715" indent="-457543" algn="l" defTabSz="915086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2800" indent="-457543" algn="l" defTabSz="915086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7886" indent="-457543" algn="l" defTabSz="915086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32972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8058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63144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8229" indent="-457543" algn="l" defTabSz="915086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5086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30172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5257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60343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5429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90515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5601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20686" algn="l" defTabSz="9150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92"/>
            <a:ext cx="30280101" cy="4240692"/>
          </a:xfrm>
          <a:prstGeom prst="rect">
            <a:avLst/>
          </a:prstGeom>
          <a:solidFill>
            <a:srgbClr val="002660"/>
          </a:solidFill>
          <a:ln w="9525">
            <a:solidFill>
              <a:srgbClr val="002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485290" y="354361"/>
            <a:ext cx="23317493" cy="973007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5600" b="1" dirty="0"/>
              <a:t>A Comparative Evaluation </a:t>
            </a:r>
            <a:r>
              <a:rPr lang="en-GB" sz="5600" b="1" dirty="0" smtClean="0"/>
              <a:t>Of </a:t>
            </a:r>
            <a:r>
              <a:rPr lang="en-GB" sz="5600" b="1" dirty="0"/>
              <a:t>Transformer-Based </a:t>
            </a:r>
            <a:r>
              <a:rPr lang="en-GB" sz="5600" b="1" dirty="0"/>
              <a:t>Language </a:t>
            </a:r>
            <a:r>
              <a:rPr lang="en-GB" sz="5600" b="1" dirty="0" smtClean="0"/>
              <a:t>Models</a:t>
            </a:r>
            <a:endParaRPr lang="en-GB" sz="5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914623" y="1582093"/>
            <a:ext cx="22651751" cy="1095767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3200" b="1" dirty="0"/>
              <a:t>For the </a:t>
            </a:r>
            <a:r>
              <a:rPr lang="en-GB" sz="3200" b="1" dirty="0" smtClean="0"/>
              <a:t>generation </a:t>
            </a:r>
            <a:r>
              <a:rPr lang="en-GB" sz="3200" b="1" dirty="0"/>
              <a:t>of Structured Algorithmic Representations such as Pseudocode and Executable Flow Diagrams </a:t>
            </a:r>
          </a:p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rPr lang="en-GB" sz="3200" b="1" dirty="0"/>
              <a:t>from Natural Language Algorithm Specifications.</a:t>
            </a:r>
            <a:endParaRPr lang="en-GB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995847" y="2821462"/>
            <a:ext cx="18739656" cy="541770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1060" b="1">
                <a:solidFill>
                  <a:srgbClr val="FFD73C"/>
                </a:solidFill>
                <a:latin typeface="Arial"/>
              </a:defRPr>
            </a:pPr>
            <a:r>
              <a:rPr sz="2800" dirty="0"/>
              <a:t>Building and Evaluating a Multi-Stage </a:t>
            </a:r>
            <a:r>
              <a:rPr sz="2800" dirty="0" smtClean="0"/>
              <a:t>Pipeline:</a:t>
            </a:r>
            <a:r>
              <a:rPr lang="en-GB" sz="2800" dirty="0" smtClean="0"/>
              <a:t> NL </a:t>
            </a:r>
            <a:r>
              <a:rPr lang="en-GB" sz="2800" dirty="0"/>
              <a:t>→</a:t>
            </a:r>
            <a:r>
              <a:rPr sz="2800" dirty="0" smtClean="0"/>
              <a:t> </a:t>
            </a:r>
            <a:r>
              <a:rPr sz="2800" dirty="0"/>
              <a:t>Pseudocode → AST → Flow Diagram → Python →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2721" y="3655098"/>
            <a:ext cx="3052668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  </a:t>
            </a:r>
            <a:r>
              <a:rPr lang="en-GB" sz="1800" dirty="0"/>
              <a:t>Alan Johnson - </a:t>
            </a:r>
            <a:r>
              <a:rPr sz="1800" dirty="0"/>
              <a:t>24038155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9538" y="3695061"/>
            <a:ext cx="2558943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  </a:t>
            </a:r>
            <a:r>
              <a:rPr sz="1600" dirty="0"/>
              <a:t>MSc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37965" y="3695061"/>
            <a:ext cx="2286433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sz="1600" dirty="0" smtClean="0"/>
              <a:t> </a:t>
            </a:r>
            <a:r>
              <a:rPr lang="en-GB" sz="1600" dirty="0" smtClean="0"/>
              <a:t>Mentor</a:t>
            </a:r>
            <a:r>
              <a:rPr sz="1600" dirty="0" smtClean="0"/>
              <a:t>: </a:t>
            </a:r>
            <a:r>
              <a:rPr sz="1600" dirty="0"/>
              <a:t>Beran Necat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49885" y="3695059"/>
            <a:ext cx="1428826" cy="35710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1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▣ 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1017" y="307986"/>
            <a:ext cx="2511471" cy="603511"/>
          </a:xfrm>
          <a:prstGeom prst="rect">
            <a:avLst/>
          </a:prstGeom>
          <a:noFill/>
        </p:spPr>
        <p:txBody>
          <a:bodyPr wrap="square" lIns="109810" tIns="54905" rIns="109810" bIns="54905" anchor="t">
            <a:spAutoFit/>
          </a:bodyPr>
          <a:lstStyle/>
          <a:p>
            <a:pPr algn="ctr">
              <a:defRPr sz="720" b="1">
                <a:solidFill>
                  <a:srgbClr val="FFD73C"/>
                </a:solidFill>
                <a:latin typeface="Arial"/>
              </a:defRPr>
            </a:pPr>
            <a:r>
              <a:rPr sz="3200" dirty="0"/>
              <a:t>SCAN ME!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429190" y="3648053"/>
            <a:ext cx="3743411" cy="48034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09" b="1">
                <a:solidFill>
                  <a:srgbClr val="FFFFFF"/>
                </a:solidFill>
                <a:latin typeface="Arial"/>
              </a:defRPr>
            </a:pPr>
            <a:r>
              <a:rPr lang="en-GB" sz="2400" dirty="0"/>
              <a:t>View Project Repository</a:t>
            </a:r>
            <a:endParaRPr sz="2400" dirty="0"/>
          </a:p>
        </p:txBody>
      </p:sp>
      <p:sp>
        <p:nvSpPr>
          <p:cNvPr id="63" name="Rectangle 62"/>
          <p:cNvSpPr/>
          <p:nvPr/>
        </p:nvSpPr>
        <p:spPr>
          <a:xfrm>
            <a:off x="201379" y="4419714"/>
            <a:ext cx="5730152" cy="2799311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4" name="Rectangle 63"/>
          <p:cNvSpPr/>
          <p:nvPr/>
        </p:nvSpPr>
        <p:spPr>
          <a:xfrm>
            <a:off x="201379" y="4419714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333336" y="4456307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0438" y="4500216"/>
            <a:ext cx="261569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PROJECT OVERVIEW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585" y="5096673"/>
            <a:ext cx="5786882" cy="177358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8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This project investigates the ability of transformer-based language models </a:t>
            </a:r>
            <a:endParaRPr lang="en-GB" sz="1200" b="1" dirty="0"/>
          </a:p>
          <a:p>
            <a:pPr algn="l">
              <a:defRPr sz="58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to convert natural language</a:t>
            </a:r>
            <a:r>
              <a:rPr lang="en-GB" sz="1200" b="1" dirty="0"/>
              <a:t> </a:t>
            </a:r>
            <a:r>
              <a:rPr sz="1200" b="1" dirty="0"/>
              <a:t>algorithmic descriptions into executable Python</a:t>
            </a:r>
            <a:br>
              <a:rPr sz="1200" b="1" dirty="0"/>
            </a:br>
            <a:r>
              <a:rPr sz="1200" b="1" dirty="0"/>
              <a:t>programs using a multi-stage, compiler-inspired</a:t>
            </a:r>
            <a:r>
              <a:rPr lang="en-GB" sz="1200" b="1" dirty="0"/>
              <a:t> </a:t>
            </a:r>
            <a:r>
              <a:rPr sz="1200" b="1" dirty="0"/>
              <a:t>pipeline.</a:t>
            </a:r>
            <a:br>
              <a:rPr sz="1200" b="1" dirty="0"/>
            </a:br>
            <a:r>
              <a:rPr sz="1200" b="1" dirty="0"/>
              <a:t/>
            </a:r>
            <a:br>
              <a:rPr sz="1200" b="1" dirty="0"/>
            </a:br>
            <a:r>
              <a:rPr sz="1200" b="1" dirty="0"/>
              <a:t>The system transforms English </a:t>
            </a:r>
            <a:r>
              <a:rPr lang="en-GB" sz="1200" b="1" dirty="0"/>
              <a:t>Natural language (NL) </a:t>
            </a:r>
            <a:r>
              <a:rPr sz="1200" b="1" dirty="0"/>
              <a:t>descriptions into</a:t>
            </a:r>
            <a:br>
              <a:rPr sz="1200" b="1" dirty="0"/>
            </a:br>
            <a:r>
              <a:rPr sz="1200" b="1" dirty="0"/>
              <a:t>structured pseudocode, </a:t>
            </a:r>
            <a:r>
              <a:rPr lang="en-GB" sz="1200" b="1" dirty="0"/>
              <a:t>and </a:t>
            </a:r>
            <a:r>
              <a:rPr sz="1200" b="1" dirty="0"/>
              <a:t>builds an Abstract Syntax</a:t>
            </a:r>
            <a:br>
              <a:rPr sz="1200" b="1" dirty="0"/>
            </a:br>
            <a:r>
              <a:rPr sz="1200" b="1" dirty="0"/>
              <a:t>Tree (AST),</a:t>
            </a:r>
            <a:r>
              <a:rPr lang="en-GB" sz="1200" b="1" dirty="0"/>
              <a:t> then it</a:t>
            </a:r>
            <a:r>
              <a:rPr sz="1200" b="1" dirty="0"/>
              <a:t> generates a flow diagram (Control</a:t>
            </a:r>
            <a:br>
              <a:rPr sz="1200" b="1" dirty="0"/>
            </a:br>
            <a:r>
              <a:rPr sz="1200" b="1" dirty="0"/>
              <a:t>Flow Graph), </a:t>
            </a:r>
            <a:r>
              <a:rPr lang="en-GB" sz="1200" b="1" dirty="0"/>
              <a:t>from which it </a:t>
            </a:r>
            <a:r>
              <a:rPr sz="1200" b="1" dirty="0"/>
              <a:t>produces Python code, and finally</a:t>
            </a:r>
            <a:br>
              <a:rPr sz="1200" b="1" dirty="0"/>
            </a:br>
            <a:r>
              <a:rPr sz="1200" b="1" dirty="0"/>
              <a:t>tests the program for correctness.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379" y="7358280"/>
            <a:ext cx="5730152" cy="257135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69" name="Rectangle 68"/>
          <p:cNvSpPr/>
          <p:nvPr/>
        </p:nvSpPr>
        <p:spPr>
          <a:xfrm>
            <a:off x="201379" y="735828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70" name="TextBox 69"/>
          <p:cNvSpPr txBox="1"/>
          <p:nvPr/>
        </p:nvSpPr>
        <p:spPr>
          <a:xfrm>
            <a:off x="362190" y="7394874"/>
            <a:ext cx="374051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0438" y="7438783"/>
            <a:ext cx="163663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MOTIVATION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379" y="9988905"/>
            <a:ext cx="5730152" cy="417301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01379" y="999979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33336" y="10036384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◎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0438" y="10080293"/>
            <a:ext cx="304305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RESEARCH OBJECTIVES</a:t>
            </a:r>
          </a:p>
        </p:txBody>
      </p:sp>
      <p:sp>
        <p:nvSpPr>
          <p:cNvPr id="77" name="Oval 76"/>
          <p:cNvSpPr/>
          <p:nvPr/>
        </p:nvSpPr>
        <p:spPr>
          <a:xfrm>
            <a:off x="439372" y="10848955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9189" y="10834140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129" y="10748492"/>
            <a:ext cx="380928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1">
                <a:solidFill>
                  <a:srgbClr val="08122B"/>
                </a:solidFill>
                <a:latin typeface="Arial"/>
              </a:defRPr>
            </a:pPr>
            <a:r>
              <a:rPr sz="1200" dirty="0"/>
              <a:t>Design and implement a multi-stage pipeline that</a:t>
            </a:r>
            <a:br>
              <a:rPr sz="1200" dirty="0"/>
            </a:br>
            <a:r>
              <a:rPr sz="1200" dirty="0"/>
              <a:t>converts language algorithm descriptions into</a:t>
            </a:r>
            <a:br>
              <a:rPr sz="1200" dirty="0"/>
            </a:br>
            <a:r>
              <a:rPr sz="1200" dirty="0"/>
              <a:t>executable Python programs.</a:t>
            </a:r>
          </a:p>
        </p:txBody>
      </p:sp>
      <p:sp>
        <p:nvSpPr>
          <p:cNvPr id="80" name="Oval 79"/>
          <p:cNvSpPr/>
          <p:nvPr/>
        </p:nvSpPr>
        <p:spPr>
          <a:xfrm>
            <a:off x="439372" y="11442498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2220" y="11425630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130" y="11336766"/>
            <a:ext cx="4689334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Define a structured pseudocode language and</a:t>
            </a:r>
            <a:br>
              <a:rPr sz="1200" b="1" dirty="0"/>
            </a:br>
            <a:r>
              <a:rPr sz="1200" b="1" dirty="0"/>
              <a:t>develop a </a:t>
            </a:r>
            <a:r>
              <a:rPr sz="1200" b="1" dirty="0" smtClean="0"/>
              <a:t>grammar</a:t>
            </a:r>
            <a:r>
              <a:rPr lang="en-GB" sz="1200" b="1" dirty="0" smtClean="0"/>
              <a:t> using the Cambridge Pseudocode Guide </a:t>
            </a:r>
          </a:p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for Teachers as a baseline for comparison</a:t>
            </a:r>
          </a:p>
        </p:txBody>
      </p:sp>
      <p:sp>
        <p:nvSpPr>
          <p:cNvPr id="83" name="Oval 82"/>
          <p:cNvSpPr/>
          <p:nvPr/>
        </p:nvSpPr>
        <p:spPr>
          <a:xfrm>
            <a:off x="439372" y="12014597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000"/>
          </a:p>
        </p:txBody>
      </p:sp>
      <p:sp>
        <p:nvSpPr>
          <p:cNvPr id="84" name="TextBox 83"/>
          <p:cNvSpPr txBox="1"/>
          <p:nvPr/>
        </p:nvSpPr>
        <p:spPr>
          <a:xfrm>
            <a:off x="404190" y="11992284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30" y="11953605"/>
            <a:ext cx="4229978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Generate program flow diagrams (Control Flow</a:t>
            </a:r>
            <a:br>
              <a:rPr sz="1200" b="1" dirty="0"/>
            </a:br>
            <a:r>
              <a:rPr sz="1200" b="1" dirty="0"/>
              <a:t>Graphs) from the </a:t>
            </a:r>
            <a:r>
              <a:rPr sz="1200" b="1" dirty="0" smtClean="0"/>
              <a:t>AST</a:t>
            </a:r>
            <a:r>
              <a:rPr lang="en-GB" sz="1200" b="1" dirty="0" smtClean="0"/>
              <a:t> generated from the Pseudocode</a:t>
            </a:r>
            <a:r>
              <a:rPr b="1" dirty="0" smtClean="0"/>
              <a:t>.</a:t>
            </a:r>
            <a:endParaRPr b="1" dirty="0"/>
          </a:p>
        </p:txBody>
      </p:sp>
      <p:sp>
        <p:nvSpPr>
          <p:cNvPr id="86" name="Oval 85"/>
          <p:cNvSpPr/>
          <p:nvPr/>
        </p:nvSpPr>
        <p:spPr>
          <a:xfrm>
            <a:off x="428990" y="13612906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42129" y="12539332"/>
            <a:ext cx="355120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Generate Python code from the flow diagram.</a:t>
            </a:r>
          </a:p>
        </p:txBody>
      </p:sp>
      <p:sp>
        <p:nvSpPr>
          <p:cNvPr id="89" name="Oval 88"/>
          <p:cNvSpPr/>
          <p:nvPr/>
        </p:nvSpPr>
        <p:spPr>
          <a:xfrm>
            <a:off x="431342" y="12555348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13706" y="12668675"/>
            <a:ext cx="255428" cy="183210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dirty="0"/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2129" y="13012011"/>
            <a:ext cx="3419756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Develop an automated testing framework to</a:t>
            </a:r>
            <a:br>
              <a:rPr sz="1200" b="1" dirty="0"/>
            </a:br>
            <a:r>
              <a:rPr sz="1200" b="1" dirty="0"/>
              <a:t>evaluate correctness.</a:t>
            </a:r>
          </a:p>
        </p:txBody>
      </p:sp>
      <p:sp>
        <p:nvSpPr>
          <p:cNvPr id="92" name="Oval 91"/>
          <p:cNvSpPr/>
          <p:nvPr/>
        </p:nvSpPr>
        <p:spPr>
          <a:xfrm>
            <a:off x="420387" y="13094457"/>
            <a:ext cx="237994" cy="237850"/>
          </a:xfrm>
          <a:prstGeom prst="ellipse">
            <a:avLst/>
          </a:prstGeom>
          <a:solidFill>
            <a:srgbClr val="003078"/>
          </a:solidFill>
          <a:ln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03301" y="13602307"/>
            <a:ext cx="292298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70" b="1">
                <a:solidFill>
                  <a:srgbClr val="FFFFFF"/>
                </a:solidFill>
                <a:latin typeface="Arial"/>
              </a:defRPr>
            </a:pPr>
            <a:r>
              <a:rPr sz="1000" dirty="0"/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2129" y="13513244"/>
            <a:ext cx="3887833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6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Evaluate and compare multiple transformer-based</a:t>
            </a:r>
            <a:br>
              <a:rPr sz="1200" b="1" dirty="0"/>
            </a:br>
            <a:r>
              <a:rPr sz="1200" b="1" dirty="0"/>
              <a:t>models across all stages of the pipeline</a:t>
            </a:r>
            <a:r>
              <a:rPr b="1" dirty="0"/>
              <a:t>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1379" y="14227628"/>
            <a:ext cx="5730152" cy="3743065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01379" y="14225061"/>
            <a:ext cx="5730152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9291" y="14261653"/>
            <a:ext cx="47984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0438" y="14305563"/>
            <a:ext cx="2679810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KEY CONTRIBUTIONS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681" y="14773168"/>
            <a:ext cx="5217549" cy="3046988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 smtClean="0"/>
              <a:t>•  </a:t>
            </a:r>
            <a:r>
              <a:rPr sz="1200" b="1" dirty="0"/>
              <a:t>A complete end-to-end program </a:t>
            </a:r>
            <a:r>
              <a:rPr lang="en-GB" sz="1200" b="1" dirty="0"/>
              <a:t>generation</a:t>
            </a:r>
            <a:r>
              <a:rPr sz="1200" b="1" dirty="0"/>
              <a:t> pipeline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benchmark dataset of natural language algorithm</a:t>
            </a:r>
            <a:br>
              <a:rPr sz="1200" b="1" dirty="0"/>
            </a:br>
            <a:r>
              <a:rPr sz="1200" b="1" dirty="0"/>
              <a:t>   descriptions with test cases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lang="en-GB"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</a:t>
            </a:r>
            <a:r>
              <a:rPr lang="en-US" sz="1200" b="1" dirty="0" smtClean="0"/>
              <a:t>A </a:t>
            </a:r>
            <a:r>
              <a:rPr lang="en-US" sz="1200" b="1" dirty="0"/>
              <a:t>benchmark dataset of </a:t>
            </a:r>
            <a:r>
              <a:rPr lang="en-US" sz="1200" b="1" dirty="0" smtClean="0"/>
              <a:t>pseudocode algorithm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   descriptions with test cases</a:t>
            </a:r>
            <a:r>
              <a:rPr lang="en-US"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framework for evaluating LLMs in multi-stage</a:t>
            </a:r>
            <a:br>
              <a:rPr sz="1200" b="1" dirty="0"/>
            </a:br>
            <a:r>
              <a:rPr sz="1200" b="1" dirty="0"/>
              <a:t>   program </a:t>
            </a:r>
            <a:r>
              <a:rPr lang="en-GB" sz="1200" b="1" dirty="0"/>
              <a:t>generation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8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Insights into error propagation and failure patterns</a:t>
            </a:r>
            <a:br>
              <a:rPr sz="1200" b="1" dirty="0"/>
            </a:br>
            <a:r>
              <a:rPr sz="1200" b="1" dirty="0"/>
              <a:t>   across stages.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5976" y="4513106"/>
            <a:ext cx="18581803" cy="442766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101" name="Rectangle 100"/>
          <p:cNvSpPr/>
          <p:nvPr/>
        </p:nvSpPr>
        <p:spPr>
          <a:xfrm>
            <a:off x="6077989" y="4419715"/>
            <a:ext cx="18616384" cy="623980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077989" y="4593605"/>
            <a:ext cx="18484165" cy="387881"/>
          </a:xfrm>
          <a:prstGeom prst="rect">
            <a:avLst/>
          </a:prstGeom>
          <a:noFill/>
        </p:spPr>
        <p:txBody>
          <a:bodyPr wrap="square" lIns="109810" tIns="54905" rIns="109810" bIns="54905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METHODOLOGY: MULTI-STAGE PROGRAM SYNTHESIS PIPELINE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0838" y="5284675"/>
            <a:ext cx="1786296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005BB5"/>
                </a:solidFill>
                <a:latin typeface="Arial"/>
              </a:defRPr>
            </a:pPr>
            <a:r>
              <a:rPr sz="1700" dirty="0"/>
              <a:t>1. </a:t>
            </a:r>
            <a:r>
              <a:rPr sz="1700" dirty="0" smtClean="0"/>
              <a:t>ENGLISH</a:t>
            </a:r>
            <a:r>
              <a:rPr lang="en-GB" sz="1700" dirty="0" smtClean="0"/>
              <a:t> NL</a:t>
            </a:r>
            <a:r>
              <a:rPr sz="1700" dirty="0"/>
              <a:t/>
            </a:r>
            <a:br>
              <a:rPr sz="1700" dirty="0"/>
            </a:br>
            <a:r>
              <a:rPr sz="1700" dirty="0"/>
              <a:t>DESCRIPTION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663817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7066578" y="6489090"/>
            <a:ext cx="768902" cy="512292"/>
          </a:xfrm>
          <a:prstGeom prst="roundRect">
            <a:avLst/>
          </a:prstGeom>
          <a:solidFill>
            <a:srgbClr val="1A9FDE"/>
          </a:solidFill>
          <a:ln w="9525">
            <a:solidFill>
              <a:srgbClr val="1A9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6" name="Right Triangle 105"/>
          <p:cNvSpPr/>
          <p:nvPr/>
        </p:nvSpPr>
        <p:spPr>
          <a:xfrm>
            <a:off x="7176420" y="6909901"/>
            <a:ext cx="256301" cy="329331"/>
          </a:xfrm>
          <a:prstGeom prst="rtTriangle">
            <a:avLst/>
          </a:prstGeom>
          <a:solidFill>
            <a:srgbClr val="1A9FDE"/>
          </a:solidFill>
          <a:ln>
            <a:solidFill>
              <a:srgbClr val="1A9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524255" y="6781828"/>
            <a:ext cx="732288" cy="493996"/>
          </a:xfrm>
          <a:prstGeom prst="roundRect">
            <a:avLst/>
          </a:prstGeom>
          <a:solidFill>
            <a:srgbClr val="5FB8E4"/>
          </a:solidFill>
          <a:ln w="9525">
            <a:solidFill>
              <a:srgbClr val="5FB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455891" y="6580568"/>
            <a:ext cx="356417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•••</a:t>
            </a:r>
          </a:p>
        </p:txBody>
      </p:sp>
      <p:cxnSp>
        <p:nvCxnSpPr>
          <p:cNvPr id="109" name="Connector 108"/>
          <p:cNvCxnSpPr>
            <a:stCxn id="104" idx="3"/>
          </p:cNvCxnSpPr>
          <p:nvPr/>
        </p:nvCxnSpPr>
        <p:spPr>
          <a:xfrm>
            <a:off x="8714223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017843" y="7788116"/>
            <a:ext cx="147050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Natural language</a:t>
            </a:r>
            <a:br>
              <a:rPr sz="1200"/>
            </a:br>
            <a:r>
              <a:rPr sz="1200"/>
              <a:t>algorithm</a:t>
            </a:r>
            <a:br>
              <a:rPr sz="1200"/>
            </a:br>
            <a:r>
              <a:rPr sz="1200"/>
              <a:t>specification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06266" y="5284675"/>
            <a:ext cx="2017129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1C8544"/>
                </a:solidFill>
                <a:latin typeface="Arial"/>
              </a:defRPr>
            </a:pPr>
            <a:r>
              <a:rPr sz="1700" dirty="0"/>
              <a:t>2. PSEUDOCODE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74663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9977420" y="6489090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0233720" y="6507384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9977420" y="6708644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10233720" y="6726939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9977420" y="6928197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10233720" y="6946493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977420" y="7147751"/>
            <a:ext cx="128150" cy="128073"/>
          </a:xfrm>
          <a:prstGeom prst="rect">
            <a:avLst/>
          </a:prstGeom>
          <a:solidFill>
            <a:srgbClr val="FFFFFF"/>
          </a:solidFill>
          <a:ln w="1397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10233720" y="7166045"/>
            <a:ext cx="878745" cy="82333"/>
          </a:xfrm>
          <a:prstGeom prst="roundRect">
            <a:avLst/>
          </a:prstGeom>
          <a:solidFill>
            <a:srgbClr val="ECFAEF"/>
          </a:solidFill>
          <a:ln w="1016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21" name="Connector 120"/>
          <p:cNvCxnSpPr>
            <a:stCxn id="112" idx="3"/>
          </p:cNvCxnSpPr>
          <p:nvPr/>
        </p:nvCxnSpPr>
        <p:spPr>
          <a:xfrm>
            <a:off x="11625070" y="6909901"/>
            <a:ext cx="951972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789228" y="7788116"/>
            <a:ext cx="1749427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Transformer model</a:t>
            </a:r>
            <a:br>
              <a:rPr sz="1200"/>
            </a:br>
            <a:r>
              <a:rPr sz="1200"/>
              <a:t>generates structured</a:t>
            </a:r>
            <a:br>
              <a:rPr sz="1200"/>
            </a:br>
            <a:r>
              <a:rPr sz="1200"/>
              <a:t>pseudocode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705435" y="5284675"/>
            <a:ext cx="1659531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E77020"/>
                </a:solidFill>
                <a:latin typeface="Arial"/>
              </a:defRPr>
            </a:pPr>
            <a:r>
              <a:rPr sz="1700" dirty="0"/>
              <a:t>3. AST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485507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3400867" y="6392069"/>
            <a:ext cx="256301" cy="256146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2823448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3386622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4007921" y="7215395"/>
            <a:ext cx="274608" cy="219554"/>
          </a:xfrm>
          <a:prstGeom prst="rect">
            <a:avLst/>
          </a:prstGeom>
          <a:solidFill>
            <a:srgbClr val="FFFFFF"/>
          </a:solidFill>
          <a:ln w="1524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13529017" y="6648216"/>
            <a:ext cx="0" cy="298279"/>
          </a:xfrm>
          <a:prstGeom prst="line">
            <a:avLst/>
          </a:prstGeom>
          <a:ln w="11430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>
            <a:endCxn id="126" idx="0"/>
          </p:cNvCxnSpPr>
          <p:nvPr/>
        </p:nvCxnSpPr>
        <p:spPr>
          <a:xfrm flipH="1">
            <a:off x="12960752" y="6946494"/>
            <a:ext cx="568266" cy="268902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>
            <a:endCxn id="127" idx="0"/>
          </p:cNvCxnSpPr>
          <p:nvPr/>
        </p:nvCxnSpPr>
        <p:spPr>
          <a:xfrm flipH="1">
            <a:off x="13523927" y="6946494"/>
            <a:ext cx="7922" cy="268902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>
            <a:endCxn id="128" idx="0"/>
          </p:cNvCxnSpPr>
          <p:nvPr/>
        </p:nvCxnSpPr>
        <p:spPr>
          <a:xfrm>
            <a:off x="13529018" y="6940952"/>
            <a:ext cx="616208" cy="274444"/>
          </a:xfrm>
          <a:prstGeom prst="line">
            <a:avLst/>
          </a:prstGeom>
          <a:ln w="952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>
            <a:stCxn id="124" idx="3"/>
          </p:cNvCxnSpPr>
          <p:nvPr/>
        </p:nvCxnSpPr>
        <p:spPr>
          <a:xfrm>
            <a:off x="14535913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2700296" y="7788116"/>
            <a:ext cx="1748979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Parser converts</a:t>
            </a:r>
            <a:br>
              <a:rPr sz="1200"/>
            </a:br>
            <a:r>
              <a:rPr sz="1200"/>
              <a:t>pseudocode into an</a:t>
            </a:r>
            <a:br>
              <a:rPr sz="1200"/>
            </a:br>
            <a:r>
              <a:rPr sz="1200"/>
              <a:t>Abstract Syntax Tree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342102" y="5284675"/>
            <a:ext cx="2207886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623F96"/>
                </a:solidFill>
                <a:latin typeface="Arial"/>
              </a:defRPr>
            </a:pPr>
            <a:r>
              <a:rPr sz="1700" dirty="0"/>
              <a:t>4. FLOW DIAGRAM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5396351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7" name="Hexagon 136"/>
          <p:cNvSpPr/>
          <p:nvPr/>
        </p:nvSpPr>
        <p:spPr>
          <a:xfrm>
            <a:off x="16146218" y="6405929"/>
            <a:ext cx="585830" cy="329331"/>
          </a:xfrm>
          <a:prstGeom prst="hexagon">
            <a:avLst/>
          </a:prstGeom>
          <a:solidFill>
            <a:srgbClr val="ECE6F9"/>
          </a:solidFill>
          <a:ln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5630985" y="7229255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6260123" y="7221994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6918323" y="7229255"/>
            <a:ext cx="366144" cy="237850"/>
          </a:xfrm>
          <a:prstGeom prst="rect">
            <a:avLst/>
          </a:prstGeom>
          <a:solidFill>
            <a:srgbClr val="ECE6F9"/>
          </a:solidFill>
          <a:ln w="1397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141" name="Connector 140"/>
          <p:cNvCxnSpPr/>
          <p:nvPr/>
        </p:nvCxnSpPr>
        <p:spPr>
          <a:xfrm>
            <a:off x="16431867" y="6735259"/>
            <a:ext cx="0" cy="329331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>
            <a:endCxn id="138" idx="0"/>
          </p:cNvCxnSpPr>
          <p:nvPr/>
        </p:nvCxnSpPr>
        <p:spPr>
          <a:xfrm flipH="1">
            <a:off x="15814058" y="7064590"/>
            <a:ext cx="617810" cy="164665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>
            <a:endCxn id="139" idx="0"/>
          </p:cNvCxnSpPr>
          <p:nvPr/>
        </p:nvCxnSpPr>
        <p:spPr>
          <a:xfrm>
            <a:off x="16431867" y="7074567"/>
            <a:ext cx="11328" cy="147428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>
            <a:endCxn id="140" idx="0"/>
          </p:cNvCxnSpPr>
          <p:nvPr/>
        </p:nvCxnSpPr>
        <p:spPr>
          <a:xfrm>
            <a:off x="16421554" y="7074566"/>
            <a:ext cx="679841" cy="154689"/>
          </a:xfrm>
          <a:prstGeom prst="line">
            <a:avLst/>
          </a:prstGeom>
          <a:ln w="10160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>
            <a:stCxn id="136" idx="3"/>
          </p:cNvCxnSpPr>
          <p:nvPr/>
        </p:nvCxnSpPr>
        <p:spPr>
          <a:xfrm>
            <a:off x="17446757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5518742" y="7788116"/>
            <a:ext cx="1933773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 dirty="0"/>
              <a:t>AST is converted into a</a:t>
            </a:r>
            <a:br>
              <a:rPr sz="1200" dirty="0"/>
            </a:br>
            <a:r>
              <a:rPr sz="1200" dirty="0"/>
              <a:t>Control Flow Graph</a:t>
            </a:r>
            <a:br>
              <a:rPr sz="1200" dirty="0"/>
            </a:br>
            <a:r>
              <a:rPr sz="1200" dirty="0"/>
              <a:t>(Flow Diagram)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314755" y="5284675"/>
            <a:ext cx="2065219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005BB5"/>
                </a:solidFill>
                <a:latin typeface="Arial"/>
              </a:defRPr>
            </a:pPr>
            <a:r>
              <a:rPr sz="1700" dirty="0"/>
              <a:t>5. PYTHON CODE</a:t>
            </a:r>
            <a:br>
              <a:rPr sz="1700" dirty="0"/>
            </a:br>
            <a:r>
              <a:rPr sz="1700" dirty="0"/>
              <a:t>GENERATION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8307195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18893026" y="6525682"/>
            <a:ext cx="659059" cy="512292"/>
          </a:xfrm>
          <a:prstGeom prst="roundRect">
            <a:avLst/>
          </a:prstGeom>
          <a:solidFill>
            <a:srgbClr val="1E59A0"/>
          </a:solidFill>
          <a:ln w="9525">
            <a:solidFill>
              <a:srgbClr val="1E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0" name="Rounded Rectangle 149"/>
          <p:cNvSpPr/>
          <p:nvPr/>
        </p:nvSpPr>
        <p:spPr>
          <a:xfrm>
            <a:off x="19405627" y="6946493"/>
            <a:ext cx="659059" cy="512292"/>
          </a:xfrm>
          <a:prstGeom prst="roundRect">
            <a:avLst/>
          </a:prstGeom>
          <a:solidFill>
            <a:srgbClr val="FFD237"/>
          </a:solidFill>
          <a:ln w="9525">
            <a:solidFill>
              <a:srgbClr val="FFD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9176422" y="6598867"/>
            <a:ext cx="257031" cy="23399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615794" y="7239232"/>
            <a:ext cx="257031" cy="23399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153" name="Connector 152"/>
          <p:cNvCxnSpPr>
            <a:stCxn id="148" idx="3"/>
          </p:cNvCxnSpPr>
          <p:nvPr/>
        </p:nvCxnSpPr>
        <p:spPr>
          <a:xfrm>
            <a:off x="20357601" y="6909901"/>
            <a:ext cx="951974" cy="0"/>
          </a:xfrm>
          <a:prstGeom prst="line">
            <a:avLst/>
          </a:prstGeom>
          <a:ln w="25400">
            <a:solidFill>
              <a:srgbClr val="003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8322078" y="7788116"/>
            <a:ext cx="1614775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Python code is</a:t>
            </a:r>
            <a:br>
              <a:rPr sz="1200"/>
            </a:br>
            <a:r>
              <a:rPr sz="1200"/>
              <a:t>generated from the</a:t>
            </a:r>
            <a:br>
              <a:rPr sz="1200"/>
            </a:br>
            <a:r>
              <a:rPr sz="1200"/>
              <a:t>flow diagram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415031" y="5284675"/>
            <a:ext cx="1629201" cy="634103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50" b="1">
                <a:solidFill>
                  <a:srgbClr val="138996"/>
                </a:solidFill>
                <a:latin typeface="Arial"/>
              </a:defRPr>
            </a:pPr>
            <a:r>
              <a:rPr sz="1700"/>
              <a:t>6. TESTING &amp;</a:t>
            </a:r>
            <a:br>
              <a:rPr sz="1700"/>
            </a:br>
            <a:r>
              <a:rPr sz="1700"/>
              <a:t>EVALUATION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1218039" y="6214648"/>
            <a:ext cx="2050406" cy="1390507"/>
          </a:xfrm>
          <a:prstGeom prst="roundRect">
            <a:avLst/>
          </a:prstGeom>
          <a:solidFill>
            <a:srgbClr val="F6FCFF"/>
          </a:solidFill>
          <a:ln w="1016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1856437" y="6489090"/>
            <a:ext cx="805517" cy="1006288"/>
          </a:xfrm>
          <a:prstGeom prst="rect">
            <a:avLst/>
          </a:prstGeom>
          <a:solidFill>
            <a:srgbClr val="EFFDFD"/>
          </a:solidFill>
          <a:ln w="1524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22076123" y="6361017"/>
            <a:ext cx="366144" cy="182961"/>
          </a:xfrm>
          <a:prstGeom prst="roundRect">
            <a:avLst/>
          </a:prstGeom>
          <a:solidFill>
            <a:srgbClr val="EFFDFD"/>
          </a:solidFill>
          <a:ln w="1524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1984587" y="6635459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 dirty="0"/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1984587" y="6818420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/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984587" y="7001382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/>
              <a:t>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1984587" y="7184343"/>
            <a:ext cx="35000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50" b="1">
                <a:solidFill>
                  <a:srgbClr val="138996"/>
                </a:solidFill>
                <a:latin typeface="Arial"/>
              </a:defRPr>
            </a:pPr>
            <a:r>
              <a:rPr sz="1000" dirty="0"/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535197" y="7788116"/>
            <a:ext cx="1544243" cy="664880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70" b="1">
                <a:solidFill>
                  <a:srgbClr val="08122B"/>
                </a:solidFill>
                <a:latin typeface="Arial"/>
              </a:defRPr>
            </a:pPr>
            <a:r>
              <a:rPr sz="1200"/>
              <a:t>Code is executed</a:t>
            </a:r>
            <a:br>
              <a:rPr sz="1200"/>
            </a:br>
            <a:r>
              <a:rPr sz="1200"/>
              <a:t>against test cases</a:t>
            </a:r>
            <a:br>
              <a:rPr sz="1200"/>
            </a:br>
            <a:r>
              <a:rPr sz="1200"/>
              <a:t>and evaluated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077989" y="9010473"/>
            <a:ext cx="18581803" cy="5708398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165" name="Rectangle 164"/>
          <p:cNvSpPr/>
          <p:nvPr/>
        </p:nvSpPr>
        <p:spPr>
          <a:xfrm>
            <a:off x="6077989" y="9054036"/>
            <a:ext cx="18581803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3186896" y="9090974"/>
            <a:ext cx="436398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EXAMPLE PIPELINE WALKTHROUGH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10010" y="9696480"/>
            <a:ext cx="2246806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003078"/>
                </a:solidFill>
                <a:latin typeface="Arial"/>
              </a:defRPr>
            </a:pPr>
            <a:r>
              <a:rPr sz="1200" i="1" dirty="0"/>
              <a:t>ENGLISH </a:t>
            </a:r>
            <a:r>
              <a:rPr lang="en-GB" sz="1200" i="1" dirty="0" smtClean="0"/>
              <a:t>NL </a:t>
            </a:r>
            <a:r>
              <a:rPr sz="1200" i="1" dirty="0" smtClean="0"/>
              <a:t>DESCRIPTION</a:t>
            </a:r>
            <a:endParaRPr sz="1200" i="1" dirty="0"/>
          </a:p>
        </p:txBody>
      </p:sp>
      <p:sp>
        <p:nvSpPr>
          <p:cNvPr id="168" name="Rounded Rectangle 167"/>
          <p:cNvSpPr/>
          <p:nvPr/>
        </p:nvSpPr>
        <p:spPr>
          <a:xfrm>
            <a:off x="6297675" y="10082106"/>
            <a:ext cx="2471471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649444" y="9696480"/>
            <a:ext cx="1315013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1C8544"/>
                </a:solidFill>
                <a:latin typeface="Arial"/>
              </a:defRPr>
            </a:pPr>
            <a:r>
              <a:rPr sz="1200" i="1" dirty="0"/>
              <a:t>PSEUDOCODE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007140" y="10082106"/>
            <a:ext cx="2599622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C8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3017100" y="9696480"/>
            <a:ext cx="529541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E77020"/>
                </a:solidFill>
                <a:latin typeface="Arial"/>
              </a:defRPr>
            </a:pPr>
            <a:r>
              <a:rPr sz="1200" i="1" dirty="0"/>
              <a:t>AST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789834" y="10082106"/>
            <a:ext cx="2984073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5760744" y="9696480"/>
            <a:ext cx="1925757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623F96"/>
                </a:solidFill>
                <a:latin typeface="Arial"/>
              </a:defRPr>
            </a:pPr>
            <a:r>
              <a:rPr sz="1200" i="1" dirty="0"/>
              <a:t>FLOW DIAGRAM (CFG)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4938671" y="10082106"/>
            <a:ext cx="3569903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9407854" y="9696480"/>
            <a:ext cx="1350279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003078"/>
                </a:solidFill>
                <a:latin typeface="Arial"/>
              </a:defRPr>
            </a:pPr>
            <a:r>
              <a:rPr sz="1200" i="1" dirty="0"/>
              <a:t>PYTHON CODE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8709954" y="10082106"/>
            <a:ext cx="2746079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22398690" y="9696480"/>
            <a:ext cx="1263525" cy="295548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530" b="1">
                <a:solidFill>
                  <a:srgbClr val="138996"/>
                </a:solidFill>
                <a:latin typeface="Arial"/>
              </a:defRPr>
            </a:pPr>
            <a:r>
              <a:rPr sz="1200" i="1" dirty="0"/>
              <a:t>TEST RESULT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1675719" y="10082106"/>
            <a:ext cx="2709465" cy="4391075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38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6361339" y="11724797"/>
            <a:ext cx="2344142" cy="849546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600" b="1">
                <a:solidFill>
                  <a:srgbClr val="08122B"/>
                </a:solidFill>
                <a:latin typeface="Arial"/>
              </a:defRPr>
            </a:pPr>
            <a:r>
              <a:rPr sz="1600" dirty="0"/>
              <a:t>Find the factorial of</a:t>
            </a:r>
            <a:br>
              <a:rPr sz="1600" dirty="0"/>
            </a:br>
            <a:r>
              <a:rPr sz="1600" dirty="0"/>
              <a:t>a number using</a:t>
            </a:r>
            <a:br>
              <a:rPr sz="1600" dirty="0"/>
            </a:br>
            <a:r>
              <a:rPr sz="1600" dirty="0"/>
              <a:t>an iterative approach.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51911" y="10617443"/>
            <a:ext cx="1855225" cy="226531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sz="1400" dirty="0" smtClean="0"/>
              <a:t>1.  Start</a:t>
            </a:r>
            <a:br>
              <a:rPr sz="1400" dirty="0" smtClean="0"/>
            </a:br>
            <a:r>
              <a:rPr sz="1400" dirty="0" smtClean="0"/>
              <a:t>2. </a:t>
            </a:r>
            <a:r>
              <a:rPr lang="en-GB" sz="1400" dirty="0" smtClean="0"/>
              <a:t> </a:t>
            </a:r>
            <a:r>
              <a:rPr lang="en-US" sz="1400" dirty="0"/>
              <a:t>n &lt;- INPUT()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3. </a:t>
            </a:r>
            <a:r>
              <a:rPr lang="en-GB" sz="1400" dirty="0" smtClean="0"/>
              <a:t> </a:t>
            </a:r>
            <a:r>
              <a:rPr lang="en-US" sz="1400" dirty="0"/>
              <a:t>fact &lt;- 1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4. </a:t>
            </a:r>
            <a:r>
              <a:rPr lang="en-GB" sz="1400" dirty="0" smtClean="0"/>
              <a:t> </a:t>
            </a:r>
            <a:r>
              <a:rPr lang="en-US" sz="1400" dirty="0"/>
              <a:t>i &lt;- 1 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5. </a:t>
            </a:r>
            <a:r>
              <a:rPr lang="en-GB" sz="1400" dirty="0" smtClean="0"/>
              <a:t> </a:t>
            </a:r>
            <a:r>
              <a:rPr sz="1400" dirty="0" smtClean="0"/>
              <a:t>W</a:t>
            </a:r>
            <a:r>
              <a:rPr lang="en-GB" sz="1400" dirty="0" smtClean="0"/>
              <a:t>HILE</a:t>
            </a:r>
            <a:r>
              <a:rPr sz="1400" dirty="0" smtClean="0"/>
              <a:t> i &lt;= n</a:t>
            </a:r>
            <a:r>
              <a:rPr lang="en-GB" sz="1400" dirty="0" smtClean="0"/>
              <a:t> DO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    5.1  fact </a:t>
            </a:r>
            <a:r>
              <a:rPr lang="en-GB" sz="1400" dirty="0" smtClean="0"/>
              <a:t>&lt;-</a:t>
            </a:r>
            <a:r>
              <a:rPr sz="1400" dirty="0" smtClean="0"/>
              <a:t> fact * i</a:t>
            </a:r>
            <a:br>
              <a:rPr sz="1400" dirty="0" smtClean="0"/>
            </a:br>
            <a:r>
              <a:rPr sz="1400" dirty="0" smtClean="0"/>
              <a:t>    5.2  i </a:t>
            </a:r>
            <a:r>
              <a:rPr lang="en-GB" sz="1400" dirty="0" smtClean="0"/>
              <a:t>&lt;-</a:t>
            </a:r>
            <a:r>
              <a:rPr sz="1400" dirty="0" smtClean="0"/>
              <a:t> i + 1</a:t>
            </a:r>
            <a:br>
              <a:rPr sz="1400" dirty="0" smtClean="0"/>
            </a:br>
            <a:r>
              <a:rPr sz="1400" dirty="0" smtClean="0"/>
              <a:t>6.  </a:t>
            </a:r>
            <a:r>
              <a:rPr lang="en-GB" sz="1400" dirty="0" smtClean="0"/>
              <a:t>ENDWHILE</a:t>
            </a:r>
            <a:r>
              <a:rPr sz="1400" dirty="0" smtClean="0"/>
              <a:t/>
            </a:r>
            <a:br>
              <a:rPr sz="1400" dirty="0" smtClean="0"/>
            </a:br>
            <a:r>
              <a:rPr sz="1400" dirty="0" smtClean="0"/>
              <a:t>7.  </a:t>
            </a:r>
            <a:r>
              <a:rPr lang="en-GB" sz="1400" dirty="0" smtClean="0"/>
              <a:t>OUTPUT fact</a:t>
            </a:r>
          </a:p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GB" sz="1400" dirty="0" smtClean="0"/>
              <a:t>8.  STOP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2851651" y="10319956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12990567" y="10338252"/>
            <a:ext cx="491069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/>
              <a:t>Start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2851651" y="10960321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2791778" y="10978618"/>
            <a:ext cx="944720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US" sz="1000" dirty="0"/>
              <a:t>n = INPUT() 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2728135" y="12181585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2815106" y="12199894"/>
            <a:ext cx="983192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 smtClean="0"/>
              <a:t>W</a:t>
            </a:r>
            <a:r>
              <a:rPr lang="en-GB" sz="1000" dirty="0" smtClean="0"/>
              <a:t>HILE</a:t>
            </a:r>
            <a:r>
              <a:rPr sz="1000" dirty="0" smtClean="0"/>
              <a:t> </a:t>
            </a:r>
            <a:r>
              <a:rPr sz="1000" dirty="0"/>
              <a:t>i &lt;= n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1862149" y="12923607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1998969" y="12940097"/>
            <a:ext cx="927086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fact = fact * i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3515631" y="12952652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13780585" y="12969142"/>
            <a:ext cx="641753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i = i + 1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1863527" y="13534928"/>
            <a:ext cx="1171661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1983362" y="13555041"/>
            <a:ext cx="917469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 smtClean="0"/>
              <a:t>[</a:t>
            </a:r>
            <a:r>
              <a:rPr sz="1000" dirty="0" smtClean="0"/>
              <a:t>P</a:t>
            </a:r>
            <a:r>
              <a:rPr lang="en-GB" sz="1000" dirty="0" smtClean="0"/>
              <a:t>RINT]</a:t>
            </a:r>
            <a:r>
              <a:rPr sz="1000" dirty="0" smtClean="0"/>
              <a:t> </a:t>
            </a:r>
            <a:r>
              <a:rPr sz="1000" dirty="0"/>
              <a:t>fact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2066964" y="14015546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2202623" y="14033853"/>
            <a:ext cx="48305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Stop</a:t>
            </a:r>
          </a:p>
        </p:txBody>
      </p:sp>
      <p:cxnSp>
        <p:nvCxnSpPr>
          <p:cNvPr id="195" name="Connector 194"/>
          <p:cNvCxnSpPr>
            <a:stCxn id="181" idx="2"/>
            <a:endCxn id="184" idx="0"/>
          </p:cNvCxnSpPr>
          <p:nvPr/>
        </p:nvCxnSpPr>
        <p:spPr>
          <a:xfrm>
            <a:off x="13236102" y="10612694"/>
            <a:ext cx="28036" cy="36592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>
            <a:stCxn id="183" idx="2"/>
            <a:endCxn id="420" idx="0"/>
          </p:cNvCxnSpPr>
          <p:nvPr/>
        </p:nvCxnSpPr>
        <p:spPr>
          <a:xfrm>
            <a:off x="13236102" y="11253059"/>
            <a:ext cx="622445" cy="26529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>
            <a:stCxn id="185" idx="2"/>
            <a:endCxn id="187" idx="0"/>
          </p:cNvCxnSpPr>
          <p:nvPr/>
        </p:nvCxnSpPr>
        <p:spPr>
          <a:xfrm flipH="1">
            <a:off x="12447981" y="12474323"/>
            <a:ext cx="865986" cy="44928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>
            <a:stCxn id="185" idx="2"/>
            <a:endCxn id="189" idx="0"/>
          </p:cNvCxnSpPr>
          <p:nvPr/>
        </p:nvCxnSpPr>
        <p:spPr>
          <a:xfrm>
            <a:off x="13313967" y="12474323"/>
            <a:ext cx="787496" cy="478329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>
            <a:stCxn id="187" idx="2"/>
            <a:endCxn id="191" idx="0"/>
          </p:cNvCxnSpPr>
          <p:nvPr/>
        </p:nvCxnSpPr>
        <p:spPr>
          <a:xfrm>
            <a:off x="12447980" y="13216345"/>
            <a:ext cx="1377" cy="318582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>
            <a:stCxn id="191" idx="2"/>
            <a:endCxn id="193" idx="0"/>
          </p:cNvCxnSpPr>
          <p:nvPr/>
        </p:nvCxnSpPr>
        <p:spPr>
          <a:xfrm>
            <a:off x="12449357" y="13827666"/>
            <a:ext cx="2058" cy="187880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ounded Rectangle 200"/>
          <p:cNvSpPr/>
          <p:nvPr/>
        </p:nvSpPr>
        <p:spPr>
          <a:xfrm>
            <a:off x="15945567" y="10301659"/>
            <a:ext cx="951974" cy="329331"/>
          </a:xfrm>
          <a:prstGeom prst="round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6164798" y="10333940"/>
            <a:ext cx="513512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1">
                <a:solidFill>
                  <a:srgbClr val="08122B"/>
                </a:solidFill>
                <a:latin typeface="Arial"/>
              </a:defRPr>
            </a:pPr>
            <a:r>
              <a:rPr sz="1000"/>
              <a:t>Start</a:t>
            </a:r>
          </a:p>
        </p:txBody>
      </p:sp>
      <p:sp>
        <p:nvSpPr>
          <p:cNvPr id="203" name="Parallelogram 202"/>
          <p:cNvSpPr/>
          <p:nvPr/>
        </p:nvSpPr>
        <p:spPr>
          <a:xfrm>
            <a:off x="15945567" y="10813952"/>
            <a:ext cx="1006896" cy="329331"/>
          </a:xfrm>
          <a:prstGeom prst="parallelogram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6033902" y="10846232"/>
            <a:ext cx="944720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>
              <a:defRPr sz="570" b="0">
                <a:solidFill>
                  <a:srgbClr val="08122B"/>
                </a:solidFill>
                <a:latin typeface="Arial"/>
              </a:defRPr>
            </a:pPr>
            <a:r>
              <a:rPr lang="en-US" sz="1000" dirty="0"/>
              <a:t>n = INPUT() </a:t>
            </a:r>
            <a:endParaRPr lang="en-US" sz="1000" dirty="0"/>
          </a:p>
        </p:txBody>
      </p:sp>
      <p:sp>
        <p:nvSpPr>
          <p:cNvPr id="205" name="Rectangle 204"/>
          <p:cNvSpPr/>
          <p:nvPr/>
        </p:nvSpPr>
        <p:spPr>
          <a:xfrm>
            <a:off x="15945567" y="11326244"/>
            <a:ext cx="1098432" cy="329331"/>
          </a:xfrm>
          <a:prstGeom prst="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6015210" y="11358524"/>
            <a:ext cx="959147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/>
              <a:t>fact = 1, i = 1</a:t>
            </a:r>
          </a:p>
        </p:txBody>
      </p:sp>
      <p:sp>
        <p:nvSpPr>
          <p:cNvPr id="207" name="Diamond 206"/>
          <p:cNvSpPr/>
          <p:nvPr/>
        </p:nvSpPr>
        <p:spPr>
          <a:xfrm>
            <a:off x="16083614" y="11948313"/>
            <a:ext cx="823824" cy="512292"/>
          </a:xfrm>
          <a:prstGeom prst="diamond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16183188" y="12083833"/>
            <a:ext cx="648164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i &lt;= n ?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7135535" y="12437677"/>
            <a:ext cx="1098432" cy="548884"/>
          </a:xfrm>
          <a:prstGeom prst="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17221207" y="12502787"/>
            <a:ext cx="927087" cy="418659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fact = </a:t>
            </a:r>
            <a:r>
              <a:rPr lang="en-GB" sz="1000" dirty="0" smtClean="0"/>
              <a:t>f</a:t>
            </a:r>
            <a:r>
              <a:rPr sz="1000" dirty="0" smtClean="0"/>
              <a:t>act </a:t>
            </a:r>
            <a:r>
              <a:rPr sz="1000" dirty="0"/>
              <a:t>* i</a:t>
            </a:r>
            <a:br>
              <a:rPr sz="1000" dirty="0"/>
            </a:br>
            <a:r>
              <a:rPr sz="1000" dirty="0" err="1"/>
              <a:t>i</a:t>
            </a:r>
            <a:r>
              <a:rPr sz="1000" dirty="0"/>
              <a:t> = i + 1</a:t>
            </a:r>
          </a:p>
        </p:txBody>
      </p:sp>
      <p:sp>
        <p:nvSpPr>
          <p:cNvPr id="211" name="Parallelogram 210"/>
          <p:cNvSpPr/>
          <p:nvPr/>
        </p:nvSpPr>
        <p:spPr>
          <a:xfrm>
            <a:off x="15989161" y="12972897"/>
            <a:ext cx="1006896" cy="329331"/>
          </a:xfrm>
          <a:prstGeom prst="parallelogram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16109321" y="13005177"/>
            <a:ext cx="795641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[</a:t>
            </a:r>
            <a:r>
              <a:rPr sz="1000" dirty="0" smtClean="0"/>
              <a:t>Print</a:t>
            </a:r>
            <a:r>
              <a:rPr lang="en-GB" sz="1000" dirty="0" smtClean="0"/>
              <a:t>]</a:t>
            </a:r>
            <a:r>
              <a:rPr sz="1000" dirty="0" smtClean="0"/>
              <a:t> </a:t>
            </a:r>
            <a:r>
              <a:rPr sz="1000" dirty="0"/>
              <a:t>fact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6018223" y="13558374"/>
            <a:ext cx="951974" cy="329331"/>
          </a:xfrm>
          <a:prstGeom prst="roundRect">
            <a:avLst/>
          </a:prstGeom>
          <a:solidFill>
            <a:srgbClr val="F4F0FF"/>
          </a:solidFill>
          <a:ln w="7620">
            <a:solidFill>
              <a:srgbClr val="623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16259948" y="13590654"/>
            <a:ext cx="483055" cy="26477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ctr">
              <a:defRPr sz="40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Stop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16421554" y="10630990"/>
            <a:ext cx="0" cy="182961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6421554" y="11143283"/>
            <a:ext cx="0" cy="182961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>
            <a:stCxn id="205" idx="2"/>
            <a:endCxn id="207" idx="0"/>
          </p:cNvCxnSpPr>
          <p:nvPr/>
        </p:nvCxnSpPr>
        <p:spPr>
          <a:xfrm>
            <a:off x="16494784" y="11655575"/>
            <a:ext cx="743" cy="292738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>
            <a:stCxn id="207" idx="3"/>
            <a:endCxn id="209" idx="0"/>
          </p:cNvCxnSpPr>
          <p:nvPr/>
        </p:nvCxnSpPr>
        <p:spPr>
          <a:xfrm>
            <a:off x="16907439" y="12204460"/>
            <a:ext cx="777313" cy="233218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17111706" y="12059272"/>
            <a:ext cx="441377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Yes</a:t>
            </a:r>
          </a:p>
        </p:txBody>
      </p:sp>
      <p:cxnSp>
        <p:nvCxnSpPr>
          <p:cNvPr id="220" name="Connector 219"/>
          <p:cNvCxnSpPr>
            <a:stCxn id="207" idx="2"/>
            <a:endCxn id="211" idx="0"/>
          </p:cNvCxnSpPr>
          <p:nvPr/>
        </p:nvCxnSpPr>
        <p:spPr>
          <a:xfrm flipH="1">
            <a:off x="16492610" y="12460605"/>
            <a:ext cx="2917" cy="512292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16453526" y="12588678"/>
            <a:ext cx="385272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sz="1000" dirty="0"/>
              <a:t>No</a:t>
            </a:r>
          </a:p>
        </p:txBody>
      </p:sp>
      <p:cxnSp>
        <p:nvCxnSpPr>
          <p:cNvPr id="222" name="Connector 221"/>
          <p:cNvCxnSpPr>
            <a:stCxn id="211" idx="4"/>
            <a:endCxn id="213" idx="0"/>
          </p:cNvCxnSpPr>
          <p:nvPr/>
        </p:nvCxnSpPr>
        <p:spPr>
          <a:xfrm>
            <a:off x="16492609" y="13302228"/>
            <a:ext cx="1602" cy="256146"/>
          </a:xfrm>
          <a:prstGeom prst="line">
            <a:avLst/>
          </a:prstGeom>
          <a:ln w="6985">
            <a:solidFill>
              <a:srgbClr val="623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18947948" y="10905433"/>
            <a:ext cx="2088430" cy="2696205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r>
              <a:rPr lang="en-US" sz="2400" dirty="0"/>
              <a:t>n = int(input())</a:t>
            </a:r>
            <a:br>
              <a:rPr lang="en-US" sz="2400" dirty="0"/>
            </a:br>
            <a:r>
              <a:rPr lang="en-US" sz="2400" dirty="0"/>
              <a:t>fact = 1</a:t>
            </a:r>
            <a:br>
              <a:rPr lang="en-US" sz="2400" dirty="0"/>
            </a:br>
            <a:r>
              <a:rPr lang="en-US" sz="2400" dirty="0"/>
              <a:t>i = 1</a:t>
            </a:r>
            <a:br>
              <a:rPr lang="en-US" sz="2400" dirty="0"/>
            </a:br>
            <a:r>
              <a:rPr lang="en-US" sz="2400" dirty="0"/>
              <a:t>while i &lt;= n:</a:t>
            </a:r>
            <a:br>
              <a:rPr lang="en-US" sz="2400" dirty="0"/>
            </a:br>
            <a:r>
              <a:rPr lang="en-US" sz="2400" dirty="0"/>
              <a:t>    fact = fact * i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/>
              <a:t>i = i + 1</a:t>
            </a:r>
            <a:br>
              <a:rPr lang="en-US" sz="2400" dirty="0"/>
            </a:br>
            <a:r>
              <a:rPr lang="en-US" sz="2400" dirty="0"/>
              <a:t>print(fact)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1895406" y="11106690"/>
            <a:ext cx="2331317" cy="2080652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90" b="1">
                <a:solidFill>
                  <a:srgbClr val="08122B"/>
                </a:solidFill>
                <a:latin typeface="Arial"/>
              </a:defRPr>
            </a:pPr>
            <a:r>
              <a:rPr sz="1600" dirty="0"/>
              <a:t>Input: 5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Expected Output: 120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Actual Output: 120</a:t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dirty="0"/>
              <a:t>Result:  ✓ PASS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2442994" y="13745958"/>
            <a:ext cx="123184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620" b="1">
                <a:solidFill>
                  <a:srgbClr val="1C8544"/>
                </a:solidFill>
                <a:latin typeface="Arial"/>
              </a:defRPr>
            </a:pPr>
            <a:r>
              <a:rPr sz="2000" dirty="0"/>
              <a:t>✓ PASS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077991" y="14902580"/>
            <a:ext cx="18581803" cy="3073753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cxnSp>
        <p:nvCxnSpPr>
          <p:cNvPr id="227" name="Connector 226"/>
          <p:cNvCxnSpPr/>
          <p:nvPr/>
        </p:nvCxnSpPr>
        <p:spPr>
          <a:xfrm>
            <a:off x="12393971" y="15350976"/>
            <a:ext cx="0" cy="2122353"/>
          </a:xfrm>
          <a:prstGeom prst="line">
            <a:avLst/>
          </a:prstGeom>
          <a:ln w="10160">
            <a:solidFill>
              <a:srgbClr val="A4B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746568" y="15338275"/>
            <a:ext cx="0" cy="2144585"/>
          </a:xfrm>
          <a:prstGeom prst="line">
            <a:avLst/>
          </a:prstGeom>
          <a:ln w="10160">
            <a:solidFill>
              <a:srgbClr val="A4B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6379011" y="15002759"/>
            <a:ext cx="569617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⚙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233637" y="15084291"/>
            <a:ext cx="3299595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METHODOLOGY </a:t>
            </a:r>
            <a:r>
              <a:rPr lang="en-GB" sz="1800" dirty="0" smtClean="0"/>
              <a:t>SUMMARY</a:t>
            </a:r>
            <a:endParaRPr lang="en-GB" sz="1800" dirty="0"/>
          </a:p>
        </p:txBody>
      </p:sp>
      <p:sp>
        <p:nvSpPr>
          <p:cNvPr id="231" name="TextBox 230"/>
          <p:cNvSpPr txBox="1"/>
          <p:nvPr/>
        </p:nvSpPr>
        <p:spPr>
          <a:xfrm>
            <a:off x="7291663" y="15675169"/>
            <a:ext cx="5217551" cy="2072362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Experimental and comparative research </a:t>
            </a:r>
            <a:r>
              <a:rPr sz="1200" b="1" dirty="0" smtClean="0"/>
              <a:t>design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Multi-stage pipeline </a:t>
            </a:r>
            <a:r>
              <a:rPr sz="1200" b="1" dirty="0" smtClean="0"/>
              <a:t>implementation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Quantitative evaluation at each </a:t>
            </a:r>
            <a:r>
              <a:rPr sz="1200" b="1" dirty="0" smtClean="0"/>
              <a:t>stage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Qualitative error </a:t>
            </a:r>
            <a:r>
              <a:rPr sz="1200" b="1" dirty="0" smtClean="0"/>
              <a:t>analysis</a:t>
            </a:r>
            <a:endParaRPr lang="en-GB" sz="1200" b="1" dirty="0" smtClean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4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Statistical comparison between models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2758858" y="15017579"/>
            <a:ext cx="515115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▮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547325" y="15084291"/>
            <a:ext cx="2863514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EXPECTED OUTCOMES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3664457" y="15548168"/>
            <a:ext cx="5257971" cy="2099036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 working end-to-end program </a:t>
            </a:r>
            <a:r>
              <a:rPr lang="en-GB" sz="1200" b="1" dirty="0" smtClean="0"/>
              <a:t>generation</a:t>
            </a:r>
            <a:r>
              <a:rPr sz="1200" b="1" dirty="0" smtClean="0"/>
              <a:t> </a:t>
            </a:r>
            <a:r>
              <a:rPr sz="1200" b="1" dirty="0"/>
              <a:t>system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</a:t>
            </a:r>
            <a:r>
              <a:rPr lang="en-GB" sz="1200" b="1" dirty="0" smtClean="0"/>
              <a:t>A </a:t>
            </a:r>
            <a:r>
              <a:rPr sz="1200" b="1" dirty="0" smtClean="0"/>
              <a:t>Comprehensive </a:t>
            </a:r>
            <a:r>
              <a:rPr sz="1200" b="1" dirty="0"/>
              <a:t>evaluation of LLM capabilities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</a:t>
            </a:r>
            <a:r>
              <a:rPr lang="en-GB" sz="1200" b="1" dirty="0" smtClean="0"/>
              <a:t>An </a:t>
            </a:r>
            <a:r>
              <a:rPr sz="1200" b="1" dirty="0" smtClean="0"/>
              <a:t>Identification </a:t>
            </a:r>
            <a:r>
              <a:rPr sz="1200" b="1" dirty="0"/>
              <a:t>of common error types and </a:t>
            </a:r>
            <a:r>
              <a:rPr sz="1200" b="1" dirty="0" smtClean="0"/>
              <a:t>where</a:t>
            </a:r>
            <a:r>
              <a:rPr lang="en-GB" sz="1200" b="1" dirty="0"/>
              <a:t> </a:t>
            </a:r>
            <a:r>
              <a:rPr sz="1200" b="1" dirty="0" smtClean="0"/>
              <a:t>they occur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An Analysis of the accuracy of program generation from </a:t>
            </a:r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Flow Diagrams (CFD)</a:t>
            </a: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Insights for improving future </a:t>
            </a:r>
            <a:r>
              <a:rPr sz="1200" b="1" dirty="0" smtClean="0"/>
              <a:t>model-based</a:t>
            </a:r>
            <a:r>
              <a:rPr lang="en-GB" sz="1200" b="1" dirty="0" smtClean="0"/>
              <a:t> </a:t>
            </a:r>
            <a:r>
              <a:rPr sz="1200" b="1" dirty="0" smtClean="0"/>
              <a:t>code </a:t>
            </a:r>
            <a:r>
              <a:rPr sz="1200" b="1" dirty="0"/>
              <a:t>generation </a:t>
            </a:r>
            <a:endParaRPr lang="en-GB"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   </a:t>
            </a:r>
            <a:r>
              <a:rPr sz="1200" b="1" dirty="0" smtClean="0"/>
              <a:t>systems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 a metric for possible language to language compiled code</a:t>
            </a:r>
            <a:endParaRPr lang="en-GB"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lang="en-GB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dirty="0"/>
          </a:p>
        </p:txBody>
      </p:sp>
      <p:sp>
        <p:nvSpPr>
          <p:cNvPr id="235" name="TextBox 234"/>
          <p:cNvSpPr txBox="1"/>
          <p:nvPr/>
        </p:nvSpPr>
        <p:spPr>
          <a:xfrm>
            <a:off x="19221298" y="15017579"/>
            <a:ext cx="515115" cy="48021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400" b="1">
                <a:solidFill>
                  <a:srgbClr val="003078"/>
                </a:solidFill>
                <a:latin typeface="Arial"/>
              </a:defRPr>
            </a:pPr>
            <a:r>
              <a:rPr sz="2400" dirty="0"/>
              <a:t>▭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0056680" y="15093822"/>
            <a:ext cx="1923064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APPLICATIONS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0153976" y="15548168"/>
            <a:ext cx="4485263" cy="2072362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AI-assisted programming </a:t>
            </a:r>
            <a:r>
              <a:rPr sz="1200" b="1" dirty="0" smtClean="0"/>
              <a:t>tools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Automated tutoring and </a:t>
            </a:r>
            <a:r>
              <a:rPr sz="1200" b="1" dirty="0" smtClean="0"/>
              <a:t>education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Rapid prototyping from </a:t>
            </a:r>
            <a:r>
              <a:rPr sz="1200" b="1" dirty="0" smtClean="0"/>
              <a:t>requirements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Documentation and flow </a:t>
            </a:r>
            <a:r>
              <a:rPr sz="1200" b="1" dirty="0" smtClean="0"/>
              <a:t>automation</a:t>
            </a:r>
            <a:endParaRPr lang="en-GB" sz="1200" b="1" dirty="0" smtClean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endParaRPr sz="1200" b="1" dirty="0"/>
          </a:p>
          <a:p>
            <a:pPr>
              <a:spcAft>
                <a:spcPts val="400"/>
              </a:spcAft>
              <a:defRPr sz="52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Supporting non-programmers </a:t>
            </a:r>
            <a:r>
              <a:rPr sz="1200" b="1" dirty="0" smtClean="0"/>
              <a:t>in</a:t>
            </a:r>
            <a:r>
              <a:rPr lang="en-GB" sz="1200" b="1" dirty="0" smtClean="0"/>
              <a:t> </a:t>
            </a:r>
            <a:r>
              <a:rPr sz="1200" b="1" dirty="0" smtClean="0"/>
              <a:t>algorithm </a:t>
            </a:r>
            <a:r>
              <a:rPr sz="1200" b="1" dirty="0"/>
              <a:t>design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13584" y="18115473"/>
            <a:ext cx="29846831" cy="313474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endParaRPr lang="en-US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first began thinking about using control flow diagrams to generate code early in my computer science journey. At the time, I was tired of repeatedly typing the same boilerplate for web pages especially the header section and started imagining a drag and drop tool that would let me place HTML elements directly onto a page. This was before React became widespread; in fact, I discovered React halfway through the project and adopted it immediately.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planning that tool, another idea emerged: </a:t>
            </a:r>
            <a:r>
              <a:rPr lang="en-US" sz="20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 program’s flow diagram could be dropped into an application and automatically compiled into code?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was thinking mainly about JavaScript then, but the concept was broader than any single language.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didn’t at that time have the skill set to build such a system, but the idea stayed with me. </a:t>
            </a:r>
            <a:endParaRPr lang="en-US" sz="2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appeal is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simple;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flow diagram is a blueprint for a program. If the logic is expressed correctly, it should be possible to compile that diagram into any programming language, producing equivalent behaviour regardless of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syntax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theory, this would eliminate the need to manually ensure semantic alignment when translating code between languages, because the diagram itself defines the logic unambiguously.</a:t>
            </a:r>
            <a:endParaRPr lang="en-GB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25789" y="18067444"/>
            <a:ext cx="29834626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dirty="0"/>
          </a:p>
        </p:txBody>
      </p:sp>
      <p:sp>
        <p:nvSpPr>
          <p:cNvPr id="284" name="Rectangle 283"/>
          <p:cNvSpPr/>
          <p:nvPr/>
        </p:nvSpPr>
        <p:spPr>
          <a:xfrm>
            <a:off x="24824557" y="4442318"/>
            <a:ext cx="5235858" cy="5353744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24824557" y="4419715"/>
            <a:ext cx="5235858" cy="553192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24956514" y="4478912"/>
            <a:ext cx="43175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◍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5483616" y="4522820"/>
            <a:ext cx="2581257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DATA &amp; EVALUATION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080858" y="5192460"/>
            <a:ext cx="1277567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70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DATASET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190701" y="5703721"/>
            <a:ext cx="4613413" cy="1261884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50 algorithmic</a:t>
            </a:r>
            <a:r>
              <a:rPr lang="en-GB" sz="1200" b="1" dirty="0"/>
              <a:t> </a:t>
            </a:r>
            <a:r>
              <a:rPr sz="1200" b="1" dirty="0"/>
              <a:t>problems</a:t>
            </a:r>
            <a:endParaRPr lang="en-GB" sz="1200" b="1" dirty="0"/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•  Increasing difficulty</a:t>
            </a:r>
            <a:endParaRPr sz="1200" b="1" dirty="0"/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Includes input/output test cases</a:t>
            </a:r>
          </a:p>
          <a:p>
            <a:pPr>
              <a:spcAft>
                <a:spcPts val="400"/>
              </a:spcAft>
              <a:defRPr sz="55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Covers varying complexity</a:t>
            </a:r>
            <a:br>
              <a:rPr sz="1200" b="1" dirty="0"/>
            </a:br>
            <a:r>
              <a:rPr sz="1200" b="1" dirty="0"/>
              <a:t>   (arithmetic, conditionals, loops,</a:t>
            </a:r>
            <a:br>
              <a:rPr sz="1200" b="1" dirty="0"/>
            </a:br>
            <a:r>
              <a:rPr sz="1200" b="1" dirty="0"/>
              <a:t>   searching, sorting, etc.)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25044243" y="7333110"/>
            <a:ext cx="4741564" cy="0"/>
          </a:xfrm>
          <a:prstGeom prst="line">
            <a:avLst/>
          </a:prstGeom>
          <a:ln w="12700">
            <a:solidFill>
              <a:srgbClr val="E1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25080858" y="7607552"/>
            <a:ext cx="2790801" cy="38788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680" b="1">
                <a:solidFill>
                  <a:srgbClr val="003078"/>
                </a:solidFill>
                <a:latin typeface="Arial"/>
              </a:defRPr>
            </a:pPr>
            <a:r>
              <a:rPr sz="1800" dirty="0"/>
              <a:t>EVALUATION METRICS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25154086" y="810154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3" name="TextBox 292"/>
          <p:cNvSpPr txBox="1"/>
          <p:nvPr/>
        </p:nvSpPr>
        <p:spPr>
          <a:xfrm>
            <a:off x="25079646" y="8092400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25556846" y="8083253"/>
            <a:ext cx="2266748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Pseudocode Syntax Validity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25154086" y="843087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6" name="TextBox 295"/>
          <p:cNvSpPr txBox="1"/>
          <p:nvPr/>
        </p:nvSpPr>
        <p:spPr>
          <a:xfrm>
            <a:off x="25079646" y="8421730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5556846" y="8412583"/>
            <a:ext cx="2177428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AST Parsing Success Rate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25154086" y="8760207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299" name="TextBox 298"/>
          <p:cNvSpPr txBox="1"/>
          <p:nvPr/>
        </p:nvSpPr>
        <p:spPr>
          <a:xfrm>
            <a:off x="25079646" y="8751061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5556846" y="8741914"/>
            <a:ext cx="258414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Flow Diagram Structural Validity</a:t>
            </a:r>
          </a:p>
        </p:txBody>
      </p:sp>
      <p:sp>
        <p:nvSpPr>
          <p:cNvPr id="301" name="Rounded Rectangle 300"/>
          <p:cNvSpPr/>
          <p:nvPr/>
        </p:nvSpPr>
        <p:spPr>
          <a:xfrm>
            <a:off x="25154086" y="9089540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02" name="TextBox 301"/>
          <p:cNvSpPr txBox="1"/>
          <p:nvPr/>
        </p:nvSpPr>
        <p:spPr>
          <a:xfrm>
            <a:off x="25085257" y="9080392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✓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5556846" y="9071245"/>
            <a:ext cx="261665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Python Code Execution Success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25154086" y="9418868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05" name="TextBox 304"/>
          <p:cNvSpPr txBox="1"/>
          <p:nvPr/>
        </p:nvSpPr>
        <p:spPr>
          <a:xfrm>
            <a:off x="25085257" y="9409720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rPr sz="1200"/>
              <a:t>✓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5556846" y="9400575"/>
            <a:ext cx="166607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Output Correctness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25154086" y="9862550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25132545" y="9853402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5556845" y="9844254"/>
            <a:ext cx="1008840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End-to-End Success Rate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25154086" y="10191883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25132545" y="10182734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5556845" y="10173587"/>
            <a:ext cx="1087386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Robustness to Paraphrasing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25154086" y="10521211"/>
            <a:ext cx="237994" cy="23785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4" name="TextBox 313"/>
          <p:cNvSpPr txBox="1"/>
          <p:nvPr/>
        </p:nvSpPr>
        <p:spPr>
          <a:xfrm>
            <a:off x="25132545" y="10512063"/>
            <a:ext cx="281076" cy="177054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30" b="1">
                <a:solidFill>
                  <a:srgbClr val="323232"/>
                </a:solidFill>
                <a:latin typeface="Arial"/>
              </a:defRPr>
            </a:pPr>
            <a:r>
              <a:t>⌘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25556845" y="10502917"/>
            <a:ext cx="1074562" cy="192443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t>Performance vs. Complexity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24824557" y="9862552"/>
            <a:ext cx="5235858" cy="2013425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24824557" y="9862552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18" name="TextBox 317"/>
          <p:cNvSpPr txBox="1"/>
          <p:nvPr/>
        </p:nvSpPr>
        <p:spPr>
          <a:xfrm>
            <a:off x="24933271" y="9929638"/>
            <a:ext cx="478246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 smtClean="0"/>
              <a:t>A</a:t>
            </a:r>
            <a:r>
              <a:rPr lang="en-GB" sz="2000" dirty="0" smtClean="0"/>
              <a:t>I</a:t>
            </a:r>
            <a:endParaRPr sz="2000" dirty="0"/>
          </a:p>
        </p:txBody>
      </p:sp>
      <p:sp>
        <p:nvSpPr>
          <p:cNvPr id="319" name="TextBox 318"/>
          <p:cNvSpPr txBox="1"/>
          <p:nvPr/>
        </p:nvSpPr>
        <p:spPr>
          <a:xfrm>
            <a:off x="25483616" y="9943054"/>
            <a:ext cx="3415011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/>
              <a:t>MODELS TO BE EVALUATED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5154086" y="10566932"/>
            <a:ext cx="4686642" cy="1107996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 lvl="0"/>
            <a:r>
              <a:rPr sz="1200" b="1" i="1" dirty="0"/>
              <a:t>•</a:t>
            </a:r>
            <a:r>
              <a:rPr lang="en-GB" sz="1200" b="1" i="1" dirty="0"/>
              <a:t>  Gwen </a:t>
            </a:r>
            <a:r>
              <a:rPr lang="en-GB" sz="1200" b="1" i="1" dirty="0"/>
              <a:t>3.6 plus</a:t>
            </a:r>
          </a:p>
          <a:p>
            <a:pPr lvl="0"/>
            <a:r>
              <a:rPr lang="en-GB" sz="1200" b="1" i="1" dirty="0"/>
              <a:t>•  Groq </a:t>
            </a:r>
            <a:r>
              <a:rPr lang="en-GB" sz="1200" b="1" i="1" dirty="0"/>
              <a:t>llama-3.3-70b-versatile</a:t>
            </a:r>
          </a:p>
          <a:p>
            <a:pPr lvl="0"/>
            <a:r>
              <a:rPr lang="en-GB" sz="1200" b="1" i="1" dirty="0"/>
              <a:t>•  Gemini </a:t>
            </a:r>
            <a:r>
              <a:rPr lang="en-GB" sz="1200" b="1" i="1" dirty="0"/>
              <a:t>3 flash</a:t>
            </a:r>
          </a:p>
          <a:p>
            <a:pPr lvl="0"/>
            <a:r>
              <a:rPr lang="en-GB" sz="1200" b="1" i="1" dirty="0"/>
              <a:t>•  DeepSeek</a:t>
            </a:r>
            <a:endParaRPr lang="en-GB" sz="1200" b="1" i="1" dirty="0"/>
          </a:p>
          <a:p>
            <a:pPr lvl="0"/>
            <a:r>
              <a:rPr lang="en-GB" sz="1200" b="1" i="1" dirty="0"/>
              <a:t>•  Claude </a:t>
            </a:r>
            <a:r>
              <a:rPr lang="en-GB" sz="1200" b="1" i="1" dirty="0"/>
              <a:t>sonnet 4.6</a:t>
            </a:r>
          </a:p>
          <a:p>
            <a:pPr lvl="0"/>
            <a:r>
              <a:rPr lang="en-GB" sz="1200" b="1" i="1" dirty="0"/>
              <a:t>•  ChatGPT </a:t>
            </a:r>
            <a:r>
              <a:rPr lang="en-GB" sz="1200" b="1" i="1" dirty="0" smtClean="0"/>
              <a:t>5.5</a:t>
            </a:r>
            <a:endParaRPr lang="en-GB" sz="1200" b="1" i="1" dirty="0"/>
          </a:p>
        </p:txBody>
      </p:sp>
      <p:sp>
        <p:nvSpPr>
          <p:cNvPr id="321" name="Rectangle 320"/>
          <p:cNvSpPr/>
          <p:nvPr/>
        </p:nvSpPr>
        <p:spPr>
          <a:xfrm>
            <a:off x="24824557" y="11948313"/>
            <a:ext cx="5235858" cy="3165234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200"/>
          </a:p>
        </p:txBody>
      </p:sp>
      <p:sp>
        <p:nvSpPr>
          <p:cNvPr id="322" name="Rectangle 321"/>
          <p:cNvSpPr/>
          <p:nvPr/>
        </p:nvSpPr>
        <p:spPr>
          <a:xfrm>
            <a:off x="24824557" y="11948313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4916439" y="11984904"/>
            <a:ext cx="511909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⚒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25483616" y="12028815"/>
            <a:ext cx="315429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TECHNOLOGIES &amp; TOOLS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5112717" y="12588678"/>
            <a:ext cx="375653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🐍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5593459" y="12606975"/>
            <a:ext cx="744344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Python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5098054" y="12918009"/>
            <a:ext cx="337181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 dirty="0"/>
              <a:t>🤗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5593460" y="12936306"/>
            <a:ext cx="31017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PyTorch</a:t>
            </a:r>
            <a:r>
              <a:rPr sz="1200" b="1" dirty="0"/>
              <a:t> / Transformers (Hugging Face)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5134358" y="13247339"/>
            <a:ext cx="33237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A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25593460" y="13265636"/>
            <a:ext cx="237299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ANTLR (Parser Development)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25134358" y="13576670"/>
            <a:ext cx="33237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N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25593460" y="13594967"/>
            <a:ext cx="2959694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NetworkX</a:t>
            </a:r>
            <a:r>
              <a:rPr sz="1200" b="1" dirty="0"/>
              <a:t> / </a:t>
            </a:r>
            <a:r>
              <a:rPr sz="1200" b="1" dirty="0" err="1"/>
              <a:t>Graphviz</a:t>
            </a:r>
            <a:r>
              <a:rPr sz="1200" b="1" dirty="0"/>
              <a:t> (Flow Diagrams)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25107106" y="13906001"/>
            <a:ext cx="38687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⌘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25593459" y="13924298"/>
            <a:ext cx="114830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Git</a:t>
            </a:r>
            <a:r>
              <a:rPr sz="1200" b="1" dirty="0"/>
              <a:t> &amp; GitHub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25143976" y="14235331"/>
            <a:ext cx="313136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⌁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5593459" y="14253628"/>
            <a:ext cx="895026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PyCharm</a:t>
            </a:r>
            <a:endParaRPr sz="1200" b="1" dirty="0"/>
          </a:p>
        </p:txBody>
      </p:sp>
      <p:sp>
        <p:nvSpPr>
          <p:cNvPr id="337" name="TextBox 336"/>
          <p:cNvSpPr txBox="1"/>
          <p:nvPr/>
        </p:nvSpPr>
        <p:spPr>
          <a:xfrm>
            <a:off x="25142373" y="14564662"/>
            <a:ext cx="316342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630" b="1">
                <a:solidFill>
                  <a:srgbClr val="003078"/>
                </a:solidFill>
                <a:latin typeface="Arial"/>
              </a:defRPr>
            </a:pPr>
            <a:r>
              <a:rPr sz="1200"/>
              <a:t>T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25593460" y="14582959"/>
            <a:ext cx="225879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530" b="0">
                <a:solidFill>
                  <a:srgbClr val="08122B"/>
                </a:solidFill>
                <a:latin typeface="Arial"/>
              </a:defRPr>
            </a:pPr>
            <a:r>
              <a:rPr sz="1200" b="1" dirty="0" err="1"/>
              <a:t>PyTest</a:t>
            </a:r>
            <a:r>
              <a:rPr sz="1200" b="1" dirty="0"/>
              <a:t> (Testing Framework)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4824557" y="15508278"/>
            <a:ext cx="5235858" cy="2469980"/>
          </a:xfrm>
          <a:prstGeom prst="rect">
            <a:avLst/>
          </a:prstGeom>
          <a:solidFill>
            <a:srgbClr val="FFFFFF"/>
          </a:solidFill>
          <a:ln w="10160">
            <a:solidFill>
              <a:srgbClr val="A4B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 sz="1000" dirty="0"/>
          </a:p>
        </p:txBody>
      </p:sp>
      <p:sp>
        <p:nvSpPr>
          <p:cNvPr id="340" name="Rectangle 339"/>
          <p:cNvSpPr/>
          <p:nvPr/>
        </p:nvSpPr>
        <p:spPr>
          <a:xfrm>
            <a:off x="24824557" y="15215280"/>
            <a:ext cx="5235858" cy="530588"/>
          </a:xfrm>
          <a:prstGeom prst="rect">
            <a:avLst/>
          </a:prstGeom>
          <a:solidFill>
            <a:srgbClr val="003078"/>
          </a:solidFill>
          <a:ln w="6350">
            <a:solidFill>
              <a:srgbClr val="003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24983765" y="15256965"/>
            <a:ext cx="377257" cy="418659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2000" dirty="0"/>
              <a:t>●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25483616" y="15295781"/>
            <a:ext cx="1333159" cy="387881"/>
          </a:xfrm>
          <a:prstGeom prst="rect">
            <a:avLst/>
          </a:prstGeom>
          <a:noFill/>
        </p:spPr>
        <p:txBody>
          <a:bodyPr wrap="none" lIns="109810" tIns="54905" rIns="109810" bIns="54905" anchor="ctr">
            <a:spAutoFit/>
          </a:bodyPr>
          <a:lstStyle/>
          <a:p>
            <a:pPr algn="l">
              <a:defRPr sz="819" b="1">
                <a:solidFill>
                  <a:srgbClr val="FFFFFF"/>
                </a:solidFill>
                <a:latin typeface="Arial"/>
              </a:defRPr>
            </a:pPr>
            <a:r>
              <a:rPr sz="1800" dirty="0"/>
              <a:t>CONTACT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5153467" y="15886138"/>
            <a:ext cx="330769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●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25593460" y="15904435"/>
            <a:ext cx="19040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Student: </a:t>
            </a:r>
            <a:r>
              <a:rPr sz="1200" b="1" dirty="0" smtClean="0"/>
              <a:t>A</a:t>
            </a:r>
            <a:r>
              <a:rPr lang="en-GB" sz="1200" b="1" dirty="0" smtClean="0"/>
              <a:t>lan Johnson</a:t>
            </a:r>
            <a:endParaRPr sz="1200" b="1" dirty="0"/>
          </a:p>
        </p:txBody>
      </p:sp>
      <p:sp>
        <p:nvSpPr>
          <p:cNvPr id="345" name="TextBox 344"/>
          <p:cNvSpPr txBox="1"/>
          <p:nvPr/>
        </p:nvSpPr>
        <p:spPr>
          <a:xfrm>
            <a:off x="25118200" y="16197173"/>
            <a:ext cx="40130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/>
              <a:t>✉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5593460" y="16215470"/>
            <a:ext cx="2805805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Email: </a:t>
            </a:r>
            <a:r>
              <a:rPr lang="en-GB" sz="1200" b="1" dirty="0" smtClean="0"/>
              <a:t>y3x82@students.keele.ac.uk</a:t>
            </a:r>
            <a:endParaRPr sz="1200" b="1" dirty="0"/>
          </a:p>
        </p:txBody>
      </p:sp>
      <p:sp>
        <p:nvSpPr>
          <p:cNvPr id="347" name="TextBox 346"/>
          <p:cNvSpPr txBox="1"/>
          <p:nvPr/>
        </p:nvSpPr>
        <p:spPr>
          <a:xfrm>
            <a:off x="25134230" y="16508207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/>
              <a:t>◖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25593459" y="16526504"/>
            <a:ext cx="4307820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GitHub: </a:t>
            </a:r>
            <a:r>
              <a:rPr lang="en-GB" sz="1200" b="1" dirty="0"/>
              <a:t>https://github.com/ajohnson-2210/Final_Project</a:t>
            </a:r>
            <a:endParaRPr sz="1200" b="1" dirty="0"/>
          </a:p>
        </p:txBody>
      </p:sp>
      <p:sp>
        <p:nvSpPr>
          <p:cNvPr id="351" name="TextBox 350"/>
          <p:cNvSpPr txBox="1"/>
          <p:nvPr/>
        </p:nvSpPr>
        <p:spPr>
          <a:xfrm>
            <a:off x="25134230" y="16791486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▦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25593459" y="17120340"/>
            <a:ext cx="265672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Department of Computer Science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25134230" y="17102520"/>
            <a:ext cx="369242" cy="326326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540" b="1">
                <a:solidFill>
                  <a:srgbClr val="003078"/>
                </a:solidFill>
                <a:latin typeface="Arial"/>
              </a:defRPr>
            </a:pPr>
            <a:r>
              <a:rPr sz="1400" dirty="0"/>
              <a:t>▥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25593460" y="16832845"/>
            <a:ext cx="1605157" cy="295548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l">
              <a:defRPr sz="490" b="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University of </a:t>
            </a:r>
            <a:r>
              <a:rPr lang="en-GB" sz="1200" b="1" dirty="0" smtClean="0"/>
              <a:t>Keele</a:t>
            </a:r>
            <a:endParaRPr sz="1200" b="1" dirty="0"/>
          </a:p>
        </p:txBody>
      </p:sp>
      <p:cxnSp>
        <p:nvCxnSpPr>
          <p:cNvPr id="417" name="Connector 195"/>
          <p:cNvCxnSpPr>
            <a:stCxn id="419" idx="2"/>
            <a:endCxn id="185" idx="0"/>
          </p:cNvCxnSpPr>
          <p:nvPr/>
        </p:nvCxnSpPr>
        <p:spPr>
          <a:xfrm>
            <a:off x="12778633" y="11811092"/>
            <a:ext cx="535333" cy="370493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195"/>
          <p:cNvCxnSpPr>
            <a:stCxn id="183" idx="2"/>
            <a:endCxn id="419" idx="0"/>
          </p:cNvCxnSpPr>
          <p:nvPr/>
        </p:nvCxnSpPr>
        <p:spPr>
          <a:xfrm flipH="1">
            <a:off x="12778633" y="11253059"/>
            <a:ext cx="457470" cy="265294"/>
          </a:xfrm>
          <a:prstGeom prst="line">
            <a:avLst/>
          </a:prstGeom>
          <a:ln w="6985">
            <a:solidFill>
              <a:srgbClr val="E7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ounded Rectangle 418"/>
          <p:cNvSpPr/>
          <p:nvPr/>
        </p:nvSpPr>
        <p:spPr>
          <a:xfrm>
            <a:off x="12394182" y="11518354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420" name="Rounded Rectangle 419"/>
          <p:cNvSpPr/>
          <p:nvPr/>
        </p:nvSpPr>
        <p:spPr>
          <a:xfrm>
            <a:off x="13474096" y="11518354"/>
            <a:ext cx="768902" cy="292738"/>
          </a:xfrm>
          <a:prstGeom prst="roundRect">
            <a:avLst/>
          </a:prstGeom>
          <a:solidFill>
            <a:srgbClr val="FFF8F0"/>
          </a:solidFill>
          <a:ln w="8890">
            <a:solidFill>
              <a:srgbClr val="E7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3017" tIns="91509" rIns="183017" bIns="91509" rtlCol="0" anchor="ctr"/>
          <a:lstStyle/>
          <a:p>
            <a:pPr algn="ctr"/>
            <a:endParaRPr/>
          </a:p>
        </p:txBody>
      </p:sp>
      <p:sp>
        <p:nvSpPr>
          <p:cNvPr id="430" name="TextBox 429"/>
          <p:cNvSpPr txBox="1"/>
          <p:nvPr/>
        </p:nvSpPr>
        <p:spPr>
          <a:xfrm>
            <a:off x="12445267" y="11530639"/>
            <a:ext cx="64335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f</a:t>
            </a:r>
            <a:r>
              <a:rPr lang="en-GB" sz="1000" dirty="0" smtClean="0"/>
              <a:t>act = 1</a:t>
            </a:r>
            <a:endParaRPr sz="1000" dirty="0"/>
          </a:p>
        </p:txBody>
      </p:sp>
      <p:sp>
        <p:nvSpPr>
          <p:cNvPr id="431" name="TextBox 430"/>
          <p:cNvSpPr txBox="1"/>
          <p:nvPr/>
        </p:nvSpPr>
        <p:spPr>
          <a:xfrm>
            <a:off x="13645536" y="11533175"/>
            <a:ext cx="467025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420" b="0">
                <a:solidFill>
                  <a:srgbClr val="08122B"/>
                </a:solidFill>
                <a:latin typeface="Arial"/>
              </a:defRPr>
            </a:pPr>
            <a:r>
              <a:rPr lang="en-GB" sz="1000" dirty="0"/>
              <a:t>i</a:t>
            </a:r>
            <a:r>
              <a:rPr lang="en-GB" sz="1000" dirty="0" smtClean="0"/>
              <a:t> = 1</a:t>
            </a:r>
            <a:endParaRPr sz="1000" dirty="0"/>
          </a:p>
        </p:txBody>
      </p:sp>
      <p:sp>
        <p:nvSpPr>
          <p:cNvPr id="461" name="TextBox 460"/>
          <p:cNvSpPr txBox="1"/>
          <p:nvPr/>
        </p:nvSpPr>
        <p:spPr>
          <a:xfrm>
            <a:off x="923522" y="18151753"/>
            <a:ext cx="2264130" cy="363338"/>
          </a:xfrm>
          <a:prstGeom prst="rect">
            <a:avLst/>
          </a:prstGeom>
          <a:noFill/>
        </p:spPr>
        <p:txBody>
          <a:bodyPr wrap="square" lIns="109810" tIns="54905" rIns="109810" bIns="54905" anchor="t">
            <a:spAutoFit/>
          </a:bodyPr>
          <a:lstStyle/>
          <a:p>
            <a:pPr algn="l">
              <a:defRPr sz="830" b="1">
                <a:solidFill>
                  <a:srgbClr val="003078"/>
                </a:solidFill>
                <a:latin typeface="Arial"/>
              </a:defRPr>
            </a:pPr>
            <a:r>
              <a:rPr lang="en-GB" sz="1600" dirty="0">
                <a:solidFill>
                  <a:schemeClr val="bg1"/>
                </a:solidFill>
              </a:rPr>
              <a:t>SHORT BIOGRAPHY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62" name="TextBox 461"/>
          <p:cNvSpPr txBox="1"/>
          <p:nvPr/>
        </p:nvSpPr>
        <p:spPr>
          <a:xfrm>
            <a:off x="368470" y="18106130"/>
            <a:ext cx="327563" cy="264771"/>
          </a:xfrm>
          <a:prstGeom prst="rect">
            <a:avLst/>
          </a:prstGeom>
          <a:noFill/>
        </p:spPr>
        <p:txBody>
          <a:bodyPr wrap="none" lIns="109810" tIns="54905" rIns="109810" bIns="54905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◎</a:t>
            </a:r>
          </a:p>
        </p:txBody>
      </p:sp>
      <p:pic>
        <p:nvPicPr>
          <p:cNvPr id="463" name="Picture 4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686" y="1018194"/>
            <a:ext cx="2565632" cy="256408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62402" y="7940742"/>
            <a:ext cx="5669129" cy="1836400"/>
          </a:xfrm>
          <a:prstGeom prst="rect">
            <a:avLst/>
          </a:prstGeom>
          <a:noFill/>
        </p:spPr>
        <p:txBody>
          <a:bodyPr wrap="square" lIns="18302" tIns="0" rIns="18302" bIns="0">
            <a:spAutoFit/>
          </a:bodyPr>
          <a:lstStyle/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b="1" dirty="0"/>
              <a:t> Bridging the gap between human </a:t>
            </a:r>
            <a:r>
              <a:rPr sz="1200" b="1" dirty="0" smtClean="0"/>
              <a:t>problem</a:t>
            </a:r>
            <a:r>
              <a:rPr lang="en-GB" sz="1200" b="1" dirty="0" smtClean="0"/>
              <a:t> </a:t>
            </a:r>
            <a:r>
              <a:rPr sz="1200" b="1" dirty="0" smtClean="0"/>
              <a:t>descriptions </a:t>
            </a:r>
            <a:r>
              <a:rPr sz="1200" b="1" dirty="0"/>
              <a:t>and </a:t>
            </a:r>
            <a:r>
              <a:rPr sz="1200" b="1" dirty="0" smtClean="0"/>
              <a:t>executable</a:t>
            </a:r>
            <a:r>
              <a:rPr lang="en-GB" sz="1200" b="1" dirty="0" smtClean="0"/>
              <a:t> 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code</a:t>
            </a:r>
            <a:r>
              <a:rPr sz="1200" b="1" dirty="0"/>
              <a:t>.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Improving automation in education, </a:t>
            </a:r>
            <a:r>
              <a:rPr sz="1200" b="1" dirty="0" smtClean="0"/>
              <a:t>software</a:t>
            </a:r>
            <a:r>
              <a:rPr lang="en-GB" sz="1200" b="1" dirty="0"/>
              <a:t> </a:t>
            </a:r>
            <a:r>
              <a:rPr sz="1200" b="1" dirty="0" smtClean="0"/>
              <a:t>development</a:t>
            </a:r>
            <a:r>
              <a:rPr sz="1200" b="1" dirty="0"/>
              <a:t>, </a:t>
            </a:r>
            <a:r>
              <a:rPr sz="1200" b="1" dirty="0" smtClean="0"/>
              <a:t>and AI-assisted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programming</a:t>
            </a:r>
            <a:r>
              <a:rPr sz="1200" b="1" dirty="0"/>
              <a:t>.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sz="1200" b="1" dirty="0"/>
              <a:t>•  Analysing the strengths and limitations of </a:t>
            </a:r>
            <a:r>
              <a:rPr sz="1200" b="1" dirty="0" smtClean="0"/>
              <a:t>large</a:t>
            </a:r>
            <a:r>
              <a:rPr lang="en-GB" sz="1200" b="1" dirty="0" smtClean="0"/>
              <a:t> </a:t>
            </a:r>
            <a:r>
              <a:rPr sz="1200" b="1" dirty="0" smtClean="0"/>
              <a:t>language </a:t>
            </a:r>
            <a:r>
              <a:rPr sz="1200" b="1" dirty="0"/>
              <a:t>models in 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 </a:t>
            </a:r>
            <a:r>
              <a:rPr sz="1200" b="1" dirty="0" smtClean="0"/>
              <a:t>structured </a:t>
            </a:r>
            <a:r>
              <a:rPr sz="1200" b="1" dirty="0"/>
              <a:t>program </a:t>
            </a:r>
            <a:r>
              <a:rPr lang="en-GB" sz="1200" b="1" dirty="0" smtClean="0"/>
              <a:t>generation</a:t>
            </a:r>
            <a:r>
              <a:rPr sz="1200" b="1" dirty="0" smtClean="0"/>
              <a:t>.</a:t>
            </a:r>
            <a:endParaRPr lang="en-GB" sz="1200" b="1" dirty="0" smtClean="0"/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 smtClean="0"/>
              <a:t>• Improving semantic correctness between compiled programs from various </a:t>
            </a:r>
          </a:p>
          <a:p>
            <a:pPr>
              <a:spcAft>
                <a:spcPts val="400"/>
              </a:spcAft>
              <a:defRPr sz="570">
                <a:solidFill>
                  <a:srgbClr val="08122B"/>
                </a:solidFill>
                <a:latin typeface="Arial"/>
              </a:defRPr>
            </a:pPr>
            <a:r>
              <a:rPr lang="en-GB" sz="1200" b="1" dirty="0"/>
              <a:t> </a:t>
            </a:r>
            <a:r>
              <a:rPr lang="en-GB" sz="1200" b="1" dirty="0" smtClean="0"/>
              <a:t> languages.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Custom</PresentationFormat>
  <Paragraphs>201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2026-07-11T01:53:57Z</dcterms:created>
  <dcterms:modified xsi:type="dcterms:W3CDTF">2026-07-11T04:02:13Z</dcterms:modified>
</cp:coreProperties>
</file>