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emovePersonalInfoOnSave="1" saveSubsetFonts="1" autoCompressPictures="0">
  <p:sldMasterIdLst>
    <p:sldMasterId id="2147483648" r:id="rId1"/>
  </p:sldMasterIdLst>
  <p:sldIdLst>
    <p:sldId id="256" r:id="rId2"/>
  </p:sldIdLst>
  <p:sldSz cx="30279975" cy="21386800"/>
  <p:notesSz cx="6858000" cy="9144000"/>
  <p:defaultTextStyle>
    <a:defPPr>
      <a:defRPr lang="en-US"/>
    </a:defPPr>
    <a:lvl1pPr marL="0" algn="l" defTabSz="915086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1pPr>
    <a:lvl2pPr marL="915086" algn="l" defTabSz="915086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2pPr>
    <a:lvl3pPr marL="1830172" algn="l" defTabSz="915086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3pPr>
    <a:lvl4pPr marL="2745257" algn="l" defTabSz="915086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4pPr>
    <a:lvl5pPr marL="3660343" algn="l" defTabSz="915086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5pPr>
    <a:lvl6pPr marL="4575429" algn="l" defTabSz="915086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6pPr>
    <a:lvl7pPr marL="5490515" algn="l" defTabSz="915086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7pPr>
    <a:lvl8pPr marL="6405601" algn="l" defTabSz="915086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8pPr>
    <a:lvl9pPr marL="7320686" algn="l" defTabSz="915086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napVertSplitter="1" vertBarState="minimized" horzBarState="maximized">
    <p:restoredLeft sz="15620"/>
    <p:restoredTop sz="96328" autoAdjust="0"/>
  </p:normalViewPr>
  <p:slideViewPr>
    <p:cSldViewPr snapToGrid="0" snapToObjects="1">
      <p:cViewPr>
        <p:scale>
          <a:sx n="80" d="100"/>
          <a:sy n="80" d="100"/>
        </p:scale>
        <p:origin x="-82" y="5890"/>
      </p:cViewPr>
      <p:guideLst>
        <p:guide orient="horz" pos="4322"/>
        <p:guide pos="5766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73040" y="4262749"/>
            <a:ext cx="15561116" cy="294136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746079" y="7775863"/>
            <a:ext cx="12815037" cy="3506762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91508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83017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274525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366034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457542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549051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640560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732068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142" y="8817728"/>
            <a:ext cx="15561116" cy="2725364"/>
          </a:xfrm>
        </p:spPr>
        <p:txBody>
          <a:bodyPr anchor="t"/>
          <a:lstStyle>
            <a:lvl1pPr algn="l">
              <a:defRPr sz="8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46142" y="5816017"/>
            <a:ext cx="15561116" cy="3001711"/>
          </a:xfrm>
        </p:spPr>
        <p:txBody>
          <a:bodyPr anchor="b"/>
          <a:lstStyle>
            <a:lvl1pPr marL="0" indent="0">
              <a:buNone/>
              <a:defRPr sz="4000">
                <a:solidFill>
                  <a:schemeClr val="tx1">
                    <a:tint val="75000"/>
                  </a:schemeClr>
                </a:solidFill>
              </a:defRPr>
            </a:lvl1pPr>
            <a:lvl2pPr marL="915086" indent="0">
              <a:buNone/>
              <a:defRPr sz="3600">
                <a:solidFill>
                  <a:schemeClr val="tx1">
                    <a:tint val="75000"/>
                  </a:schemeClr>
                </a:solidFill>
              </a:defRPr>
            </a:lvl2pPr>
            <a:lvl3pPr marL="1830172" indent="0">
              <a:buNone/>
              <a:defRPr sz="3200">
                <a:solidFill>
                  <a:schemeClr val="tx1">
                    <a:tint val="75000"/>
                  </a:schemeClr>
                </a:solidFill>
              </a:defRPr>
            </a:lvl3pPr>
            <a:lvl4pPr marL="2745257" indent="0">
              <a:buNone/>
              <a:defRPr sz="2800">
                <a:solidFill>
                  <a:schemeClr val="tx1">
                    <a:tint val="75000"/>
                  </a:schemeClr>
                </a:solidFill>
              </a:defRPr>
            </a:lvl4pPr>
            <a:lvl5pPr marL="3660343" indent="0">
              <a:buNone/>
              <a:defRPr sz="2800">
                <a:solidFill>
                  <a:schemeClr val="tx1">
                    <a:tint val="75000"/>
                  </a:schemeClr>
                </a:solidFill>
              </a:defRPr>
            </a:lvl5pPr>
            <a:lvl6pPr marL="4575429" indent="0">
              <a:buNone/>
              <a:defRPr sz="2800">
                <a:solidFill>
                  <a:schemeClr val="tx1">
                    <a:tint val="75000"/>
                  </a:schemeClr>
                </a:solidFill>
              </a:defRPr>
            </a:lvl6pPr>
            <a:lvl7pPr marL="5490515" indent="0">
              <a:buNone/>
              <a:defRPr sz="2800">
                <a:solidFill>
                  <a:schemeClr val="tx1">
                    <a:tint val="75000"/>
                  </a:schemeClr>
                </a:solidFill>
              </a:defRPr>
            </a:lvl7pPr>
            <a:lvl8pPr marL="6405601" indent="0">
              <a:buNone/>
              <a:defRPr sz="2800">
                <a:solidFill>
                  <a:schemeClr val="tx1">
                    <a:tint val="75000"/>
                  </a:schemeClr>
                </a:solidFill>
              </a:defRPr>
            </a:lvl8pPr>
            <a:lvl9pPr marL="7320686" indent="0">
              <a:buNone/>
              <a:defRPr sz="28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15360" y="3201827"/>
            <a:ext cx="8085678" cy="9055959"/>
          </a:xfrm>
        </p:spPr>
        <p:txBody>
          <a:bodyPr/>
          <a:lstStyle>
            <a:lvl1pPr>
              <a:defRPr sz="5600"/>
            </a:lvl1pPr>
            <a:lvl2pPr>
              <a:defRPr sz="4800"/>
            </a:lvl2pPr>
            <a:lvl3pPr>
              <a:defRPr sz="4000"/>
            </a:lvl3pPr>
            <a:lvl4pPr>
              <a:defRPr sz="3600"/>
            </a:lvl4pPr>
            <a:lvl5pPr>
              <a:defRPr sz="3600"/>
            </a:lvl5pPr>
            <a:lvl6pPr>
              <a:defRPr sz="3600"/>
            </a:lvl6pPr>
            <a:lvl7pPr>
              <a:defRPr sz="3600"/>
            </a:lvl7pPr>
            <a:lvl8pPr>
              <a:defRPr sz="3600"/>
            </a:lvl8pPr>
            <a:lvl9pPr>
              <a:defRPr sz="3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9306158" y="3201827"/>
            <a:ext cx="8085678" cy="9055959"/>
          </a:xfrm>
        </p:spPr>
        <p:txBody>
          <a:bodyPr/>
          <a:lstStyle>
            <a:lvl1pPr>
              <a:defRPr sz="5600"/>
            </a:lvl1pPr>
            <a:lvl2pPr>
              <a:defRPr sz="4800"/>
            </a:lvl2pPr>
            <a:lvl3pPr>
              <a:defRPr sz="4000"/>
            </a:lvl3pPr>
            <a:lvl4pPr>
              <a:defRPr sz="3600"/>
            </a:lvl4pPr>
            <a:lvl5pPr>
              <a:defRPr sz="3600"/>
            </a:lvl5pPr>
            <a:lvl6pPr>
              <a:defRPr sz="3600"/>
            </a:lvl6pPr>
            <a:lvl7pPr>
              <a:defRPr sz="3600"/>
            </a:lvl7pPr>
            <a:lvl8pPr>
              <a:defRPr sz="3600"/>
            </a:lvl8pPr>
            <a:lvl9pPr>
              <a:defRPr sz="3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5360" y="3071594"/>
            <a:ext cx="8088857" cy="1280094"/>
          </a:xfrm>
        </p:spPr>
        <p:txBody>
          <a:bodyPr anchor="b"/>
          <a:lstStyle>
            <a:lvl1pPr marL="0" indent="0">
              <a:buNone/>
              <a:defRPr sz="4800" b="1"/>
            </a:lvl1pPr>
            <a:lvl2pPr marL="915086" indent="0">
              <a:buNone/>
              <a:defRPr sz="4000" b="1"/>
            </a:lvl2pPr>
            <a:lvl3pPr marL="1830172" indent="0">
              <a:buNone/>
              <a:defRPr sz="3600" b="1"/>
            </a:lvl3pPr>
            <a:lvl4pPr marL="2745257" indent="0">
              <a:buNone/>
              <a:defRPr sz="3200" b="1"/>
            </a:lvl4pPr>
            <a:lvl5pPr marL="3660343" indent="0">
              <a:buNone/>
              <a:defRPr sz="3200" b="1"/>
            </a:lvl5pPr>
            <a:lvl6pPr marL="4575429" indent="0">
              <a:buNone/>
              <a:defRPr sz="3200" b="1"/>
            </a:lvl6pPr>
            <a:lvl7pPr marL="5490515" indent="0">
              <a:buNone/>
              <a:defRPr sz="3200" b="1"/>
            </a:lvl7pPr>
            <a:lvl8pPr marL="6405601" indent="0">
              <a:buNone/>
              <a:defRPr sz="3200" b="1"/>
            </a:lvl8pPr>
            <a:lvl9pPr marL="7320686" indent="0">
              <a:buNone/>
              <a:defRPr sz="32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915360" y="4351688"/>
            <a:ext cx="8088857" cy="7906097"/>
          </a:xfrm>
        </p:spPr>
        <p:txBody>
          <a:bodyPr/>
          <a:lstStyle>
            <a:lvl1pPr>
              <a:defRPr sz="4800"/>
            </a:lvl1pPr>
            <a:lvl2pPr>
              <a:defRPr sz="4000"/>
            </a:lvl2pPr>
            <a:lvl3pPr>
              <a:defRPr sz="3600"/>
            </a:lvl3pPr>
            <a:lvl4pPr>
              <a:defRPr sz="3200"/>
            </a:lvl4pPr>
            <a:lvl5pPr>
              <a:defRPr sz="3200"/>
            </a:lvl5pPr>
            <a:lvl6pPr>
              <a:defRPr sz="3200"/>
            </a:lvl6pPr>
            <a:lvl7pPr>
              <a:defRPr sz="3200"/>
            </a:lvl7pPr>
            <a:lvl8pPr>
              <a:defRPr sz="3200"/>
            </a:lvl8pPr>
            <a:lvl9pPr>
              <a:defRPr sz="32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9299802" y="3071594"/>
            <a:ext cx="8092035" cy="1280094"/>
          </a:xfrm>
        </p:spPr>
        <p:txBody>
          <a:bodyPr anchor="b"/>
          <a:lstStyle>
            <a:lvl1pPr marL="0" indent="0">
              <a:buNone/>
              <a:defRPr sz="4800" b="1"/>
            </a:lvl1pPr>
            <a:lvl2pPr marL="915086" indent="0">
              <a:buNone/>
              <a:defRPr sz="4000" b="1"/>
            </a:lvl2pPr>
            <a:lvl3pPr marL="1830172" indent="0">
              <a:buNone/>
              <a:defRPr sz="3600" b="1"/>
            </a:lvl3pPr>
            <a:lvl4pPr marL="2745257" indent="0">
              <a:buNone/>
              <a:defRPr sz="3200" b="1"/>
            </a:lvl4pPr>
            <a:lvl5pPr marL="3660343" indent="0">
              <a:buNone/>
              <a:defRPr sz="3200" b="1"/>
            </a:lvl5pPr>
            <a:lvl6pPr marL="4575429" indent="0">
              <a:buNone/>
              <a:defRPr sz="3200" b="1"/>
            </a:lvl6pPr>
            <a:lvl7pPr marL="5490515" indent="0">
              <a:buNone/>
              <a:defRPr sz="3200" b="1"/>
            </a:lvl7pPr>
            <a:lvl8pPr marL="6405601" indent="0">
              <a:buNone/>
              <a:defRPr sz="3200" b="1"/>
            </a:lvl8pPr>
            <a:lvl9pPr marL="7320686" indent="0">
              <a:buNone/>
              <a:defRPr sz="32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9299802" y="4351688"/>
            <a:ext cx="8092035" cy="7906097"/>
          </a:xfrm>
        </p:spPr>
        <p:txBody>
          <a:bodyPr/>
          <a:lstStyle>
            <a:lvl1pPr>
              <a:defRPr sz="4800"/>
            </a:lvl1pPr>
            <a:lvl2pPr>
              <a:defRPr sz="4000"/>
            </a:lvl2pPr>
            <a:lvl3pPr>
              <a:defRPr sz="3600"/>
            </a:lvl3pPr>
            <a:lvl4pPr>
              <a:defRPr sz="3200"/>
            </a:lvl4pPr>
            <a:lvl5pPr>
              <a:defRPr sz="3200"/>
            </a:lvl5pPr>
            <a:lvl6pPr>
              <a:defRPr sz="3200"/>
            </a:lvl6pPr>
            <a:lvl7pPr>
              <a:defRPr sz="3200"/>
            </a:lvl7pPr>
            <a:lvl8pPr>
              <a:defRPr sz="3200"/>
            </a:lvl8pPr>
            <a:lvl9pPr>
              <a:defRPr sz="32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5361" y="546344"/>
            <a:ext cx="6022941" cy="2325135"/>
          </a:xfrm>
        </p:spPr>
        <p:txBody>
          <a:bodyPr anchor="b"/>
          <a:lstStyle>
            <a:lvl1pPr algn="l">
              <a:defRPr sz="4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157605" y="546344"/>
            <a:ext cx="10234231" cy="11711441"/>
          </a:xfrm>
        </p:spPr>
        <p:txBody>
          <a:bodyPr/>
          <a:lstStyle>
            <a:lvl1pPr>
              <a:defRPr sz="6400"/>
            </a:lvl1pPr>
            <a:lvl2pPr>
              <a:defRPr sz="5600"/>
            </a:lvl2pPr>
            <a:lvl3pPr>
              <a:defRPr sz="4800"/>
            </a:lvl3pPr>
            <a:lvl4pPr>
              <a:defRPr sz="4000"/>
            </a:lvl4pPr>
            <a:lvl5pPr>
              <a:defRPr sz="4000"/>
            </a:lvl5pPr>
            <a:lvl6pPr>
              <a:defRPr sz="4000"/>
            </a:lvl6pPr>
            <a:lvl7pPr>
              <a:defRPr sz="4000"/>
            </a:lvl7pPr>
            <a:lvl8pPr>
              <a:defRPr sz="4000"/>
            </a:lvl8pPr>
            <a:lvl9pPr>
              <a:defRPr sz="4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5361" y="2871480"/>
            <a:ext cx="6022941" cy="9386306"/>
          </a:xfrm>
        </p:spPr>
        <p:txBody>
          <a:bodyPr/>
          <a:lstStyle>
            <a:lvl1pPr marL="0" indent="0">
              <a:buNone/>
              <a:defRPr sz="2800"/>
            </a:lvl1pPr>
            <a:lvl2pPr marL="915086" indent="0">
              <a:buNone/>
              <a:defRPr sz="2400"/>
            </a:lvl2pPr>
            <a:lvl3pPr marL="1830172" indent="0">
              <a:buNone/>
              <a:defRPr sz="2000"/>
            </a:lvl3pPr>
            <a:lvl4pPr marL="2745257" indent="0">
              <a:buNone/>
              <a:defRPr sz="1800"/>
            </a:lvl4pPr>
            <a:lvl5pPr marL="3660343" indent="0">
              <a:buNone/>
              <a:defRPr sz="1800"/>
            </a:lvl5pPr>
            <a:lvl6pPr marL="4575429" indent="0">
              <a:buNone/>
              <a:defRPr sz="1800"/>
            </a:lvl6pPr>
            <a:lvl7pPr marL="5490515" indent="0">
              <a:buNone/>
              <a:defRPr sz="1800"/>
            </a:lvl7pPr>
            <a:lvl8pPr marL="6405601" indent="0">
              <a:buNone/>
              <a:defRPr sz="1800"/>
            </a:lvl8pPr>
            <a:lvl9pPr marL="7320686" indent="0">
              <a:buNone/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588339" y="9605478"/>
            <a:ext cx="10984317" cy="1133981"/>
          </a:xfrm>
        </p:spPr>
        <p:txBody>
          <a:bodyPr anchor="b"/>
          <a:lstStyle>
            <a:lvl1pPr algn="l">
              <a:defRPr sz="4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3588339" y="1226096"/>
            <a:ext cx="10984317" cy="8233266"/>
          </a:xfrm>
        </p:spPr>
        <p:txBody>
          <a:bodyPr/>
          <a:lstStyle>
            <a:lvl1pPr marL="0" indent="0">
              <a:buNone/>
              <a:defRPr sz="6400"/>
            </a:lvl1pPr>
            <a:lvl2pPr marL="915086" indent="0">
              <a:buNone/>
              <a:defRPr sz="5600"/>
            </a:lvl2pPr>
            <a:lvl3pPr marL="1830172" indent="0">
              <a:buNone/>
              <a:defRPr sz="4800"/>
            </a:lvl3pPr>
            <a:lvl4pPr marL="2745257" indent="0">
              <a:buNone/>
              <a:defRPr sz="4000"/>
            </a:lvl4pPr>
            <a:lvl5pPr marL="3660343" indent="0">
              <a:buNone/>
              <a:defRPr sz="4000"/>
            </a:lvl5pPr>
            <a:lvl6pPr marL="4575429" indent="0">
              <a:buNone/>
              <a:defRPr sz="4000"/>
            </a:lvl6pPr>
            <a:lvl7pPr marL="5490515" indent="0">
              <a:buNone/>
              <a:defRPr sz="4000"/>
            </a:lvl7pPr>
            <a:lvl8pPr marL="6405601" indent="0">
              <a:buNone/>
              <a:defRPr sz="4000"/>
            </a:lvl8pPr>
            <a:lvl9pPr marL="7320686" indent="0">
              <a:buNone/>
              <a:defRPr sz="4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588339" y="10739459"/>
            <a:ext cx="10984317" cy="1610441"/>
          </a:xfrm>
        </p:spPr>
        <p:txBody>
          <a:bodyPr/>
          <a:lstStyle>
            <a:lvl1pPr marL="0" indent="0">
              <a:buNone/>
              <a:defRPr sz="2800"/>
            </a:lvl1pPr>
            <a:lvl2pPr marL="915086" indent="0">
              <a:buNone/>
              <a:defRPr sz="2400"/>
            </a:lvl2pPr>
            <a:lvl3pPr marL="1830172" indent="0">
              <a:buNone/>
              <a:defRPr sz="2000"/>
            </a:lvl3pPr>
            <a:lvl4pPr marL="2745257" indent="0">
              <a:buNone/>
              <a:defRPr sz="1800"/>
            </a:lvl4pPr>
            <a:lvl5pPr marL="3660343" indent="0">
              <a:buNone/>
              <a:defRPr sz="1800"/>
            </a:lvl5pPr>
            <a:lvl6pPr marL="4575429" indent="0">
              <a:buNone/>
              <a:defRPr sz="1800"/>
            </a:lvl6pPr>
            <a:lvl7pPr marL="5490515" indent="0">
              <a:buNone/>
              <a:defRPr sz="1800"/>
            </a:lvl7pPr>
            <a:lvl8pPr marL="6405601" indent="0">
              <a:buNone/>
              <a:defRPr sz="1800"/>
            </a:lvl8pPr>
            <a:lvl9pPr marL="7320686" indent="0">
              <a:buNone/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3272717" y="549522"/>
            <a:ext cx="4119119" cy="11708264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15360" y="549522"/>
            <a:ext cx="12052237" cy="11708264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15360" y="549521"/>
            <a:ext cx="16476476" cy="2287018"/>
          </a:xfrm>
          <a:prstGeom prst="rect">
            <a:avLst/>
          </a:prstGeom>
        </p:spPr>
        <p:txBody>
          <a:bodyPr vert="horz" lIns="183017" tIns="91509" rIns="183017" bIns="91509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5360" y="3201827"/>
            <a:ext cx="16476476" cy="9055959"/>
          </a:xfrm>
          <a:prstGeom prst="rect">
            <a:avLst/>
          </a:prstGeom>
        </p:spPr>
        <p:txBody>
          <a:bodyPr vert="horz" lIns="183017" tIns="91509" rIns="183017" bIns="91509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15360" y="12718365"/>
            <a:ext cx="4271679" cy="730575"/>
          </a:xfrm>
          <a:prstGeom prst="rect">
            <a:avLst/>
          </a:prstGeom>
        </p:spPr>
        <p:txBody>
          <a:bodyPr vert="horz" lIns="183017" tIns="91509" rIns="183017" bIns="91509" rtlCol="0" anchor="ctr"/>
          <a:lstStyle>
            <a:lvl1pPr algn="l">
              <a:defRPr sz="24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7/2/2026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254958" y="12718365"/>
            <a:ext cx="5797279" cy="730575"/>
          </a:xfrm>
          <a:prstGeom prst="rect">
            <a:avLst/>
          </a:prstGeom>
        </p:spPr>
        <p:txBody>
          <a:bodyPr vert="horz" lIns="183017" tIns="91509" rIns="183017" bIns="91509" rtlCol="0" anchor="ctr"/>
          <a:lstStyle>
            <a:lvl1pPr algn="ctr">
              <a:defRPr sz="24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3120157" y="12718365"/>
            <a:ext cx="4271679" cy="730575"/>
          </a:xfrm>
          <a:prstGeom prst="rect">
            <a:avLst/>
          </a:prstGeom>
        </p:spPr>
        <p:txBody>
          <a:bodyPr vert="horz" lIns="183017" tIns="91509" rIns="183017" bIns="91509" rtlCol="0" anchor="ctr"/>
          <a:lstStyle>
            <a:lvl1pPr algn="r">
              <a:defRPr sz="24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5086" rtl="0" eaLnBrk="1" latinLnBrk="0" hangingPunct="1">
        <a:spcBef>
          <a:spcPct val="0"/>
        </a:spcBef>
        <a:buNone/>
        <a:defRPr sz="88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686314" indent="-686314" algn="l" defTabSz="915086" rtl="0" eaLnBrk="1" latinLnBrk="0" hangingPunct="1">
        <a:spcBef>
          <a:spcPct val="20000"/>
        </a:spcBef>
        <a:buFont typeface="Arial"/>
        <a:buChar char="•"/>
        <a:defRPr sz="6400" kern="1200">
          <a:solidFill>
            <a:schemeClr val="tx1"/>
          </a:solidFill>
          <a:latin typeface="+mn-lt"/>
          <a:ea typeface="+mn-ea"/>
          <a:cs typeface="+mn-cs"/>
        </a:defRPr>
      </a:lvl1pPr>
      <a:lvl2pPr marL="1487014" indent="-571929" algn="l" defTabSz="915086" rtl="0" eaLnBrk="1" latinLnBrk="0" hangingPunct="1">
        <a:spcBef>
          <a:spcPct val="20000"/>
        </a:spcBef>
        <a:buFont typeface="Arial"/>
        <a:buChar char="–"/>
        <a:defRPr sz="5600" kern="1200">
          <a:solidFill>
            <a:schemeClr val="tx1"/>
          </a:solidFill>
          <a:latin typeface="+mn-lt"/>
          <a:ea typeface="+mn-ea"/>
          <a:cs typeface="+mn-cs"/>
        </a:defRPr>
      </a:lvl2pPr>
      <a:lvl3pPr marL="2287715" indent="-457543" algn="l" defTabSz="915086" rtl="0" eaLnBrk="1" latinLnBrk="0" hangingPunct="1">
        <a:spcBef>
          <a:spcPct val="20000"/>
        </a:spcBef>
        <a:buFont typeface="Arial"/>
        <a:buChar char="•"/>
        <a:defRPr sz="4800" kern="1200">
          <a:solidFill>
            <a:schemeClr val="tx1"/>
          </a:solidFill>
          <a:latin typeface="+mn-lt"/>
          <a:ea typeface="+mn-ea"/>
          <a:cs typeface="+mn-cs"/>
        </a:defRPr>
      </a:lvl3pPr>
      <a:lvl4pPr marL="3202800" indent="-457543" algn="l" defTabSz="915086" rtl="0" eaLnBrk="1" latinLnBrk="0" hangingPunct="1">
        <a:spcBef>
          <a:spcPct val="20000"/>
        </a:spcBef>
        <a:buFont typeface="Arial"/>
        <a:buChar char="–"/>
        <a:defRPr sz="4000" kern="1200">
          <a:solidFill>
            <a:schemeClr val="tx1"/>
          </a:solidFill>
          <a:latin typeface="+mn-lt"/>
          <a:ea typeface="+mn-ea"/>
          <a:cs typeface="+mn-cs"/>
        </a:defRPr>
      </a:lvl4pPr>
      <a:lvl5pPr marL="4117886" indent="-457543" algn="l" defTabSz="915086" rtl="0" eaLnBrk="1" latinLnBrk="0" hangingPunct="1">
        <a:spcBef>
          <a:spcPct val="20000"/>
        </a:spcBef>
        <a:buFont typeface="Arial"/>
        <a:buChar char="»"/>
        <a:defRPr sz="4000" kern="1200">
          <a:solidFill>
            <a:schemeClr val="tx1"/>
          </a:solidFill>
          <a:latin typeface="+mn-lt"/>
          <a:ea typeface="+mn-ea"/>
          <a:cs typeface="+mn-cs"/>
        </a:defRPr>
      </a:lvl5pPr>
      <a:lvl6pPr marL="5032972" indent="-457543" algn="l" defTabSz="915086" rtl="0" eaLnBrk="1" latinLnBrk="0" hangingPunct="1">
        <a:spcBef>
          <a:spcPct val="20000"/>
        </a:spcBef>
        <a:buFont typeface="Arial"/>
        <a:buChar char="•"/>
        <a:defRPr sz="4000" kern="1200">
          <a:solidFill>
            <a:schemeClr val="tx1"/>
          </a:solidFill>
          <a:latin typeface="+mn-lt"/>
          <a:ea typeface="+mn-ea"/>
          <a:cs typeface="+mn-cs"/>
        </a:defRPr>
      </a:lvl6pPr>
      <a:lvl7pPr marL="5948058" indent="-457543" algn="l" defTabSz="915086" rtl="0" eaLnBrk="1" latinLnBrk="0" hangingPunct="1">
        <a:spcBef>
          <a:spcPct val="20000"/>
        </a:spcBef>
        <a:buFont typeface="Arial"/>
        <a:buChar char="•"/>
        <a:defRPr sz="4000" kern="1200">
          <a:solidFill>
            <a:schemeClr val="tx1"/>
          </a:solidFill>
          <a:latin typeface="+mn-lt"/>
          <a:ea typeface="+mn-ea"/>
          <a:cs typeface="+mn-cs"/>
        </a:defRPr>
      </a:lvl7pPr>
      <a:lvl8pPr marL="6863144" indent="-457543" algn="l" defTabSz="915086" rtl="0" eaLnBrk="1" latinLnBrk="0" hangingPunct="1">
        <a:spcBef>
          <a:spcPct val="20000"/>
        </a:spcBef>
        <a:buFont typeface="Arial"/>
        <a:buChar char="•"/>
        <a:defRPr sz="4000" kern="1200">
          <a:solidFill>
            <a:schemeClr val="tx1"/>
          </a:solidFill>
          <a:latin typeface="+mn-lt"/>
          <a:ea typeface="+mn-ea"/>
          <a:cs typeface="+mn-cs"/>
        </a:defRPr>
      </a:lvl8pPr>
      <a:lvl9pPr marL="7778229" indent="-457543" algn="l" defTabSz="915086" rtl="0" eaLnBrk="1" latinLnBrk="0" hangingPunct="1">
        <a:spcBef>
          <a:spcPct val="20000"/>
        </a:spcBef>
        <a:buFont typeface="Arial"/>
        <a:buChar char="•"/>
        <a:defRPr sz="4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5086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1pPr>
      <a:lvl2pPr marL="915086" algn="l" defTabSz="915086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2pPr>
      <a:lvl3pPr marL="1830172" algn="l" defTabSz="915086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3pPr>
      <a:lvl4pPr marL="2745257" algn="l" defTabSz="915086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4pPr>
      <a:lvl5pPr marL="3660343" algn="l" defTabSz="915086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5pPr>
      <a:lvl6pPr marL="4575429" algn="l" defTabSz="915086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6pPr>
      <a:lvl7pPr marL="5490515" algn="l" defTabSz="915086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7pPr>
      <a:lvl8pPr marL="6405601" algn="l" defTabSz="915086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8pPr>
      <a:lvl9pPr marL="7320686" algn="l" defTabSz="915086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8992"/>
            <a:ext cx="30280101" cy="4240692"/>
          </a:xfrm>
          <a:prstGeom prst="rect">
            <a:avLst/>
          </a:prstGeom>
          <a:solidFill>
            <a:srgbClr val="002660"/>
          </a:solidFill>
          <a:ln w="9525">
            <a:solidFill>
              <a:srgbClr val="0026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83017" tIns="91509" rIns="183017" bIns="91509" rtlCol="0" anchor="ctr"/>
          <a:lstStyle/>
          <a:p>
            <a:pPr algn="ctr"/>
            <a:endParaRPr dirty="0"/>
          </a:p>
        </p:txBody>
      </p:sp>
      <p:sp>
        <p:nvSpPr>
          <p:cNvPr id="3" name="TextBox 2"/>
          <p:cNvSpPr txBox="1"/>
          <p:nvPr/>
        </p:nvSpPr>
        <p:spPr>
          <a:xfrm>
            <a:off x="3485290" y="354361"/>
            <a:ext cx="23317493" cy="973007"/>
          </a:xfrm>
          <a:prstGeom prst="rect">
            <a:avLst/>
          </a:prstGeom>
          <a:noFill/>
        </p:spPr>
        <p:txBody>
          <a:bodyPr wrap="none" lIns="109810" tIns="54905" rIns="109810" bIns="54905" anchor="ctr">
            <a:spAutoFit/>
          </a:bodyPr>
          <a:lstStyle/>
          <a:p>
            <a:pPr algn="ctr">
              <a:defRPr sz="2300" b="1">
                <a:solidFill>
                  <a:srgbClr val="FFFFFF"/>
                </a:solidFill>
                <a:latin typeface="Arial"/>
              </a:defRPr>
            </a:pPr>
            <a:r>
              <a:rPr lang="en-GB" sz="5600" b="1" dirty="0"/>
              <a:t>A Comparative Evaluation </a:t>
            </a:r>
            <a:r>
              <a:rPr lang="en-GB" sz="5600" b="1" dirty="0" smtClean="0"/>
              <a:t>Of </a:t>
            </a:r>
            <a:r>
              <a:rPr lang="en-GB" sz="5600" b="1" dirty="0"/>
              <a:t>Transformer-Based </a:t>
            </a:r>
            <a:r>
              <a:rPr lang="en-GB" sz="5600" b="1" dirty="0"/>
              <a:t>Language </a:t>
            </a:r>
            <a:r>
              <a:rPr lang="en-GB" sz="5600" b="1" dirty="0" smtClean="0"/>
              <a:t>Models</a:t>
            </a:r>
            <a:endParaRPr lang="en-GB" sz="5600" b="1" dirty="0"/>
          </a:p>
        </p:txBody>
      </p:sp>
      <p:sp>
        <p:nvSpPr>
          <p:cNvPr id="4" name="TextBox 3"/>
          <p:cNvSpPr txBox="1"/>
          <p:nvPr/>
        </p:nvSpPr>
        <p:spPr>
          <a:xfrm>
            <a:off x="3686023" y="1582093"/>
            <a:ext cx="22651751" cy="1095767"/>
          </a:xfrm>
          <a:prstGeom prst="rect">
            <a:avLst/>
          </a:prstGeom>
          <a:noFill/>
        </p:spPr>
        <p:txBody>
          <a:bodyPr wrap="none" lIns="109810" tIns="54905" rIns="109810" bIns="54905" anchor="ctr">
            <a:spAutoFit/>
          </a:bodyPr>
          <a:lstStyle/>
          <a:p>
            <a:pPr algn="ctr">
              <a:defRPr sz="2300" b="1">
                <a:solidFill>
                  <a:srgbClr val="FFFFFF"/>
                </a:solidFill>
                <a:latin typeface="Arial"/>
              </a:defRPr>
            </a:pPr>
            <a:r>
              <a:rPr lang="en-GB" sz="3200" b="1" dirty="0"/>
              <a:t>For the </a:t>
            </a:r>
            <a:r>
              <a:rPr lang="en-GB" sz="3200" b="1" dirty="0" smtClean="0"/>
              <a:t>generation </a:t>
            </a:r>
            <a:r>
              <a:rPr lang="en-GB" sz="3200" b="1" dirty="0"/>
              <a:t>of Structured Algorithmic Representations such as Pseudocode and Executable Flow Diagrams </a:t>
            </a:r>
          </a:p>
          <a:p>
            <a:pPr algn="ctr">
              <a:defRPr sz="2300" b="1">
                <a:solidFill>
                  <a:srgbClr val="FFFFFF"/>
                </a:solidFill>
                <a:latin typeface="Arial"/>
              </a:defRPr>
            </a:pPr>
            <a:r>
              <a:rPr lang="en-GB" sz="3200" b="1" dirty="0"/>
              <a:t>from Natural Language Algorithm Specifications.</a:t>
            </a:r>
            <a:endParaRPr lang="en-GB" sz="3200" b="1" dirty="0"/>
          </a:p>
        </p:txBody>
      </p:sp>
      <p:sp>
        <p:nvSpPr>
          <p:cNvPr id="5" name="TextBox 4"/>
          <p:cNvSpPr txBox="1"/>
          <p:nvPr/>
        </p:nvSpPr>
        <p:spPr>
          <a:xfrm>
            <a:off x="5459002" y="2901971"/>
            <a:ext cx="18739656" cy="541770"/>
          </a:xfrm>
          <a:prstGeom prst="rect">
            <a:avLst/>
          </a:prstGeom>
          <a:noFill/>
        </p:spPr>
        <p:txBody>
          <a:bodyPr wrap="none" lIns="109810" tIns="54905" rIns="109810" bIns="54905" anchor="ctr">
            <a:spAutoFit/>
          </a:bodyPr>
          <a:lstStyle/>
          <a:p>
            <a:pPr algn="ctr">
              <a:defRPr sz="1060" b="1">
                <a:solidFill>
                  <a:srgbClr val="FFD73C"/>
                </a:solidFill>
                <a:latin typeface="Arial"/>
              </a:defRPr>
            </a:pPr>
            <a:r>
              <a:rPr sz="2800" dirty="0"/>
              <a:t>Building and Evaluating a Multi-Stage </a:t>
            </a:r>
            <a:r>
              <a:rPr sz="2800" dirty="0" smtClean="0"/>
              <a:t>Pipeline:</a:t>
            </a:r>
            <a:r>
              <a:rPr lang="en-GB" sz="2800" dirty="0" smtClean="0"/>
              <a:t> NL </a:t>
            </a:r>
            <a:r>
              <a:rPr lang="en-GB" sz="2800" dirty="0"/>
              <a:t>→</a:t>
            </a:r>
            <a:r>
              <a:rPr sz="2800" dirty="0" smtClean="0"/>
              <a:t> </a:t>
            </a:r>
            <a:r>
              <a:rPr sz="2800" dirty="0"/>
              <a:t>Pseudocode → AST → Flow Diagram → Python → Test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034621" y="3655098"/>
            <a:ext cx="3052668" cy="387881"/>
          </a:xfrm>
          <a:prstGeom prst="rect">
            <a:avLst/>
          </a:prstGeom>
          <a:noFill/>
        </p:spPr>
        <p:txBody>
          <a:bodyPr wrap="none" lIns="109810" tIns="54905" rIns="109810" bIns="54905" anchor="t">
            <a:spAutoFit/>
          </a:bodyPr>
          <a:lstStyle/>
          <a:p>
            <a:pPr algn="l">
              <a:defRPr sz="1050" b="1">
                <a:solidFill>
                  <a:srgbClr val="FFFFFF"/>
                </a:solidFill>
                <a:latin typeface="Arial"/>
              </a:defRPr>
            </a:pPr>
            <a:r>
              <a:rPr dirty="0" smtClean="0"/>
              <a:t>  </a:t>
            </a:r>
            <a:r>
              <a:rPr lang="en-GB" sz="1800" dirty="0"/>
              <a:t>Alan Johnson - </a:t>
            </a:r>
            <a:r>
              <a:rPr sz="1800" dirty="0"/>
              <a:t>24038155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07138" y="3695061"/>
            <a:ext cx="2558943" cy="357104"/>
          </a:xfrm>
          <a:prstGeom prst="rect">
            <a:avLst/>
          </a:prstGeom>
          <a:noFill/>
        </p:spPr>
        <p:txBody>
          <a:bodyPr wrap="none" lIns="109810" tIns="54905" rIns="109810" bIns="54905" anchor="t">
            <a:spAutoFit/>
          </a:bodyPr>
          <a:lstStyle/>
          <a:p>
            <a:pPr algn="l">
              <a:defRPr sz="810" b="1">
                <a:solidFill>
                  <a:srgbClr val="FFFFFF"/>
                </a:solidFill>
                <a:latin typeface="Arial"/>
              </a:defRPr>
            </a:pPr>
            <a:r>
              <a:rPr dirty="0" smtClean="0"/>
              <a:t>  </a:t>
            </a:r>
            <a:r>
              <a:rPr sz="1600" dirty="0"/>
              <a:t>MSc Computer Science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570865" y="3695061"/>
            <a:ext cx="2286433" cy="357104"/>
          </a:xfrm>
          <a:prstGeom prst="rect">
            <a:avLst/>
          </a:prstGeom>
          <a:noFill/>
        </p:spPr>
        <p:txBody>
          <a:bodyPr wrap="none" lIns="109810" tIns="54905" rIns="109810" bIns="54905" anchor="t">
            <a:spAutoFit/>
          </a:bodyPr>
          <a:lstStyle/>
          <a:p>
            <a:pPr algn="l">
              <a:defRPr sz="810" b="1">
                <a:solidFill>
                  <a:srgbClr val="FFFFFF"/>
                </a:solidFill>
                <a:latin typeface="Arial"/>
              </a:defRPr>
            </a:pPr>
            <a:r>
              <a:rPr sz="1600" dirty="0" smtClean="0"/>
              <a:t> </a:t>
            </a:r>
            <a:r>
              <a:rPr lang="en-GB" sz="1600" dirty="0" smtClean="0"/>
              <a:t>Mentor</a:t>
            </a:r>
            <a:r>
              <a:rPr sz="1600" dirty="0" smtClean="0"/>
              <a:t>: </a:t>
            </a:r>
            <a:r>
              <a:rPr sz="1600" dirty="0"/>
              <a:t>Beran Necat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2649885" y="3695059"/>
            <a:ext cx="1428826" cy="357104"/>
          </a:xfrm>
          <a:prstGeom prst="rect">
            <a:avLst/>
          </a:prstGeom>
          <a:noFill/>
        </p:spPr>
        <p:txBody>
          <a:bodyPr wrap="none" lIns="109810" tIns="54905" rIns="109810" bIns="54905" anchor="t">
            <a:spAutoFit/>
          </a:bodyPr>
          <a:lstStyle/>
          <a:p>
            <a:pPr algn="l">
              <a:defRPr sz="810" b="1">
                <a:solidFill>
                  <a:srgbClr val="FFFFFF"/>
                </a:solidFill>
                <a:latin typeface="Arial"/>
              </a:defRPr>
            </a:pPr>
            <a:r>
              <a:rPr sz="1600" dirty="0"/>
              <a:t>▣  July 2026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111017" y="307986"/>
            <a:ext cx="2511471" cy="603511"/>
          </a:xfrm>
          <a:prstGeom prst="rect">
            <a:avLst/>
          </a:prstGeom>
          <a:noFill/>
        </p:spPr>
        <p:txBody>
          <a:bodyPr wrap="square" lIns="109810" tIns="54905" rIns="109810" bIns="54905" anchor="t">
            <a:spAutoFit/>
          </a:bodyPr>
          <a:lstStyle/>
          <a:p>
            <a:pPr algn="ctr">
              <a:defRPr sz="720" b="1">
                <a:solidFill>
                  <a:srgbClr val="FFD73C"/>
                </a:solidFill>
                <a:latin typeface="Arial"/>
              </a:defRPr>
            </a:pPr>
            <a:r>
              <a:rPr sz="3200" dirty="0"/>
              <a:t>SCAN ME!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26429190" y="3648053"/>
            <a:ext cx="3743411" cy="480346"/>
          </a:xfrm>
          <a:prstGeom prst="rect">
            <a:avLst/>
          </a:prstGeom>
          <a:noFill/>
        </p:spPr>
        <p:txBody>
          <a:bodyPr wrap="none" lIns="109810" tIns="54905" rIns="109810" bIns="54905" anchor="t">
            <a:spAutoFit/>
          </a:bodyPr>
          <a:lstStyle/>
          <a:p>
            <a:pPr algn="ctr">
              <a:defRPr sz="509" b="1">
                <a:solidFill>
                  <a:srgbClr val="FFFFFF"/>
                </a:solidFill>
                <a:latin typeface="Arial"/>
              </a:defRPr>
            </a:pPr>
            <a:r>
              <a:rPr lang="en-GB" sz="2400" dirty="0"/>
              <a:t>View Project Repository</a:t>
            </a:r>
            <a:endParaRPr sz="2400" dirty="0"/>
          </a:p>
        </p:txBody>
      </p:sp>
      <p:sp>
        <p:nvSpPr>
          <p:cNvPr id="63" name="Rectangle 62"/>
          <p:cNvSpPr/>
          <p:nvPr/>
        </p:nvSpPr>
        <p:spPr>
          <a:xfrm>
            <a:off x="201379" y="4419714"/>
            <a:ext cx="5730152" cy="2799311"/>
          </a:xfrm>
          <a:prstGeom prst="rect">
            <a:avLst/>
          </a:prstGeom>
          <a:solidFill>
            <a:srgbClr val="FFFFFF"/>
          </a:solidFill>
          <a:ln w="10160">
            <a:solidFill>
              <a:srgbClr val="A4B8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83017" tIns="91509" rIns="183017" bIns="91509" rtlCol="0" anchor="ctr"/>
          <a:lstStyle/>
          <a:p>
            <a:pPr algn="ctr"/>
            <a:endParaRPr dirty="0"/>
          </a:p>
        </p:txBody>
      </p:sp>
      <p:sp>
        <p:nvSpPr>
          <p:cNvPr id="64" name="Rectangle 63"/>
          <p:cNvSpPr/>
          <p:nvPr/>
        </p:nvSpPr>
        <p:spPr>
          <a:xfrm>
            <a:off x="201379" y="4419714"/>
            <a:ext cx="5730152" cy="530588"/>
          </a:xfrm>
          <a:prstGeom prst="rect">
            <a:avLst/>
          </a:prstGeom>
          <a:solidFill>
            <a:srgbClr val="003078"/>
          </a:solidFill>
          <a:ln w="6350">
            <a:solidFill>
              <a:srgbClr val="0030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83017" tIns="91509" rIns="183017" bIns="91509" rtlCol="0" anchor="ctr"/>
          <a:lstStyle/>
          <a:p>
            <a:pPr algn="ctr"/>
            <a:endParaRPr dirty="0"/>
          </a:p>
        </p:txBody>
      </p:sp>
      <p:sp>
        <p:nvSpPr>
          <p:cNvPr id="65" name="TextBox 64"/>
          <p:cNvSpPr txBox="1"/>
          <p:nvPr/>
        </p:nvSpPr>
        <p:spPr>
          <a:xfrm>
            <a:off x="333336" y="4456307"/>
            <a:ext cx="431759" cy="418659"/>
          </a:xfrm>
          <a:prstGeom prst="rect">
            <a:avLst/>
          </a:prstGeom>
          <a:noFill/>
        </p:spPr>
        <p:txBody>
          <a:bodyPr wrap="none" lIns="109810" tIns="54905" rIns="109810" bIns="54905" anchor="t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rial"/>
              </a:defRPr>
            </a:pPr>
            <a:r>
              <a:rPr sz="2000" dirty="0"/>
              <a:t>◉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860438" y="4500216"/>
            <a:ext cx="2615690" cy="387881"/>
          </a:xfrm>
          <a:prstGeom prst="rect">
            <a:avLst/>
          </a:prstGeom>
          <a:noFill/>
        </p:spPr>
        <p:txBody>
          <a:bodyPr wrap="none" lIns="109810" tIns="54905" rIns="109810" bIns="54905" anchor="ctr">
            <a:spAutoFit/>
          </a:bodyPr>
          <a:lstStyle/>
          <a:p>
            <a:pPr algn="l">
              <a:defRPr sz="819" b="1">
                <a:solidFill>
                  <a:srgbClr val="FFFFFF"/>
                </a:solidFill>
                <a:latin typeface="Arial"/>
              </a:defRPr>
            </a:pPr>
            <a:r>
              <a:rPr sz="1800" dirty="0"/>
              <a:t>PROJECT OVERVIEW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213585" y="5096673"/>
            <a:ext cx="5786882" cy="1773584"/>
          </a:xfrm>
          <a:prstGeom prst="rect">
            <a:avLst/>
          </a:prstGeom>
          <a:noFill/>
        </p:spPr>
        <p:txBody>
          <a:bodyPr wrap="none" lIns="109810" tIns="54905" rIns="109810" bIns="54905" anchor="t">
            <a:spAutoFit/>
          </a:bodyPr>
          <a:lstStyle/>
          <a:p>
            <a:pPr algn="l">
              <a:defRPr sz="580" b="0">
                <a:solidFill>
                  <a:srgbClr val="08122B"/>
                </a:solidFill>
                <a:latin typeface="Arial"/>
              </a:defRPr>
            </a:pPr>
            <a:r>
              <a:rPr sz="1200" b="1" dirty="0"/>
              <a:t>This project investigates the ability of transformer-based language models </a:t>
            </a:r>
            <a:endParaRPr lang="en-GB" sz="1200" b="1" dirty="0"/>
          </a:p>
          <a:p>
            <a:pPr algn="l">
              <a:defRPr sz="580" b="0">
                <a:solidFill>
                  <a:srgbClr val="08122B"/>
                </a:solidFill>
                <a:latin typeface="Arial"/>
              </a:defRPr>
            </a:pPr>
            <a:r>
              <a:rPr sz="1200" b="1" dirty="0"/>
              <a:t>to convert natural language</a:t>
            </a:r>
            <a:r>
              <a:rPr lang="en-GB" sz="1200" b="1" dirty="0"/>
              <a:t> </a:t>
            </a:r>
            <a:r>
              <a:rPr sz="1200" b="1" dirty="0"/>
              <a:t>algorithmic descriptions into executable Python</a:t>
            </a:r>
            <a:br>
              <a:rPr sz="1200" b="1" dirty="0"/>
            </a:br>
            <a:r>
              <a:rPr sz="1200" b="1" dirty="0"/>
              <a:t>programs using a multi-stage, compiler-inspired</a:t>
            </a:r>
            <a:r>
              <a:rPr lang="en-GB" sz="1200" b="1" dirty="0"/>
              <a:t> </a:t>
            </a:r>
            <a:r>
              <a:rPr sz="1200" b="1" dirty="0"/>
              <a:t>pipeline.</a:t>
            </a:r>
            <a:br>
              <a:rPr sz="1200" b="1" dirty="0"/>
            </a:br>
            <a:r>
              <a:rPr sz="1200" b="1" dirty="0"/>
              <a:t/>
            </a:r>
            <a:br>
              <a:rPr sz="1200" b="1" dirty="0"/>
            </a:br>
            <a:r>
              <a:rPr sz="1200" b="1" dirty="0"/>
              <a:t>The system transforms English </a:t>
            </a:r>
            <a:r>
              <a:rPr lang="en-GB" sz="1200" b="1" dirty="0"/>
              <a:t>Natural language (NL) </a:t>
            </a:r>
            <a:r>
              <a:rPr sz="1200" b="1" dirty="0"/>
              <a:t>descriptions into</a:t>
            </a:r>
            <a:br>
              <a:rPr sz="1200" b="1" dirty="0"/>
            </a:br>
            <a:r>
              <a:rPr sz="1200" b="1" dirty="0"/>
              <a:t>structured pseudocode, </a:t>
            </a:r>
            <a:r>
              <a:rPr lang="en-GB" sz="1200" b="1" dirty="0"/>
              <a:t>and </a:t>
            </a:r>
            <a:r>
              <a:rPr sz="1200" b="1" dirty="0"/>
              <a:t>builds an Abstract Syntax</a:t>
            </a:r>
            <a:br>
              <a:rPr sz="1200" b="1" dirty="0"/>
            </a:br>
            <a:r>
              <a:rPr sz="1200" b="1" dirty="0"/>
              <a:t>Tree (AST),</a:t>
            </a:r>
            <a:r>
              <a:rPr lang="en-GB" sz="1200" b="1" dirty="0"/>
              <a:t> then it</a:t>
            </a:r>
            <a:r>
              <a:rPr sz="1200" b="1" dirty="0"/>
              <a:t> generates a flow diagram (Control</a:t>
            </a:r>
            <a:br>
              <a:rPr sz="1200" b="1" dirty="0"/>
            </a:br>
            <a:r>
              <a:rPr sz="1200" b="1" dirty="0"/>
              <a:t>Flow Graph), </a:t>
            </a:r>
            <a:r>
              <a:rPr lang="en-GB" sz="1200" b="1" dirty="0"/>
              <a:t>from which it </a:t>
            </a:r>
            <a:r>
              <a:rPr sz="1200" b="1" dirty="0"/>
              <a:t>produces Python code, and finally</a:t>
            </a:r>
            <a:br>
              <a:rPr sz="1200" b="1" dirty="0"/>
            </a:br>
            <a:r>
              <a:rPr sz="1200" b="1" dirty="0"/>
              <a:t>tests the program for correctness.</a:t>
            </a:r>
          </a:p>
        </p:txBody>
      </p:sp>
      <p:sp>
        <p:nvSpPr>
          <p:cNvPr id="68" name="Rectangle 67"/>
          <p:cNvSpPr/>
          <p:nvPr/>
        </p:nvSpPr>
        <p:spPr>
          <a:xfrm>
            <a:off x="201379" y="7358280"/>
            <a:ext cx="5730152" cy="2571358"/>
          </a:xfrm>
          <a:prstGeom prst="rect">
            <a:avLst/>
          </a:prstGeom>
          <a:solidFill>
            <a:srgbClr val="FFFFFF"/>
          </a:solidFill>
          <a:ln w="10160">
            <a:solidFill>
              <a:srgbClr val="A4B8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83017" tIns="91509" rIns="183017" bIns="91509" rtlCol="0" anchor="ctr"/>
          <a:lstStyle/>
          <a:p>
            <a:pPr algn="ctr"/>
            <a:endParaRPr dirty="0"/>
          </a:p>
        </p:txBody>
      </p:sp>
      <p:sp>
        <p:nvSpPr>
          <p:cNvPr id="69" name="Rectangle 68"/>
          <p:cNvSpPr/>
          <p:nvPr/>
        </p:nvSpPr>
        <p:spPr>
          <a:xfrm>
            <a:off x="201379" y="7358281"/>
            <a:ext cx="5730152" cy="530588"/>
          </a:xfrm>
          <a:prstGeom prst="rect">
            <a:avLst/>
          </a:prstGeom>
          <a:solidFill>
            <a:srgbClr val="003078"/>
          </a:solidFill>
          <a:ln w="6350">
            <a:solidFill>
              <a:srgbClr val="0030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83017" tIns="91509" rIns="183017" bIns="91509" rtlCol="0" anchor="ctr"/>
          <a:lstStyle/>
          <a:p>
            <a:pPr algn="ctr"/>
            <a:endParaRPr dirty="0"/>
          </a:p>
        </p:txBody>
      </p:sp>
      <p:sp>
        <p:nvSpPr>
          <p:cNvPr id="70" name="TextBox 69"/>
          <p:cNvSpPr txBox="1"/>
          <p:nvPr/>
        </p:nvSpPr>
        <p:spPr>
          <a:xfrm>
            <a:off x="362190" y="7394874"/>
            <a:ext cx="374051" cy="418659"/>
          </a:xfrm>
          <a:prstGeom prst="rect">
            <a:avLst/>
          </a:prstGeom>
          <a:noFill/>
        </p:spPr>
        <p:txBody>
          <a:bodyPr wrap="none" lIns="109810" tIns="54905" rIns="109810" bIns="54905" anchor="t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rial"/>
              </a:defRPr>
            </a:pPr>
            <a:r>
              <a:rPr sz="2000" dirty="0"/>
              <a:t>◌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860438" y="7438783"/>
            <a:ext cx="1636639" cy="387881"/>
          </a:xfrm>
          <a:prstGeom prst="rect">
            <a:avLst/>
          </a:prstGeom>
          <a:noFill/>
        </p:spPr>
        <p:txBody>
          <a:bodyPr wrap="none" lIns="109810" tIns="54905" rIns="109810" bIns="54905" anchor="ctr">
            <a:spAutoFit/>
          </a:bodyPr>
          <a:lstStyle/>
          <a:p>
            <a:pPr algn="l">
              <a:defRPr sz="819" b="1">
                <a:solidFill>
                  <a:srgbClr val="FFFFFF"/>
                </a:solidFill>
                <a:latin typeface="Arial"/>
              </a:defRPr>
            </a:pPr>
            <a:r>
              <a:rPr sz="1800" dirty="0"/>
              <a:t>MOTIVATION</a:t>
            </a:r>
          </a:p>
        </p:txBody>
      </p:sp>
      <p:sp>
        <p:nvSpPr>
          <p:cNvPr id="73" name="Rectangle 72"/>
          <p:cNvSpPr/>
          <p:nvPr/>
        </p:nvSpPr>
        <p:spPr>
          <a:xfrm>
            <a:off x="201379" y="9988905"/>
            <a:ext cx="5730152" cy="4173010"/>
          </a:xfrm>
          <a:prstGeom prst="rect">
            <a:avLst/>
          </a:prstGeom>
          <a:solidFill>
            <a:srgbClr val="FFFFFF"/>
          </a:solidFill>
          <a:ln w="10160">
            <a:solidFill>
              <a:srgbClr val="A4B8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83017" tIns="91509" rIns="183017" bIns="91509" rtlCol="0" anchor="ctr"/>
          <a:lstStyle/>
          <a:p>
            <a:pPr algn="ctr"/>
            <a:endParaRPr/>
          </a:p>
        </p:txBody>
      </p:sp>
      <p:sp>
        <p:nvSpPr>
          <p:cNvPr id="74" name="Rectangle 73"/>
          <p:cNvSpPr/>
          <p:nvPr/>
        </p:nvSpPr>
        <p:spPr>
          <a:xfrm>
            <a:off x="201379" y="9999791"/>
            <a:ext cx="5730152" cy="530588"/>
          </a:xfrm>
          <a:prstGeom prst="rect">
            <a:avLst/>
          </a:prstGeom>
          <a:solidFill>
            <a:srgbClr val="003078"/>
          </a:solidFill>
          <a:ln w="6350">
            <a:solidFill>
              <a:srgbClr val="0030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83017" tIns="91509" rIns="183017" bIns="91509" rtlCol="0" anchor="ctr"/>
          <a:lstStyle/>
          <a:p>
            <a:pPr algn="ctr"/>
            <a:endParaRPr/>
          </a:p>
        </p:txBody>
      </p:sp>
      <p:sp>
        <p:nvSpPr>
          <p:cNvPr id="75" name="TextBox 74"/>
          <p:cNvSpPr txBox="1"/>
          <p:nvPr/>
        </p:nvSpPr>
        <p:spPr>
          <a:xfrm>
            <a:off x="333336" y="10036384"/>
            <a:ext cx="431759" cy="418659"/>
          </a:xfrm>
          <a:prstGeom prst="rect">
            <a:avLst/>
          </a:prstGeom>
          <a:noFill/>
        </p:spPr>
        <p:txBody>
          <a:bodyPr wrap="none" lIns="109810" tIns="54905" rIns="109810" bIns="54905" anchor="t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rial"/>
              </a:defRPr>
            </a:pPr>
            <a:r>
              <a:rPr sz="2000" dirty="0"/>
              <a:t>◎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860438" y="10080293"/>
            <a:ext cx="3043050" cy="387881"/>
          </a:xfrm>
          <a:prstGeom prst="rect">
            <a:avLst/>
          </a:prstGeom>
          <a:noFill/>
        </p:spPr>
        <p:txBody>
          <a:bodyPr wrap="none" lIns="109810" tIns="54905" rIns="109810" bIns="54905" anchor="ctr">
            <a:spAutoFit/>
          </a:bodyPr>
          <a:lstStyle/>
          <a:p>
            <a:pPr algn="l">
              <a:defRPr sz="819" b="1">
                <a:solidFill>
                  <a:srgbClr val="FFFFFF"/>
                </a:solidFill>
                <a:latin typeface="Arial"/>
              </a:defRPr>
            </a:pPr>
            <a:r>
              <a:rPr sz="1800" dirty="0"/>
              <a:t>RESEARCH OBJECTIVES</a:t>
            </a:r>
          </a:p>
        </p:txBody>
      </p:sp>
      <p:sp>
        <p:nvSpPr>
          <p:cNvPr id="77" name="Oval 76"/>
          <p:cNvSpPr/>
          <p:nvPr/>
        </p:nvSpPr>
        <p:spPr>
          <a:xfrm>
            <a:off x="439372" y="10848955"/>
            <a:ext cx="237994" cy="237850"/>
          </a:xfrm>
          <a:prstGeom prst="ellipse">
            <a:avLst/>
          </a:prstGeom>
          <a:solidFill>
            <a:srgbClr val="003078"/>
          </a:solidFill>
          <a:ln>
            <a:solidFill>
              <a:srgbClr val="0030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83017" tIns="91509" rIns="183017" bIns="91509" rtlCol="0" anchor="ctr"/>
          <a:lstStyle/>
          <a:p>
            <a:pPr algn="ctr"/>
            <a:endParaRPr/>
          </a:p>
        </p:txBody>
      </p:sp>
      <p:sp>
        <p:nvSpPr>
          <p:cNvPr id="78" name="TextBox 77"/>
          <p:cNvSpPr txBox="1"/>
          <p:nvPr/>
        </p:nvSpPr>
        <p:spPr>
          <a:xfrm>
            <a:off x="409189" y="10834140"/>
            <a:ext cx="292298" cy="264771"/>
          </a:xfrm>
          <a:prstGeom prst="rect">
            <a:avLst/>
          </a:prstGeom>
          <a:noFill/>
        </p:spPr>
        <p:txBody>
          <a:bodyPr wrap="none" lIns="109810" tIns="54905" rIns="109810" bIns="54905" anchor="ctr">
            <a:spAutoFit/>
          </a:bodyPr>
          <a:lstStyle/>
          <a:p>
            <a:pPr algn="ctr">
              <a:defRPr sz="470" b="1">
                <a:solidFill>
                  <a:srgbClr val="FFFFFF"/>
                </a:solidFill>
                <a:latin typeface="Arial"/>
              </a:defRPr>
            </a:pPr>
            <a:r>
              <a:rPr sz="1000" dirty="0"/>
              <a:t>1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842129" y="10748492"/>
            <a:ext cx="3809285" cy="664880"/>
          </a:xfrm>
          <a:prstGeom prst="rect">
            <a:avLst/>
          </a:prstGeom>
          <a:noFill/>
        </p:spPr>
        <p:txBody>
          <a:bodyPr wrap="none" lIns="109810" tIns="54905" rIns="109810" bIns="54905" anchor="t">
            <a:spAutoFit/>
          </a:bodyPr>
          <a:lstStyle/>
          <a:p>
            <a:pPr algn="l">
              <a:defRPr sz="560" b="1">
                <a:solidFill>
                  <a:srgbClr val="08122B"/>
                </a:solidFill>
                <a:latin typeface="Arial"/>
              </a:defRPr>
            </a:pPr>
            <a:r>
              <a:rPr sz="1200" dirty="0"/>
              <a:t>Design and implement a multi-stage pipeline that</a:t>
            </a:r>
            <a:br>
              <a:rPr sz="1200" dirty="0"/>
            </a:br>
            <a:r>
              <a:rPr sz="1200" dirty="0"/>
              <a:t>converts language algorithm descriptions into</a:t>
            </a:r>
            <a:br>
              <a:rPr sz="1200" dirty="0"/>
            </a:br>
            <a:r>
              <a:rPr sz="1200" dirty="0"/>
              <a:t>executable Python programs.</a:t>
            </a:r>
          </a:p>
        </p:txBody>
      </p:sp>
      <p:sp>
        <p:nvSpPr>
          <p:cNvPr id="80" name="Oval 79"/>
          <p:cNvSpPr/>
          <p:nvPr/>
        </p:nvSpPr>
        <p:spPr>
          <a:xfrm>
            <a:off x="439372" y="11442498"/>
            <a:ext cx="237994" cy="237850"/>
          </a:xfrm>
          <a:prstGeom prst="ellipse">
            <a:avLst/>
          </a:prstGeom>
          <a:solidFill>
            <a:srgbClr val="003078"/>
          </a:solidFill>
          <a:ln>
            <a:solidFill>
              <a:srgbClr val="0030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83017" tIns="91509" rIns="183017" bIns="91509" rtlCol="0" anchor="ctr"/>
          <a:lstStyle/>
          <a:p>
            <a:pPr algn="ctr"/>
            <a:endParaRPr/>
          </a:p>
        </p:txBody>
      </p:sp>
      <p:sp>
        <p:nvSpPr>
          <p:cNvPr id="81" name="TextBox 80"/>
          <p:cNvSpPr txBox="1"/>
          <p:nvPr/>
        </p:nvSpPr>
        <p:spPr>
          <a:xfrm>
            <a:off x="412220" y="11425630"/>
            <a:ext cx="292298" cy="264771"/>
          </a:xfrm>
          <a:prstGeom prst="rect">
            <a:avLst/>
          </a:prstGeom>
          <a:noFill/>
        </p:spPr>
        <p:txBody>
          <a:bodyPr wrap="none" lIns="109810" tIns="54905" rIns="109810" bIns="54905" anchor="ctr">
            <a:spAutoFit/>
          </a:bodyPr>
          <a:lstStyle/>
          <a:p>
            <a:pPr algn="ctr">
              <a:defRPr sz="470" b="1">
                <a:solidFill>
                  <a:srgbClr val="FFFFFF"/>
                </a:solidFill>
                <a:latin typeface="Arial"/>
              </a:defRPr>
            </a:pPr>
            <a:r>
              <a:rPr sz="1000" dirty="0"/>
              <a:t>2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842130" y="11336766"/>
            <a:ext cx="4689334" cy="664880"/>
          </a:xfrm>
          <a:prstGeom prst="rect">
            <a:avLst/>
          </a:prstGeom>
          <a:noFill/>
        </p:spPr>
        <p:txBody>
          <a:bodyPr wrap="none" lIns="109810" tIns="54905" rIns="109810" bIns="54905" anchor="t">
            <a:spAutoFit/>
          </a:bodyPr>
          <a:lstStyle/>
          <a:p>
            <a:pPr algn="l">
              <a:defRPr sz="560" b="0">
                <a:solidFill>
                  <a:srgbClr val="08122B"/>
                </a:solidFill>
                <a:latin typeface="Arial"/>
              </a:defRPr>
            </a:pPr>
            <a:r>
              <a:rPr sz="1200" b="1" dirty="0"/>
              <a:t>Define a structured pseudocode language and</a:t>
            </a:r>
            <a:br>
              <a:rPr sz="1200" b="1" dirty="0"/>
            </a:br>
            <a:r>
              <a:rPr sz="1200" b="1" dirty="0"/>
              <a:t>develop a </a:t>
            </a:r>
            <a:r>
              <a:rPr sz="1200" b="1" dirty="0" smtClean="0"/>
              <a:t>grammar</a:t>
            </a:r>
            <a:r>
              <a:rPr lang="en-GB" sz="1200" b="1" dirty="0" smtClean="0"/>
              <a:t> using the Cambridge Pseudocode Guide </a:t>
            </a:r>
          </a:p>
          <a:p>
            <a:pPr algn="l">
              <a:defRPr sz="560" b="0">
                <a:solidFill>
                  <a:srgbClr val="08122B"/>
                </a:solidFill>
                <a:latin typeface="Arial"/>
              </a:defRPr>
            </a:pPr>
            <a:r>
              <a:rPr lang="en-GB" sz="1200" b="1" dirty="0" smtClean="0"/>
              <a:t>for Teachers as a baseline for comparison</a:t>
            </a:r>
          </a:p>
        </p:txBody>
      </p:sp>
      <p:sp>
        <p:nvSpPr>
          <p:cNvPr id="83" name="Oval 82"/>
          <p:cNvSpPr/>
          <p:nvPr/>
        </p:nvSpPr>
        <p:spPr>
          <a:xfrm>
            <a:off x="439372" y="12014597"/>
            <a:ext cx="237994" cy="237850"/>
          </a:xfrm>
          <a:prstGeom prst="ellipse">
            <a:avLst/>
          </a:prstGeom>
          <a:solidFill>
            <a:srgbClr val="003078"/>
          </a:solidFill>
          <a:ln>
            <a:solidFill>
              <a:srgbClr val="0030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83017" tIns="91509" rIns="183017" bIns="91509" rtlCol="0" anchor="ctr"/>
          <a:lstStyle/>
          <a:p>
            <a:pPr algn="ctr"/>
            <a:endParaRPr sz="1000"/>
          </a:p>
        </p:txBody>
      </p:sp>
      <p:sp>
        <p:nvSpPr>
          <p:cNvPr id="84" name="TextBox 83"/>
          <p:cNvSpPr txBox="1"/>
          <p:nvPr/>
        </p:nvSpPr>
        <p:spPr>
          <a:xfrm>
            <a:off x="404190" y="11992284"/>
            <a:ext cx="292298" cy="264771"/>
          </a:xfrm>
          <a:prstGeom prst="rect">
            <a:avLst/>
          </a:prstGeom>
          <a:noFill/>
        </p:spPr>
        <p:txBody>
          <a:bodyPr wrap="none" lIns="109810" tIns="54905" rIns="109810" bIns="54905" anchor="ctr">
            <a:spAutoFit/>
          </a:bodyPr>
          <a:lstStyle/>
          <a:p>
            <a:pPr algn="ctr">
              <a:defRPr sz="470" b="1">
                <a:solidFill>
                  <a:srgbClr val="FFFFFF"/>
                </a:solidFill>
                <a:latin typeface="Arial"/>
              </a:defRPr>
            </a:pPr>
            <a:r>
              <a:rPr sz="1000" dirty="0"/>
              <a:t>3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842130" y="11953605"/>
            <a:ext cx="4229978" cy="480214"/>
          </a:xfrm>
          <a:prstGeom prst="rect">
            <a:avLst/>
          </a:prstGeom>
          <a:noFill/>
        </p:spPr>
        <p:txBody>
          <a:bodyPr wrap="none" lIns="109810" tIns="54905" rIns="109810" bIns="54905" anchor="t">
            <a:spAutoFit/>
          </a:bodyPr>
          <a:lstStyle/>
          <a:p>
            <a:pPr algn="l">
              <a:defRPr sz="560" b="0">
                <a:solidFill>
                  <a:srgbClr val="08122B"/>
                </a:solidFill>
                <a:latin typeface="Arial"/>
              </a:defRPr>
            </a:pPr>
            <a:r>
              <a:rPr sz="1200" b="1" dirty="0"/>
              <a:t>Generate program flow diagrams (Control Flow</a:t>
            </a:r>
            <a:br>
              <a:rPr sz="1200" b="1" dirty="0"/>
            </a:br>
            <a:r>
              <a:rPr sz="1200" b="1" dirty="0"/>
              <a:t>Graphs) from the </a:t>
            </a:r>
            <a:r>
              <a:rPr sz="1200" b="1" dirty="0" smtClean="0"/>
              <a:t>AST</a:t>
            </a:r>
            <a:r>
              <a:rPr lang="en-GB" sz="1200" b="1" dirty="0" smtClean="0"/>
              <a:t> generated from the Pseudocode</a:t>
            </a:r>
            <a:r>
              <a:rPr b="1" dirty="0" smtClean="0"/>
              <a:t>.</a:t>
            </a:r>
            <a:endParaRPr b="1" dirty="0"/>
          </a:p>
        </p:txBody>
      </p:sp>
      <p:sp>
        <p:nvSpPr>
          <p:cNvPr id="86" name="Oval 85"/>
          <p:cNvSpPr/>
          <p:nvPr/>
        </p:nvSpPr>
        <p:spPr>
          <a:xfrm>
            <a:off x="428990" y="13612906"/>
            <a:ext cx="237994" cy="237850"/>
          </a:xfrm>
          <a:prstGeom prst="ellipse">
            <a:avLst/>
          </a:prstGeom>
          <a:solidFill>
            <a:srgbClr val="003078"/>
          </a:solidFill>
          <a:ln>
            <a:solidFill>
              <a:srgbClr val="0030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83017" tIns="91509" rIns="183017" bIns="91509" rtlCol="0" anchor="ctr"/>
          <a:lstStyle/>
          <a:p>
            <a:pPr algn="ctr"/>
            <a:endParaRPr/>
          </a:p>
        </p:txBody>
      </p:sp>
      <p:sp>
        <p:nvSpPr>
          <p:cNvPr id="88" name="TextBox 87"/>
          <p:cNvSpPr txBox="1"/>
          <p:nvPr/>
        </p:nvSpPr>
        <p:spPr>
          <a:xfrm>
            <a:off x="842129" y="12539332"/>
            <a:ext cx="3551202" cy="295548"/>
          </a:xfrm>
          <a:prstGeom prst="rect">
            <a:avLst/>
          </a:prstGeom>
          <a:noFill/>
        </p:spPr>
        <p:txBody>
          <a:bodyPr wrap="none" lIns="109810" tIns="54905" rIns="109810" bIns="54905" anchor="t">
            <a:spAutoFit/>
          </a:bodyPr>
          <a:lstStyle/>
          <a:p>
            <a:pPr algn="l">
              <a:defRPr sz="560" b="0">
                <a:solidFill>
                  <a:srgbClr val="08122B"/>
                </a:solidFill>
                <a:latin typeface="Arial"/>
              </a:defRPr>
            </a:pPr>
            <a:r>
              <a:rPr sz="1200" b="1" dirty="0"/>
              <a:t>Generate Python code from the flow diagram.</a:t>
            </a:r>
          </a:p>
        </p:txBody>
      </p:sp>
      <p:sp>
        <p:nvSpPr>
          <p:cNvPr id="89" name="Oval 88"/>
          <p:cNvSpPr/>
          <p:nvPr/>
        </p:nvSpPr>
        <p:spPr>
          <a:xfrm>
            <a:off x="431342" y="12555348"/>
            <a:ext cx="237994" cy="237850"/>
          </a:xfrm>
          <a:prstGeom prst="ellipse">
            <a:avLst/>
          </a:prstGeom>
          <a:solidFill>
            <a:srgbClr val="003078"/>
          </a:solidFill>
          <a:ln>
            <a:solidFill>
              <a:srgbClr val="0030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83017" tIns="91509" rIns="183017" bIns="91509" rtlCol="0" anchor="ctr"/>
          <a:lstStyle/>
          <a:p>
            <a:pPr algn="ctr"/>
            <a:r>
              <a:rPr lang="en-GB" sz="1000" b="1" dirty="0">
                <a:latin typeface="Arial" panose="020B0604020202020204" pitchFamily="34" charset="0"/>
                <a:cs typeface="Arial" panose="020B0604020202020204" pitchFamily="34" charset="0"/>
              </a:rPr>
              <a:t>4</a:t>
            </a:r>
            <a:endParaRPr sz="10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0" name="TextBox 89"/>
          <p:cNvSpPr txBox="1"/>
          <p:nvPr/>
        </p:nvSpPr>
        <p:spPr>
          <a:xfrm>
            <a:off x="413706" y="12668675"/>
            <a:ext cx="255428" cy="183210"/>
          </a:xfrm>
          <a:prstGeom prst="rect">
            <a:avLst/>
          </a:prstGeom>
          <a:noFill/>
        </p:spPr>
        <p:txBody>
          <a:bodyPr wrap="none" lIns="109810" tIns="54905" rIns="109810" bIns="54905" anchor="ctr">
            <a:spAutoFit/>
          </a:bodyPr>
          <a:lstStyle/>
          <a:p>
            <a:pPr algn="ctr">
              <a:defRPr sz="470" b="1">
                <a:solidFill>
                  <a:srgbClr val="FFFFFF"/>
                </a:solidFill>
                <a:latin typeface="Arial"/>
              </a:defRPr>
            </a:pPr>
            <a:r>
              <a:rPr dirty="0"/>
              <a:t>5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842129" y="13012011"/>
            <a:ext cx="3419756" cy="480214"/>
          </a:xfrm>
          <a:prstGeom prst="rect">
            <a:avLst/>
          </a:prstGeom>
          <a:noFill/>
        </p:spPr>
        <p:txBody>
          <a:bodyPr wrap="none" lIns="109810" tIns="54905" rIns="109810" bIns="54905" anchor="t">
            <a:spAutoFit/>
          </a:bodyPr>
          <a:lstStyle/>
          <a:p>
            <a:pPr algn="l">
              <a:defRPr sz="560" b="0">
                <a:solidFill>
                  <a:srgbClr val="08122B"/>
                </a:solidFill>
                <a:latin typeface="Arial"/>
              </a:defRPr>
            </a:pPr>
            <a:r>
              <a:rPr sz="1200" b="1" dirty="0"/>
              <a:t>Develop an automated testing framework to</a:t>
            </a:r>
            <a:br>
              <a:rPr sz="1200" b="1" dirty="0"/>
            </a:br>
            <a:r>
              <a:rPr sz="1200" b="1" dirty="0"/>
              <a:t>evaluate correctness.</a:t>
            </a:r>
          </a:p>
        </p:txBody>
      </p:sp>
      <p:sp>
        <p:nvSpPr>
          <p:cNvPr id="92" name="Oval 91"/>
          <p:cNvSpPr/>
          <p:nvPr/>
        </p:nvSpPr>
        <p:spPr>
          <a:xfrm>
            <a:off x="420387" y="13094457"/>
            <a:ext cx="237994" cy="237850"/>
          </a:xfrm>
          <a:prstGeom prst="ellipse">
            <a:avLst/>
          </a:prstGeom>
          <a:solidFill>
            <a:srgbClr val="003078"/>
          </a:solidFill>
          <a:ln>
            <a:solidFill>
              <a:srgbClr val="0030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83017" tIns="91509" rIns="183017" bIns="91509" rtlCol="0" anchor="ctr"/>
          <a:lstStyle/>
          <a:p>
            <a:pPr algn="ctr"/>
            <a:r>
              <a:rPr lang="en-GB" sz="1000" b="1" dirty="0">
                <a:latin typeface="Arial" panose="020B0604020202020204" pitchFamily="34" charset="0"/>
                <a:cs typeface="Arial" panose="020B0604020202020204" pitchFamily="34" charset="0"/>
              </a:rPr>
              <a:t>5</a:t>
            </a:r>
            <a:endParaRPr sz="10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3" name="TextBox 92"/>
          <p:cNvSpPr txBox="1"/>
          <p:nvPr/>
        </p:nvSpPr>
        <p:spPr>
          <a:xfrm>
            <a:off x="403301" y="13602307"/>
            <a:ext cx="292298" cy="264771"/>
          </a:xfrm>
          <a:prstGeom prst="rect">
            <a:avLst/>
          </a:prstGeom>
          <a:noFill/>
        </p:spPr>
        <p:txBody>
          <a:bodyPr wrap="none" lIns="109810" tIns="54905" rIns="109810" bIns="54905" anchor="ctr">
            <a:spAutoFit/>
          </a:bodyPr>
          <a:lstStyle/>
          <a:p>
            <a:pPr algn="ctr">
              <a:defRPr sz="470" b="1">
                <a:solidFill>
                  <a:srgbClr val="FFFFFF"/>
                </a:solidFill>
                <a:latin typeface="Arial"/>
              </a:defRPr>
            </a:pPr>
            <a:r>
              <a:rPr sz="1000" dirty="0"/>
              <a:t>6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842129" y="13513244"/>
            <a:ext cx="3887833" cy="480214"/>
          </a:xfrm>
          <a:prstGeom prst="rect">
            <a:avLst/>
          </a:prstGeom>
          <a:noFill/>
        </p:spPr>
        <p:txBody>
          <a:bodyPr wrap="none" lIns="109810" tIns="54905" rIns="109810" bIns="54905" anchor="t">
            <a:spAutoFit/>
          </a:bodyPr>
          <a:lstStyle/>
          <a:p>
            <a:pPr algn="l">
              <a:defRPr sz="560" b="0">
                <a:solidFill>
                  <a:srgbClr val="08122B"/>
                </a:solidFill>
                <a:latin typeface="Arial"/>
              </a:defRPr>
            </a:pPr>
            <a:r>
              <a:rPr sz="1200" b="1" dirty="0"/>
              <a:t>Evaluate and compare multiple transformer-based</a:t>
            </a:r>
            <a:br>
              <a:rPr sz="1200" b="1" dirty="0"/>
            </a:br>
            <a:r>
              <a:rPr sz="1200" b="1" dirty="0"/>
              <a:t>models across all stages of the pipeline</a:t>
            </a:r>
            <a:r>
              <a:rPr b="1" dirty="0"/>
              <a:t>.</a:t>
            </a:r>
          </a:p>
        </p:txBody>
      </p:sp>
      <p:sp>
        <p:nvSpPr>
          <p:cNvPr id="95" name="Rectangle 94"/>
          <p:cNvSpPr/>
          <p:nvPr/>
        </p:nvSpPr>
        <p:spPr>
          <a:xfrm>
            <a:off x="201379" y="14227628"/>
            <a:ext cx="5730152" cy="3743065"/>
          </a:xfrm>
          <a:prstGeom prst="rect">
            <a:avLst/>
          </a:prstGeom>
          <a:solidFill>
            <a:srgbClr val="FFFFFF"/>
          </a:solidFill>
          <a:ln w="10160">
            <a:solidFill>
              <a:srgbClr val="A4B8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83017" tIns="91509" rIns="183017" bIns="91509" rtlCol="0" anchor="ctr"/>
          <a:lstStyle/>
          <a:p>
            <a:pPr algn="ctr"/>
            <a:endParaRPr/>
          </a:p>
        </p:txBody>
      </p:sp>
      <p:sp>
        <p:nvSpPr>
          <p:cNvPr id="96" name="Rectangle 95"/>
          <p:cNvSpPr/>
          <p:nvPr/>
        </p:nvSpPr>
        <p:spPr>
          <a:xfrm>
            <a:off x="201379" y="14225061"/>
            <a:ext cx="5730152" cy="530588"/>
          </a:xfrm>
          <a:prstGeom prst="rect">
            <a:avLst/>
          </a:prstGeom>
          <a:solidFill>
            <a:srgbClr val="003078"/>
          </a:solidFill>
          <a:ln w="6350">
            <a:solidFill>
              <a:srgbClr val="0030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83017" tIns="91509" rIns="183017" bIns="91509" rtlCol="0" anchor="ctr"/>
          <a:lstStyle/>
          <a:p>
            <a:pPr algn="ctr"/>
            <a:endParaRPr/>
          </a:p>
        </p:txBody>
      </p:sp>
      <p:sp>
        <p:nvSpPr>
          <p:cNvPr id="97" name="TextBox 96"/>
          <p:cNvSpPr txBox="1"/>
          <p:nvPr/>
        </p:nvSpPr>
        <p:spPr>
          <a:xfrm>
            <a:off x="309291" y="14261653"/>
            <a:ext cx="479849" cy="418659"/>
          </a:xfrm>
          <a:prstGeom prst="rect">
            <a:avLst/>
          </a:prstGeom>
          <a:noFill/>
        </p:spPr>
        <p:txBody>
          <a:bodyPr wrap="none" lIns="109810" tIns="54905" rIns="109810" bIns="54905" anchor="t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rial"/>
              </a:defRPr>
            </a:pPr>
            <a:r>
              <a:rPr sz="2000" dirty="0"/>
              <a:t>★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860438" y="14305563"/>
            <a:ext cx="2679810" cy="387881"/>
          </a:xfrm>
          <a:prstGeom prst="rect">
            <a:avLst/>
          </a:prstGeom>
          <a:noFill/>
        </p:spPr>
        <p:txBody>
          <a:bodyPr wrap="none" lIns="109810" tIns="54905" rIns="109810" bIns="54905" anchor="ctr">
            <a:spAutoFit/>
          </a:bodyPr>
          <a:lstStyle/>
          <a:p>
            <a:pPr algn="l">
              <a:defRPr sz="819" b="1">
                <a:solidFill>
                  <a:srgbClr val="FFFFFF"/>
                </a:solidFill>
                <a:latin typeface="Arial"/>
              </a:defRPr>
            </a:pPr>
            <a:r>
              <a:rPr sz="1800" dirty="0"/>
              <a:t>KEY CONTRIBUTIONS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457681" y="14773168"/>
            <a:ext cx="5217549" cy="3046988"/>
          </a:xfrm>
          <a:prstGeom prst="rect">
            <a:avLst/>
          </a:prstGeom>
          <a:noFill/>
        </p:spPr>
        <p:txBody>
          <a:bodyPr wrap="square" lIns="18302" tIns="0" rIns="18302" bIns="0">
            <a:spAutoFit/>
          </a:bodyPr>
          <a:lstStyle/>
          <a:p>
            <a:pPr>
              <a:spcAft>
                <a:spcPts val="400"/>
              </a:spcAft>
              <a:defRPr sz="580">
                <a:solidFill>
                  <a:srgbClr val="08122B"/>
                </a:solidFill>
                <a:latin typeface="Arial"/>
              </a:defRPr>
            </a:pPr>
            <a:endParaRPr lang="en-GB" sz="1200" b="1" dirty="0" smtClean="0"/>
          </a:p>
          <a:p>
            <a:pPr>
              <a:spcAft>
                <a:spcPts val="400"/>
              </a:spcAft>
              <a:defRPr sz="580">
                <a:solidFill>
                  <a:srgbClr val="08122B"/>
                </a:solidFill>
                <a:latin typeface="Arial"/>
              </a:defRPr>
            </a:pPr>
            <a:r>
              <a:rPr sz="1200" b="1" dirty="0" smtClean="0"/>
              <a:t>•  </a:t>
            </a:r>
            <a:r>
              <a:rPr sz="1200" b="1" dirty="0"/>
              <a:t>A complete end-to-end program </a:t>
            </a:r>
            <a:r>
              <a:rPr lang="en-GB" sz="1200" b="1" dirty="0"/>
              <a:t>generation</a:t>
            </a:r>
            <a:r>
              <a:rPr sz="1200" b="1" dirty="0"/>
              <a:t> pipeline</a:t>
            </a:r>
            <a:r>
              <a:rPr sz="1200" b="1" dirty="0" smtClean="0"/>
              <a:t>.</a:t>
            </a:r>
            <a:endParaRPr lang="en-GB" sz="1200" b="1" dirty="0" smtClean="0"/>
          </a:p>
          <a:p>
            <a:pPr>
              <a:spcAft>
                <a:spcPts val="400"/>
              </a:spcAft>
              <a:defRPr sz="580">
                <a:solidFill>
                  <a:srgbClr val="08122B"/>
                </a:solidFill>
                <a:latin typeface="Arial"/>
              </a:defRPr>
            </a:pPr>
            <a:endParaRPr sz="1200" b="1" dirty="0"/>
          </a:p>
          <a:p>
            <a:pPr>
              <a:spcAft>
                <a:spcPts val="400"/>
              </a:spcAft>
              <a:defRPr sz="580">
                <a:solidFill>
                  <a:srgbClr val="08122B"/>
                </a:solidFill>
                <a:latin typeface="Arial"/>
              </a:defRPr>
            </a:pPr>
            <a:r>
              <a:rPr sz="1200" b="1" dirty="0"/>
              <a:t>•  A benchmark dataset of natural language algorithm</a:t>
            </a:r>
            <a:br>
              <a:rPr sz="1200" b="1" dirty="0"/>
            </a:br>
            <a:r>
              <a:rPr sz="1200" b="1" dirty="0"/>
              <a:t>   descriptions with test cases</a:t>
            </a:r>
            <a:r>
              <a:rPr sz="1200" b="1" dirty="0" smtClean="0"/>
              <a:t>.</a:t>
            </a:r>
            <a:endParaRPr lang="en-GB" sz="1200" b="1" dirty="0" smtClean="0"/>
          </a:p>
          <a:p>
            <a:pPr>
              <a:spcAft>
                <a:spcPts val="400"/>
              </a:spcAft>
              <a:defRPr sz="580">
                <a:solidFill>
                  <a:srgbClr val="08122B"/>
                </a:solidFill>
                <a:latin typeface="Arial"/>
              </a:defRPr>
            </a:pPr>
            <a:endParaRPr lang="en-GB" sz="1200" b="1" dirty="0"/>
          </a:p>
          <a:p>
            <a:pPr>
              <a:spcAft>
                <a:spcPts val="400"/>
              </a:spcAft>
              <a:defRPr sz="580">
                <a:solidFill>
                  <a:srgbClr val="08122B"/>
                </a:solidFill>
                <a:latin typeface="Arial"/>
              </a:defRPr>
            </a:pPr>
            <a:r>
              <a:rPr lang="en-GB" sz="1200" b="1" dirty="0" smtClean="0"/>
              <a:t>•  </a:t>
            </a:r>
            <a:r>
              <a:rPr lang="en-US" sz="1200" b="1" dirty="0" smtClean="0"/>
              <a:t>A </a:t>
            </a:r>
            <a:r>
              <a:rPr lang="en-US" sz="1200" b="1" dirty="0"/>
              <a:t>benchmark dataset of </a:t>
            </a:r>
            <a:r>
              <a:rPr lang="en-US" sz="1200" b="1" dirty="0" smtClean="0"/>
              <a:t>pseudocode algorithm</a:t>
            </a:r>
            <a:r>
              <a:rPr lang="en-US" sz="1200" b="1" dirty="0"/>
              <a:t/>
            </a:r>
            <a:br>
              <a:rPr lang="en-US" sz="1200" b="1" dirty="0"/>
            </a:br>
            <a:r>
              <a:rPr lang="en-US" sz="1200" b="1" dirty="0"/>
              <a:t>   descriptions with test cases</a:t>
            </a:r>
            <a:r>
              <a:rPr lang="en-US" sz="1200" b="1" dirty="0" smtClean="0"/>
              <a:t>.</a:t>
            </a:r>
            <a:endParaRPr lang="en-GB" sz="1200" b="1" dirty="0" smtClean="0"/>
          </a:p>
          <a:p>
            <a:pPr>
              <a:spcAft>
                <a:spcPts val="400"/>
              </a:spcAft>
              <a:defRPr sz="580">
                <a:solidFill>
                  <a:srgbClr val="08122B"/>
                </a:solidFill>
                <a:latin typeface="Arial"/>
              </a:defRPr>
            </a:pPr>
            <a:endParaRPr sz="1200" b="1" dirty="0"/>
          </a:p>
          <a:p>
            <a:pPr>
              <a:spcAft>
                <a:spcPts val="400"/>
              </a:spcAft>
              <a:defRPr sz="580">
                <a:solidFill>
                  <a:srgbClr val="08122B"/>
                </a:solidFill>
                <a:latin typeface="Arial"/>
              </a:defRPr>
            </a:pPr>
            <a:r>
              <a:rPr sz="1200" b="1" dirty="0"/>
              <a:t>•  A framework for evaluating LLMs in multi-stage</a:t>
            </a:r>
            <a:br>
              <a:rPr sz="1200" b="1" dirty="0"/>
            </a:br>
            <a:r>
              <a:rPr sz="1200" b="1" dirty="0"/>
              <a:t>   program </a:t>
            </a:r>
            <a:r>
              <a:rPr lang="en-GB" sz="1200" b="1" dirty="0"/>
              <a:t>generation</a:t>
            </a:r>
            <a:r>
              <a:rPr sz="1200" b="1" dirty="0" smtClean="0"/>
              <a:t>.</a:t>
            </a:r>
            <a:endParaRPr lang="en-GB" sz="1200" b="1" dirty="0" smtClean="0"/>
          </a:p>
          <a:p>
            <a:pPr>
              <a:spcAft>
                <a:spcPts val="400"/>
              </a:spcAft>
              <a:defRPr sz="580">
                <a:solidFill>
                  <a:srgbClr val="08122B"/>
                </a:solidFill>
                <a:latin typeface="Arial"/>
              </a:defRPr>
            </a:pPr>
            <a:endParaRPr sz="1200" b="1" dirty="0"/>
          </a:p>
          <a:p>
            <a:pPr>
              <a:spcAft>
                <a:spcPts val="400"/>
              </a:spcAft>
              <a:defRPr sz="580">
                <a:solidFill>
                  <a:srgbClr val="08122B"/>
                </a:solidFill>
                <a:latin typeface="Arial"/>
              </a:defRPr>
            </a:pPr>
            <a:r>
              <a:rPr sz="1200" b="1" dirty="0"/>
              <a:t>•  Insights into error propagation and failure patterns</a:t>
            </a:r>
            <a:br>
              <a:rPr sz="1200" b="1" dirty="0"/>
            </a:br>
            <a:r>
              <a:rPr sz="1200" b="1" dirty="0"/>
              <a:t>   across stages.</a:t>
            </a:r>
          </a:p>
        </p:txBody>
      </p:sp>
      <p:sp>
        <p:nvSpPr>
          <p:cNvPr id="100" name="Rectangle 99"/>
          <p:cNvSpPr/>
          <p:nvPr/>
        </p:nvSpPr>
        <p:spPr>
          <a:xfrm>
            <a:off x="6095976" y="4513106"/>
            <a:ext cx="18581803" cy="4427668"/>
          </a:xfrm>
          <a:prstGeom prst="rect">
            <a:avLst/>
          </a:prstGeom>
          <a:solidFill>
            <a:srgbClr val="FFFFFF"/>
          </a:solidFill>
          <a:ln w="10160">
            <a:solidFill>
              <a:srgbClr val="A4B8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83017" tIns="91509" rIns="183017" bIns="91509" rtlCol="0" anchor="ctr"/>
          <a:lstStyle/>
          <a:p>
            <a:pPr algn="ctr"/>
            <a:endParaRPr sz="1200"/>
          </a:p>
        </p:txBody>
      </p:sp>
      <p:sp>
        <p:nvSpPr>
          <p:cNvPr id="101" name="Rectangle 100"/>
          <p:cNvSpPr/>
          <p:nvPr/>
        </p:nvSpPr>
        <p:spPr>
          <a:xfrm>
            <a:off x="6077989" y="4419715"/>
            <a:ext cx="18616384" cy="623980"/>
          </a:xfrm>
          <a:prstGeom prst="rect">
            <a:avLst/>
          </a:prstGeom>
          <a:solidFill>
            <a:srgbClr val="003078"/>
          </a:solidFill>
          <a:ln w="6350">
            <a:solidFill>
              <a:srgbClr val="0030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83017" tIns="91509" rIns="183017" bIns="91509" rtlCol="0" anchor="ctr"/>
          <a:lstStyle/>
          <a:p>
            <a:pPr algn="ctr"/>
            <a:endParaRPr/>
          </a:p>
        </p:txBody>
      </p:sp>
      <p:sp>
        <p:nvSpPr>
          <p:cNvPr id="102" name="TextBox 101"/>
          <p:cNvSpPr txBox="1"/>
          <p:nvPr/>
        </p:nvSpPr>
        <p:spPr>
          <a:xfrm>
            <a:off x="6077989" y="4593605"/>
            <a:ext cx="18484165" cy="387881"/>
          </a:xfrm>
          <a:prstGeom prst="rect">
            <a:avLst/>
          </a:prstGeom>
          <a:noFill/>
        </p:spPr>
        <p:txBody>
          <a:bodyPr wrap="square" lIns="109810" tIns="54905" rIns="109810" bIns="54905" anchor="ctr">
            <a:spAutoFit/>
          </a:bodyPr>
          <a:lstStyle/>
          <a:p>
            <a:pPr algn="ctr">
              <a:defRPr sz="819" b="1">
                <a:solidFill>
                  <a:srgbClr val="FFFFFF"/>
                </a:solidFill>
                <a:latin typeface="Arial"/>
              </a:defRPr>
            </a:pPr>
            <a:r>
              <a:rPr sz="1800" dirty="0"/>
              <a:t>METHODOLOGY: MULTI-STAGE PROGRAM SYNTHESIS PIPELINE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6810838" y="5284675"/>
            <a:ext cx="1786296" cy="634103"/>
          </a:xfrm>
          <a:prstGeom prst="rect">
            <a:avLst/>
          </a:prstGeom>
          <a:noFill/>
        </p:spPr>
        <p:txBody>
          <a:bodyPr wrap="none" lIns="109810" tIns="54905" rIns="109810" bIns="54905" anchor="ctr">
            <a:spAutoFit/>
          </a:bodyPr>
          <a:lstStyle/>
          <a:p>
            <a:pPr algn="ctr">
              <a:defRPr sz="650" b="1">
                <a:solidFill>
                  <a:srgbClr val="005BB5"/>
                </a:solidFill>
                <a:latin typeface="Arial"/>
              </a:defRPr>
            </a:pPr>
            <a:r>
              <a:rPr sz="1700" dirty="0"/>
              <a:t>1. </a:t>
            </a:r>
            <a:r>
              <a:rPr sz="1700" dirty="0" smtClean="0"/>
              <a:t>ENGLISH</a:t>
            </a:r>
            <a:r>
              <a:rPr lang="en-GB" sz="1700" dirty="0" smtClean="0"/>
              <a:t> NL</a:t>
            </a:r>
            <a:r>
              <a:rPr sz="1700" dirty="0"/>
              <a:t/>
            </a:r>
            <a:br>
              <a:rPr sz="1700" dirty="0"/>
            </a:br>
            <a:r>
              <a:rPr sz="1700" dirty="0"/>
              <a:t>DESCRIPTION</a:t>
            </a:r>
          </a:p>
        </p:txBody>
      </p:sp>
      <p:sp>
        <p:nvSpPr>
          <p:cNvPr id="104" name="Rounded Rectangle 103"/>
          <p:cNvSpPr/>
          <p:nvPr/>
        </p:nvSpPr>
        <p:spPr>
          <a:xfrm>
            <a:off x="6663817" y="6214648"/>
            <a:ext cx="2050406" cy="1390507"/>
          </a:xfrm>
          <a:prstGeom prst="roundRect">
            <a:avLst/>
          </a:prstGeom>
          <a:solidFill>
            <a:srgbClr val="F6FCFF"/>
          </a:solidFill>
          <a:ln w="10160">
            <a:solidFill>
              <a:srgbClr val="005B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83017" tIns="91509" rIns="183017" bIns="91509" rtlCol="0" anchor="ctr"/>
          <a:lstStyle/>
          <a:p>
            <a:pPr algn="ctr"/>
            <a:endParaRPr/>
          </a:p>
        </p:txBody>
      </p:sp>
      <p:sp>
        <p:nvSpPr>
          <p:cNvPr id="105" name="Rounded Rectangle 104"/>
          <p:cNvSpPr/>
          <p:nvPr/>
        </p:nvSpPr>
        <p:spPr>
          <a:xfrm>
            <a:off x="7066578" y="6489090"/>
            <a:ext cx="768902" cy="512292"/>
          </a:xfrm>
          <a:prstGeom prst="roundRect">
            <a:avLst/>
          </a:prstGeom>
          <a:solidFill>
            <a:srgbClr val="1A9FDE"/>
          </a:solidFill>
          <a:ln w="9525">
            <a:solidFill>
              <a:srgbClr val="1A9F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83017" tIns="91509" rIns="183017" bIns="91509" rtlCol="0" anchor="ctr"/>
          <a:lstStyle/>
          <a:p>
            <a:pPr algn="ctr"/>
            <a:endParaRPr/>
          </a:p>
        </p:txBody>
      </p:sp>
      <p:sp>
        <p:nvSpPr>
          <p:cNvPr id="106" name="Right Triangle 105"/>
          <p:cNvSpPr/>
          <p:nvPr/>
        </p:nvSpPr>
        <p:spPr>
          <a:xfrm>
            <a:off x="7176420" y="6909901"/>
            <a:ext cx="256301" cy="329331"/>
          </a:xfrm>
          <a:prstGeom prst="rtTriangle">
            <a:avLst/>
          </a:prstGeom>
          <a:solidFill>
            <a:srgbClr val="1A9FDE"/>
          </a:solidFill>
          <a:ln>
            <a:solidFill>
              <a:srgbClr val="1A9F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83017" tIns="91509" rIns="183017" bIns="91509" rtlCol="0" anchor="ctr"/>
          <a:lstStyle/>
          <a:p>
            <a:pPr algn="ctr"/>
            <a:endParaRPr/>
          </a:p>
        </p:txBody>
      </p:sp>
      <p:sp>
        <p:nvSpPr>
          <p:cNvPr id="107" name="Rounded Rectangle 106"/>
          <p:cNvSpPr/>
          <p:nvPr/>
        </p:nvSpPr>
        <p:spPr>
          <a:xfrm>
            <a:off x="7524255" y="6781828"/>
            <a:ext cx="732288" cy="493996"/>
          </a:xfrm>
          <a:prstGeom prst="roundRect">
            <a:avLst/>
          </a:prstGeom>
          <a:solidFill>
            <a:srgbClr val="5FB8E4"/>
          </a:solidFill>
          <a:ln w="9525">
            <a:solidFill>
              <a:srgbClr val="5FB8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83017" tIns="91509" rIns="183017" bIns="91509" rtlCol="0" anchor="ctr"/>
          <a:lstStyle/>
          <a:p>
            <a:pPr algn="ctr"/>
            <a:endParaRPr/>
          </a:p>
        </p:txBody>
      </p:sp>
      <p:sp>
        <p:nvSpPr>
          <p:cNvPr id="108" name="TextBox 107"/>
          <p:cNvSpPr txBox="1"/>
          <p:nvPr/>
        </p:nvSpPr>
        <p:spPr>
          <a:xfrm>
            <a:off x="7455891" y="6580568"/>
            <a:ext cx="356417" cy="264771"/>
          </a:xfrm>
          <a:prstGeom prst="rect">
            <a:avLst/>
          </a:prstGeom>
          <a:noFill/>
        </p:spPr>
        <p:txBody>
          <a:bodyPr wrap="none" lIns="109810" tIns="54905" rIns="109810" bIns="54905" anchor="t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rial"/>
              </a:defRPr>
            </a:pPr>
            <a:r>
              <a:t>•••</a:t>
            </a:r>
          </a:p>
        </p:txBody>
      </p:sp>
      <p:cxnSp>
        <p:nvCxnSpPr>
          <p:cNvPr id="109" name="Connector 108"/>
          <p:cNvCxnSpPr>
            <a:stCxn id="104" idx="3"/>
          </p:cNvCxnSpPr>
          <p:nvPr/>
        </p:nvCxnSpPr>
        <p:spPr>
          <a:xfrm>
            <a:off x="8714223" y="6909901"/>
            <a:ext cx="951974" cy="0"/>
          </a:xfrm>
          <a:prstGeom prst="line">
            <a:avLst/>
          </a:prstGeom>
          <a:ln w="25400">
            <a:solidFill>
              <a:srgbClr val="0030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0" name="TextBox 109"/>
          <p:cNvSpPr txBox="1"/>
          <p:nvPr/>
        </p:nvSpPr>
        <p:spPr>
          <a:xfrm>
            <a:off x="7017843" y="7788116"/>
            <a:ext cx="1470505" cy="664880"/>
          </a:xfrm>
          <a:prstGeom prst="rect">
            <a:avLst/>
          </a:prstGeom>
          <a:noFill/>
        </p:spPr>
        <p:txBody>
          <a:bodyPr wrap="none" lIns="109810" tIns="54905" rIns="109810" bIns="54905" anchor="t">
            <a:spAutoFit/>
          </a:bodyPr>
          <a:lstStyle/>
          <a:p>
            <a:pPr algn="ctr">
              <a:defRPr sz="570" b="1">
                <a:solidFill>
                  <a:srgbClr val="08122B"/>
                </a:solidFill>
                <a:latin typeface="Arial"/>
              </a:defRPr>
            </a:pPr>
            <a:r>
              <a:rPr sz="1200"/>
              <a:t>Natural language</a:t>
            </a:r>
            <a:br>
              <a:rPr sz="1200"/>
            </a:br>
            <a:r>
              <a:rPr sz="1200"/>
              <a:t>algorithm</a:t>
            </a:r>
            <a:br>
              <a:rPr sz="1200"/>
            </a:br>
            <a:r>
              <a:rPr sz="1200"/>
              <a:t>specification</a:t>
            </a:r>
          </a:p>
        </p:txBody>
      </p:sp>
      <p:sp>
        <p:nvSpPr>
          <p:cNvPr id="111" name="TextBox 110"/>
          <p:cNvSpPr txBox="1"/>
          <p:nvPr/>
        </p:nvSpPr>
        <p:spPr>
          <a:xfrm>
            <a:off x="9606266" y="5284675"/>
            <a:ext cx="2017129" cy="634103"/>
          </a:xfrm>
          <a:prstGeom prst="rect">
            <a:avLst/>
          </a:prstGeom>
          <a:noFill/>
        </p:spPr>
        <p:txBody>
          <a:bodyPr wrap="none" lIns="109810" tIns="54905" rIns="109810" bIns="54905" anchor="ctr">
            <a:spAutoFit/>
          </a:bodyPr>
          <a:lstStyle/>
          <a:p>
            <a:pPr algn="ctr">
              <a:defRPr sz="650" b="1">
                <a:solidFill>
                  <a:srgbClr val="1C8544"/>
                </a:solidFill>
                <a:latin typeface="Arial"/>
              </a:defRPr>
            </a:pPr>
            <a:r>
              <a:rPr sz="1700" dirty="0"/>
              <a:t>2. PSEUDOCODE</a:t>
            </a:r>
            <a:br>
              <a:rPr sz="1700" dirty="0"/>
            </a:br>
            <a:r>
              <a:rPr sz="1700" dirty="0"/>
              <a:t>GENERATION</a:t>
            </a:r>
          </a:p>
        </p:txBody>
      </p:sp>
      <p:sp>
        <p:nvSpPr>
          <p:cNvPr id="112" name="Rounded Rectangle 111"/>
          <p:cNvSpPr/>
          <p:nvPr/>
        </p:nvSpPr>
        <p:spPr>
          <a:xfrm>
            <a:off x="9574663" y="6214648"/>
            <a:ext cx="2050406" cy="1390507"/>
          </a:xfrm>
          <a:prstGeom prst="roundRect">
            <a:avLst/>
          </a:prstGeom>
          <a:solidFill>
            <a:srgbClr val="F6FCFF"/>
          </a:solidFill>
          <a:ln w="10160">
            <a:solidFill>
              <a:srgbClr val="1C85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83017" tIns="91509" rIns="183017" bIns="91509" rtlCol="0" anchor="ctr"/>
          <a:lstStyle/>
          <a:p>
            <a:pPr algn="ctr"/>
            <a:endParaRPr/>
          </a:p>
        </p:txBody>
      </p:sp>
      <p:sp>
        <p:nvSpPr>
          <p:cNvPr id="113" name="Rectangle 112"/>
          <p:cNvSpPr/>
          <p:nvPr/>
        </p:nvSpPr>
        <p:spPr>
          <a:xfrm>
            <a:off x="9977420" y="6489090"/>
            <a:ext cx="128150" cy="128073"/>
          </a:xfrm>
          <a:prstGeom prst="rect">
            <a:avLst/>
          </a:prstGeom>
          <a:solidFill>
            <a:srgbClr val="FFFFFF"/>
          </a:solidFill>
          <a:ln w="13970">
            <a:solidFill>
              <a:srgbClr val="1C85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83017" tIns="91509" rIns="183017" bIns="91509" rtlCol="0" anchor="ctr"/>
          <a:lstStyle/>
          <a:p>
            <a:pPr algn="ctr"/>
            <a:endParaRPr/>
          </a:p>
        </p:txBody>
      </p:sp>
      <p:sp>
        <p:nvSpPr>
          <p:cNvPr id="114" name="Rounded Rectangle 113"/>
          <p:cNvSpPr/>
          <p:nvPr/>
        </p:nvSpPr>
        <p:spPr>
          <a:xfrm>
            <a:off x="10233720" y="6507384"/>
            <a:ext cx="878745" cy="82333"/>
          </a:xfrm>
          <a:prstGeom prst="roundRect">
            <a:avLst/>
          </a:prstGeom>
          <a:solidFill>
            <a:srgbClr val="ECFAEF"/>
          </a:solidFill>
          <a:ln w="10160">
            <a:solidFill>
              <a:srgbClr val="1C85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83017" tIns="91509" rIns="183017" bIns="91509" rtlCol="0" anchor="ctr"/>
          <a:lstStyle/>
          <a:p>
            <a:pPr algn="ctr"/>
            <a:endParaRPr/>
          </a:p>
        </p:txBody>
      </p:sp>
      <p:sp>
        <p:nvSpPr>
          <p:cNvPr id="115" name="Rectangle 114"/>
          <p:cNvSpPr/>
          <p:nvPr/>
        </p:nvSpPr>
        <p:spPr>
          <a:xfrm>
            <a:off x="9977420" y="6708644"/>
            <a:ext cx="128150" cy="128073"/>
          </a:xfrm>
          <a:prstGeom prst="rect">
            <a:avLst/>
          </a:prstGeom>
          <a:solidFill>
            <a:srgbClr val="FFFFFF"/>
          </a:solidFill>
          <a:ln w="13970">
            <a:solidFill>
              <a:srgbClr val="1C85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83017" tIns="91509" rIns="183017" bIns="91509" rtlCol="0" anchor="ctr"/>
          <a:lstStyle/>
          <a:p>
            <a:pPr algn="ctr"/>
            <a:endParaRPr/>
          </a:p>
        </p:txBody>
      </p:sp>
      <p:sp>
        <p:nvSpPr>
          <p:cNvPr id="116" name="Rounded Rectangle 115"/>
          <p:cNvSpPr/>
          <p:nvPr/>
        </p:nvSpPr>
        <p:spPr>
          <a:xfrm>
            <a:off x="10233720" y="6726939"/>
            <a:ext cx="878745" cy="82333"/>
          </a:xfrm>
          <a:prstGeom prst="roundRect">
            <a:avLst/>
          </a:prstGeom>
          <a:solidFill>
            <a:srgbClr val="ECFAEF"/>
          </a:solidFill>
          <a:ln w="10160">
            <a:solidFill>
              <a:srgbClr val="1C85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83017" tIns="91509" rIns="183017" bIns="91509" rtlCol="0" anchor="ctr"/>
          <a:lstStyle/>
          <a:p>
            <a:pPr algn="ctr"/>
            <a:endParaRPr/>
          </a:p>
        </p:txBody>
      </p:sp>
      <p:sp>
        <p:nvSpPr>
          <p:cNvPr id="117" name="Rectangle 116"/>
          <p:cNvSpPr/>
          <p:nvPr/>
        </p:nvSpPr>
        <p:spPr>
          <a:xfrm>
            <a:off x="9977420" y="6928197"/>
            <a:ext cx="128150" cy="128073"/>
          </a:xfrm>
          <a:prstGeom prst="rect">
            <a:avLst/>
          </a:prstGeom>
          <a:solidFill>
            <a:srgbClr val="FFFFFF"/>
          </a:solidFill>
          <a:ln w="13970">
            <a:solidFill>
              <a:srgbClr val="1C85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83017" tIns="91509" rIns="183017" bIns="91509" rtlCol="0" anchor="ctr"/>
          <a:lstStyle/>
          <a:p>
            <a:pPr algn="ctr"/>
            <a:endParaRPr/>
          </a:p>
        </p:txBody>
      </p:sp>
      <p:sp>
        <p:nvSpPr>
          <p:cNvPr id="118" name="Rounded Rectangle 117"/>
          <p:cNvSpPr/>
          <p:nvPr/>
        </p:nvSpPr>
        <p:spPr>
          <a:xfrm>
            <a:off x="10233720" y="6946493"/>
            <a:ext cx="878745" cy="82333"/>
          </a:xfrm>
          <a:prstGeom prst="roundRect">
            <a:avLst/>
          </a:prstGeom>
          <a:solidFill>
            <a:srgbClr val="ECFAEF"/>
          </a:solidFill>
          <a:ln w="10160">
            <a:solidFill>
              <a:srgbClr val="1C85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83017" tIns="91509" rIns="183017" bIns="91509" rtlCol="0" anchor="ctr"/>
          <a:lstStyle/>
          <a:p>
            <a:pPr algn="ctr"/>
            <a:endParaRPr/>
          </a:p>
        </p:txBody>
      </p:sp>
      <p:sp>
        <p:nvSpPr>
          <p:cNvPr id="119" name="Rectangle 118"/>
          <p:cNvSpPr/>
          <p:nvPr/>
        </p:nvSpPr>
        <p:spPr>
          <a:xfrm>
            <a:off x="9977420" y="7147751"/>
            <a:ext cx="128150" cy="128073"/>
          </a:xfrm>
          <a:prstGeom prst="rect">
            <a:avLst/>
          </a:prstGeom>
          <a:solidFill>
            <a:srgbClr val="FFFFFF"/>
          </a:solidFill>
          <a:ln w="13970">
            <a:solidFill>
              <a:srgbClr val="1C85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83017" tIns="91509" rIns="183017" bIns="91509" rtlCol="0" anchor="ctr"/>
          <a:lstStyle/>
          <a:p>
            <a:pPr algn="ctr"/>
            <a:endParaRPr/>
          </a:p>
        </p:txBody>
      </p:sp>
      <p:sp>
        <p:nvSpPr>
          <p:cNvPr id="120" name="Rounded Rectangle 119"/>
          <p:cNvSpPr/>
          <p:nvPr/>
        </p:nvSpPr>
        <p:spPr>
          <a:xfrm>
            <a:off x="10233720" y="7166045"/>
            <a:ext cx="878745" cy="82333"/>
          </a:xfrm>
          <a:prstGeom prst="roundRect">
            <a:avLst/>
          </a:prstGeom>
          <a:solidFill>
            <a:srgbClr val="ECFAEF"/>
          </a:solidFill>
          <a:ln w="10160">
            <a:solidFill>
              <a:srgbClr val="1C85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83017" tIns="91509" rIns="183017" bIns="91509" rtlCol="0" anchor="ctr"/>
          <a:lstStyle/>
          <a:p>
            <a:pPr algn="ctr"/>
            <a:endParaRPr/>
          </a:p>
        </p:txBody>
      </p:sp>
      <p:cxnSp>
        <p:nvCxnSpPr>
          <p:cNvPr id="121" name="Connector 120"/>
          <p:cNvCxnSpPr>
            <a:stCxn id="112" idx="3"/>
          </p:cNvCxnSpPr>
          <p:nvPr/>
        </p:nvCxnSpPr>
        <p:spPr>
          <a:xfrm>
            <a:off x="11625070" y="6909901"/>
            <a:ext cx="951972" cy="0"/>
          </a:xfrm>
          <a:prstGeom prst="line">
            <a:avLst/>
          </a:prstGeom>
          <a:ln w="25400">
            <a:solidFill>
              <a:srgbClr val="0030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2" name="TextBox 121"/>
          <p:cNvSpPr txBox="1"/>
          <p:nvPr/>
        </p:nvSpPr>
        <p:spPr>
          <a:xfrm>
            <a:off x="9789228" y="7788116"/>
            <a:ext cx="1749427" cy="664880"/>
          </a:xfrm>
          <a:prstGeom prst="rect">
            <a:avLst/>
          </a:prstGeom>
          <a:noFill/>
        </p:spPr>
        <p:txBody>
          <a:bodyPr wrap="none" lIns="109810" tIns="54905" rIns="109810" bIns="54905" anchor="t">
            <a:spAutoFit/>
          </a:bodyPr>
          <a:lstStyle/>
          <a:p>
            <a:pPr algn="ctr">
              <a:defRPr sz="570" b="1">
                <a:solidFill>
                  <a:srgbClr val="08122B"/>
                </a:solidFill>
                <a:latin typeface="Arial"/>
              </a:defRPr>
            </a:pPr>
            <a:r>
              <a:rPr sz="1200"/>
              <a:t>Transformer model</a:t>
            </a:r>
            <a:br>
              <a:rPr sz="1200"/>
            </a:br>
            <a:r>
              <a:rPr sz="1200"/>
              <a:t>generates structured</a:t>
            </a:r>
            <a:br>
              <a:rPr sz="1200"/>
            </a:br>
            <a:r>
              <a:rPr sz="1200"/>
              <a:t>pseudocode</a:t>
            </a:r>
          </a:p>
        </p:txBody>
      </p:sp>
      <p:sp>
        <p:nvSpPr>
          <p:cNvPr id="123" name="TextBox 122"/>
          <p:cNvSpPr txBox="1"/>
          <p:nvPr/>
        </p:nvSpPr>
        <p:spPr>
          <a:xfrm>
            <a:off x="12705435" y="5284675"/>
            <a:ext cx="1659531" cy="634103"/>
          </a:xfrm>
          <a:prstGeom prst="rect">
            <a:avLst/>
          </a:prstGeom>
          <a:noFill/>
        </p:spPr>
        <p:txBody>
          <a:bodyPr wrap="none" lIns="109810" tIns="54905" rIns="109810" bIns="54905" anchor="ctr">
            <a:spAutoFit/>
          </a:bodyPr>
          <a:lstStyle/>
          <a:p>
            <a:pPr algn="ctr">
              <a:defRPr sz="650" b="1">
                <a:solidFill>
                  <a:srgbClr val="E77020"/>
                </a:solidFill>
                <a:latin typeface="Arial"/>
              </a:defRPr>
            </a:pPr>
            <a:r>
              <a:rPr sz="1700" dirty="0"/>
              <a:t>3. AST</a:t>
            </a:r>
            <a:br>
              <a:rPr sz="1700" dirty="0"/>
            </a:br>
            <a:r>
              <a:rPr sz="1700" dirty="0"/>
              <a:t>GENERATION</a:t>
            </a:r>
          </a:p>
        </p:txBody>
      </p:sp>
      <p:sp>
        <p:nvSpPr>
          <p:cNvPr id="124" name="Rounded Rectangle 123"/>
          <p:cNvSpPr/>
          <p:nvPr/>
        </p:nvSpPr>
        <p:spPr>
          <a:xfrm>
            <a:off x="12485507" y="6214648"/>
            <a:ext cx="2050406" cy="1390507"/>
          </a:xfrm>
          <a:prstGeom prst="roundRect">
            <a:avLst/>
          </a:prstGeom>
          <a:solidFill>
            <a:srgbClr val="F6FCFF"/>
          </a:solidFill>
          <a:ln w="10160">
            <a:solidFill>
              <a:srgbClr val="E770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83017" tIns="91509" rIns="183017" bIns="91509" rtlCol="0" anchor="ctr"/>
          <a:lstStyle/>
          <a:p>
            <a:pPr algn="ctr"/>
            <a:endParaRPr/>
          </a:p>
        </p:txBody>
      </p:sp>
      <p:sp>
        <p:nvSpPr>
          <p:cNvPr id="125" name="Rectangle 124"/>
          <p:cNvSpPr/>
          <p:nvPr/>
        </p:nvSpPr>
        <p:spPr>
          <a:xfrm>
            <a:off x="13400867" y="6392069"/>
            <a:ext cx="256301" cy="256146"/>
          </a:xfrm>
          <a:prstGeom prst="rect">
            <a:avLst/>
          </a:prstGeom>
          <a:solidFill>
            <a:srgbClr val="FFFFFF"/>
          </a:solidFill>
          <a:ln w="15240">
            <a:solidFill>
              <a:srgbClr val="E770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83017" tIns="91509" rIns="183017" bIns="91509" rtlCol="0" anchor="ctr"/>
          <a:lstStyle/>
          <a:p>
            <a:pPr algn="ctr"/>
            <a:endParaRPr/>
          </a:p>
        </p:txBody>
      </p:sp>
      <p:sp>
        <p:nvSpPr>
          <p:cNvPr id="126" name="Rectangle 125"/>
          <p:cNvSpPr/>
          <p:nvPr/>
        </p:nvSpPr>
        <p:spPr>
          <a:xfrm>
            <a:off x="12823448" y="7215395"/>
            <a:ext cx="274608" cy="219554"/>
          </a:xfrm>
          <a:prstGeom prst="rect">
            <a:avLst/>
          </a:prstGeom>
          <a:solidFill>
            <a:srgbClr val="FFFFFF"/>
          </a:solidFill>
          <a:ln w="15240">
            <a:solidFill>
              <a:srgbClr val="E770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83017" tIns="91509" rIns="183017" bIns="91509" rtlCol="0" anchor="ctr"/>
          <a:lstStyle/>
          <a:p>
            <a:pPr algn="ctr"/>
            <a:endParaRPr/>
          </a:p>
        </p:txBody>
      </p:sp>
      <p:sp>
        <p:nvSpPr>
          <p:cNvPr id="127" name="Rectangle 126"/>
          <p:cNvSpPr/>
          <p:nvPr/>
        </p:nvSpPr>
        <p:spPr>
          <a:xfrm>
            <a:off x="13386622" y="7215395"/>
            <a:ext cx="274608" cy="219554"/>
          </a:xfrm>
          <a:prstGeom prst="rect">
            <a:avLst/>
          </a:prstGeom>
          <a:solidFill>
            <a:srgbClr val="FFFFFF"/>
          </a:solidFill>
          <a:ln w="15240">
            <a:solidFill>
              <a:srgbClr val="E770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83017" tIns="91509" rIns="183017" bIns="91509" rtlCol="0" anchor="ctr"/>
          <a:lstStyle/>
          <a:p>
            <a:pPr algn="ctr"/>
            <a:endParaRPr/>
          </a:p>
        </p:txBody>
      </p:sp>
      <p:sp>
        <p:nvSpPr>
          <p:cNvPr id="128" name="Rectangle 127"/>
          <p:cNvSpPr/>
          <p:nvPr/>
        </p:nvSpPr>
        <p:spPr>
          <a:xfrm>
            <a:off x="14007921" y="7215395"/>
            <a:ext cx="274608" cy="219554"/>
          </a:xfrm>
          <a:prstGeom prst="rect">
            <a:avLst/>
          </a:prstGeom>
          <a:solidFill>
            <a:srgbClr val="FFFFFF"/>
          </a:solidFill>
          <a:ln w="15240">
            <a:solidFill>
              <a:srgbClr val="E770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83017" tIns="91509" rIns="183017" bIns="91509" rtlCol="0" anchor="ctr"/>
          <a:lstStyle/>
          <a:p>
            <a:pPr algn="ctr"/>
            <a:endParaRPr/>
          </a:p>
        </p:txBody>
      </p:sp>
      <p:cxnSp>
        <p:nvCxnSpPr>
          <p:cNvPr id="129" name="Connector 128"/>
          <p:cNvCxnSpPr/>
          <p:nvPr/>
        </p:nvCxnSpPr>
        <p:spPr>
          <a:xfrm>
            <a:off x="13529017" y="6648216"/>
            <a:ext cx="0" cy="298279"/>
          </a:xfrm>
          <a:prstGeom prst="line">
            <a:avLst/>
          </a:prstGeom>
          <a:ln w="11430">
            <a:solidFill>
              <a:srgbClr val="E7702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0" name="Connector 129"/>
          <p:cNvCxnSpPr>
            <a:endCxn id="126" idx="0"/>
          </p:cNvCxnSpPr>
          <p:nvPr/>
        </p:nvCxnSpPr>
        <p:spPr>
          <a:xfrm flipH="1">
            <a:off x="12960752" y="6946494"/>
            <a:ext cx="568266" cy="268902"/>
          </a:xfrm>
          <a:prstGeom prst="line">
            <a:avLst/>
          </a:prstGeom>
          <a:ln w="9525">
            <a:solidFill>
              <a:srgbClr val="E7702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1" name="Connector 130"/>
          <p:cNvCxnSpPr>
            <a:endCxn id="127" idx="0"/>
          </p:cNvCxnSpPr>
          <p:nvPr/>
        </p:nvCxnSpPr>
        <p:spPr>
          <a:xfrm flipH="1">
            <a:off x="13523927" y="6946494"/>
            <a:ext cx="7922" cy="268902"/>
          </a:xfrm>
          <a:prstGeom prst="line">
            <a:avLst/>
          </a:prstGeom>
          <a:ln w="9525">
            <a:solidFill>
              <a:srgbClr val="E7702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2" name="Connector 131"/>
          <p:cNvCxnSpPr>
            <a:endCxn id="128" idx="0"/>
          </p:cNvCxnSpPr>
          <p:nvPr/>
        </p:nvCxnSpPr>
        <p:spPr>
          <a:xfrm>
            <a:off x="13529018" y="6940952"/>
            <a:ext cx="616208" cy="274444"/>
          </a:xfrm>
          <a:prstGeom prst="line">
            <a:avLst/>
          </a:prstGeom>
          <a:ln w="9525">
            <a:solidFill>
              <a:srgbClr val="E7702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3" name="Connector 132"/>
          <p:cNvCxnSpPr>
            <a:stCxn id="124" idx="3"/>
          </p:cNvCxnSpPr>
          <p:nvPr/>
        </p:nvCxnSpPr>
        <p:spPr>
          <a:xfrm>
            <a:off x="14535913" y="6909901"/>
            <a:ext cx="951974" cy="0"/>
          </a:xfrm>
          <a:prstGeom prst="line">
            <a:avLst/>
          </a:prstGeom>
          <a:ln w="25400">
            <a:solidFill>
              <a:srgbClr val="0030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4" name="TextBox 133"/>
          <p:cNvSpPr txBox="1"/>
          <p:nvPr/>
        </p:nvSpPr>
        <p:spPr>
          <a:xfrm>
            <a:off x="12700296" y="7788116"/>
            <a:ext cx="1748979" cy="664880"/>
          </a:xfrm>
          <a:prstGeom prst="rect">
            <a:avLst/>
          </a:prstGeom>
          <a:noFill/>
        </p:spPr>
        <p:txBody>
          <a:bodyPr wrap="none" lIns="109810" tIns="54905" rIns="109810" bIns="54905" anchor="t">
            <a:spAutoFit/>
          </a:bodyPr>
          <a:lstStyle/>
          <a:p>
            <a:pPr algn="ctr">
              <a:defRPr sz="570" b="1">
                <a:solidFill>
                  <a:srgbClr val="08122B"/>
                </a:solidFill>
                <a:latin typeface="Arial"/>
              </a:defRPr>
            </a:pPr>
            <a:r>
              <a:rPr sz="1200"/>
              <a:t>Parser converts</a:t>
            </a:r>
            <a:br>
              <a:rPr sz="1200"/>
            </a:br>
            <a:r>
              <a:rPr sz="1200"/>
              <a:t>pseudocode into an</a:t>
            </a:r>
            <a:br>
              <a:rPr sz="1200"/>
            </a:br>
            <a:r>
              <a:rPr sz="1200"/>
              <a:t>Abstract Syntax Tree</a:t>
            </a:r>
          </a:p>
        </p:txBody>
      </p:sp>
      <p:sp>
        <p:nvSpPr>
          <p:cNvPr id="135" name="TextBox 134"/>
          <p:cNvSpPr txBox="1"/>
          <p:nvPr/>
        </p:nvSpPr>
        <p:spPr>
          <a:xfrm>
            <a:off x="15342102" y="5284675"/>
            <a:ext cx="2207886" cy="634103"/>
          </a:xfrm>
          <a:prstGeom prst="rect">
            <a:avLst/>
          </a:prstGeom>
          <a:noFill/>
        </p:spPr>
        <p:txBody>
          <a:bodyPr wrap="none" lIns="109810" tIns="54905" rIns="109810" bIns="54905" anchor="ctr">
            <a:spAutoFit/>
          </a:bodyPr>
          <a:lstStyle/>
          <a:p>
            <a:pPr algn="ctr">
              <a:defRPr sz="650" b="1">
                <a:solidFill>
                  <a:srgbClr val="623F96"/>
                </a:solidFill>
                <a:latin typeface="Arial"/>
              </a:defRPr>
            </a:pPr>
            <a:r>
              <a:rPr sz="1700" dirty="0"/>
              <a:t>4. FLOW DIAGRAM</a:t>
            </a:r>
            <a:br>
              <a:rPr sz="1700" dirty="0"/>
            </a:br>
            <a:r>
              <a:rPr sz="1700" dirty="0"/>
              <a:t>GENERATION</a:t>
            </a:r>
          </a:p>
        </p:txBody>
      </p:sp>
      <p:sp>
        <p:nvSpPr>
          <p:cNvPr id="136" name="Rounded Rectangle 135"/>
          <p:cNvSpPr/>
          <p:nvPr/>
        </p:nvSpPr>
        <p:spPr>
          <a:xfrm>
            <a:off x="15396351" y="6214648"/>
            <a:ext cx="2050406" cy="1390507"/>
          </a:xfrm>
          <a:prstGeom prst="roundRect">
            <a:avLst/>
          </a:prstGeom>
          <a:solidFill>
            <a:srgbClr val="F6FCFF"/>
          </a:solidFill>
          <a:ln w="10160">
            <a:solidFill>
              <a:srgbClr val="623F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83017" tIns="91509" rIns="183017" bIns="91509" rtlCol="0" anchor="ctr"/>
          <a:lstStyle/>
          <a:p>
            <a:pPr algn="ctr"/>
            <a:endParaRPr/>
          </a:p>
        </p:txBody>
      </p:sp>
      <p:sp>
        <p:nvSpPr>
          <p:cNvPr id="137" name="Hexagon 136"/>
          <p:cNvSpPr/>
          <p:nvPr/>
        </p:nvSpPr>
        <p:spPr>
          <a:xfrm>
            <a:off x="16146218" y="6405929"/>
            <a:ext cx="585830" cy="329331"/>
          </a:xfrm>
          <a:prstGeom prst="hexagon">
            <a:avLst/>
          </a:prstGeom>
          <a:solidFill>
            <a:srgbClr val="ECE6F9"/>
          </a:solidFill>
          <a:ln>
            <a:solidFill>
              <a:srgbClr val="623F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83017" tIns="91509" rIns="183017" bIns="91509" rtlCol="0" anchor="ctr"/>
          <a:lstStyle/>
          <a:p>
            <a:pPr algn="ctr"/>
            <a:endParaRPr/>
          </a:p>
        </p:txBody>
      </p:sp>
      <p:sp>
        <p:nvSpPr>
          <p:cNvPr id="138" name="Rectangle 137"/>
          <p:cNvSpPr/>
          <p:nvPr/>
        </p:nvSpPr>
        <p:spPr>
          <a:xfrm>
            <a:off x="15630985" y="7229255"/>
            <a:ext cx="366144" cy="237850"/>
          </a:xfrm>
          <a:prstGeom prst="rect">
            <a:avLst/>
          </a:prstGeom>
          <a:solidFill>
            <a:srgbClr val="ECE6F9"/>
          </a:solidFill>
          <a:ln w="13970">
            <a:solidFill>
              <a:srgbClr val="623F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83017" tIns="91509" rIns="183017" bIns="91509" rtlCol="0" anchor="ctr"/>
          <a:lstStyle/>
          <a:p>
            <a:pPr algn="ctr"/>
            <a:endParaRPr/>
          </a:p>
        </p:txBody>
      </p:sp>
      <p:sp>
        <p:nvSpPr>
          <p:cNvPr id="139" name="Rectangle 138"/>
          <p:cNvSpPr/>
          <p:nvPr/>
        </p:nvSpPr>
        <p:spPr>
          <a:xfrm>
            <a:off x="16260123" y="7221994"/>
            <a:ext cx="366144" cy="237850"/>
          </a:xfrm>
          <a:prstGeom prst="rect">
            <a:avLst/>
          </a:prstGeom>
          <a:solidFill>
            <a:srgbClr val="ECE6F9"/>
          </a:solidFill>
          <a:ln w="13970">
            <a:solidFill>
              <a:srgbClr val="623F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83017" tIns="91509" rIns="183017" bIns="91509" rtlCol="0" anchor="ctr"/>
          <a:lstStyle/>
          <a:p>
            <a:pPr algn="ctr"/>
            <a:endParaRPr/>
          </a:p>
        </p:txBody>
      </p:sp>
      <p:sp>
        <p:nvSpPr>
          <p:cNvPr id="140" name="Rectangle 139"/>
          <p:cNvSpPr/>
          <p:nvPr/>
        </p:nvSpPr>
        <p:spPr>
          <a:xfrm>
            <a:off x="16918323" y="7229255"/>
            <a:ext cx="366144" cy="237850"/>
          </a:xfrm>
          <a:prstGeom prst="rect">
            <a:avLst/>
          </a:prstGeom>
          <a:solidFill>
            <a:srgbClr val="ECE6F9"/>
          </a:solidFill>
          <a:ln w="13970">
            <a:solidFill>
              <a:srgbClr val="623F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83017" tIns="91509" rIns="183017" bIns="91509" rtlCol="0" anchor="ctr"/>
          <a:lstStyle/>
          <a:p>
            <a:pPr algn="ctr"/>
            <a:endParaRPr/>
          </a:p>
        </p:txBody>
      </p:sp>
      <p:cxnSp>
        <p:nvCxnSpPr>
          <p:cNvPr id="141" name="Connector 140"/>
          <p:cNvCxnSpPr/>
          <p:nvPr/>
        </p:nvCxnSpPr>
        <p:spPr>
          <a:xfrm>
            <a:off x="16431867" y="6735259"/>
            <a:ext cx="0" cy="329331"/>
          </a:xfrm>
          <a:prstGeom prst="line">
            <a:avLst/>
          </a:prstGeom>
          <a:ln w="10160">
            <a:solidFill>
              <a:srgbClr val="623F9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2" name="Connector 141"/>
          <p:cNvCxnSpPr>
            <a:endCxn id="138" idx="0"/>
          </p:cNvCxnSpPr>
          <p:nvPr/>
        </p:nvCxnSpPr>
        <p:spPr>
          <a:xfrm flipH="1">
            <a:off x="15814058" y="7064590"/>
            <a:ext cx="617810" cy="164665"/>
          </a:xfrm>
          <a:prstGeom prst="line">
            <a:avLst/>
          </a:prstGeom>
          <a:ln w="10160">
            <a:solidFill>
              <a:srgbClr val="623F9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3" name="Connector 142"/>
          <p:cNvCxnSpPr>
            <a:endCxn id="139" idx="0"/>
          </p:cNvCxnSpPr>
          <p:nvPr/>
        </p:nvCxnSpPr>
        <p:spPr>
          <a:xfrm>
            <a:off x="16431867" y="7074567"/>
            <a:ext cx="11328" cy="147428"/>
          </a:xfrm>
          <a:prstGeom prst="line">
            <a:avLst/>
          </a:prstGeom>
          <a:ln w="10160">
            <a:solidFill>
              <a:srgbClr val="623F9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4" name="Connector 143"/>
          <p:cNvCxnSpPr>
            <a:endCxn id="140" idx="0"/>
          </p:cNvCxnSpPr>
          <p:nvPr/>
        </p:nvCxnSpPr>
        <p:spPr>
          <a:xfrm>
            <a:off x="16421554" y="7074566"/>
            <a:ext cx="679841" cy="154689"/>
          </a:xfrm>
          <a:prstGeom prst="line">
            <a:avLst/>
          </a:prstGeom>
          <a:ln w="10160">
            <a:solidFill>
              <a:srgbClr val="623F9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5" name="Connector 144"/>
          <p:cNvCxnSpPr>
            <a:stCxn id="136" idx="3"/>
          </p:cNvCxnSpPr>
          <p:nvPr/>
        </p:nvCxnSpPr>
        <p:spPr>
          <a:xfrm>
            <a:off x="17446757" y="6909901"/>
            <a:ext cx="951974" cy="0"/>
          </a:xfrm>
          <a:prstGeom prst="line">
            <a:avLst/>
          </a:prstGeom>
          <a:ln w="25400">
            <a:solidFill>
              <a:srgbClr val="0030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6" name="TextBox 145"/>
          <p:cNvSpPr txBox="1"/>
          <p:nvPr/>
        </p:nvSpPr>
        <p:spPr>
          <a:xfrm>
            <a:off x="15518742" y="7788116"/>
            <a:ext cx="1933773" cy="664880"/>
          </a:xfrm>
          <a:prstGeom prst="rect">
            <a:avLst/>
          </a:prstGeom>
          <a:noFill/>
        </p:spPr>
        <p:txBody>
          <a:bodyPr wrap="none" lIns="109810" tIns="54905" rIns="109810" bIns="54905" anchor="t">
            <a:spAutoFit/>
          </a:bodyPr>
          <a:lstStyle/>
          <a:p>
            <a:pPr algn="ctr">
              <a:defRPr sz="570" b="1">
                <a:solidFill>
                  <a:srgbClr val="08122B"/>
                </a:solidFill>
                <a:latin typeface="Arial"/>
              </a:defRPr>
            </a:pPr>
            <a:r>
              <a:rPr sz="1200" dirty="0"/>
              <a:t>AST is converted into a</a:t>
            </a:r>
            <a:br>
              <a:rPr sz="1200" dirty="0"/>
            </a:br>
            <a:r>
              <a:rPr sz="1200" dirty="0"/>
              <a:t>Control Flow Graph</a:t>
            </a:r>
            <a:br>
              <a:rPr sz="1200" dirty="0"/>
            </a:br>
            <a:r>
              <a:rPr sz="1200" dirty="0"/>
              <a:t>(Flow Diagram)</a:t>
            </a:r>
          </a:p>
        </p:txBody>
      </p:sp>
      <p:sp>
        <p:nvSpPr>
          <p:cNvPr id="147" name="TextBox 146"/>
          <p:cNvSpPr txBox="1"/>
          <p:nvPr/>
        </p:nvSpPr>
        <p:spPr>
          <a:xfrm>
            <a:off x="18314755" y="5284675"/>
            <a:ext cx="2065219" cy="634103"/>
          </a:xfrm>
          <a:prstGeom prst="rect">
            <a:avLst/>
          </a:prstGeom>
          <a:noFill/>
        </p:spPr>
        <p:txBody>
          <a:bodyPr wrap="none" lIns="109810" tIns="54905" rIns="109810" bIns="54905" anchor="ctr">
            <a:spAutoFit/>
          </a:bodyPr>
          <a:lstStyle/>
          <a:p>
            <a:pPr algn="ctr">
              <a:defRPr sz="650" b="1">
                <a:solidFill>
                  <a:srgbClr val="005BB5"/>
                </a:solidFill>
                <a:latin typeface="Arial"/>
              </a:defRPr>
            </a:pPr>
            <a:r>
              <a:rPr sz="1700" dirty="0"/>
              <a:t>5. PYTHON CODE</a:t>
            </a:r>
            <a:br>
              <a:rPr sz="1700" dirty="0"/>
            </a:br>
            <a:r>
              <a:rPr sz="1700" dirty="0"/>
              <a:t>GENERATION</a:t>
            </a:r>
          </a:p>
        </p:txBody>
      </p:sp>
      <p:sp>
        <p:nvSpPr>
          <p:cNvPr id="148" name="Rounded Rectangle 147"/>
          <p:cNvSpPr/>
          <p:nvPr/>
        </p:nvSpPr>
        <p:spPr>
          <a:xfrm>
            <a:off x="18307195" y="6214648"/>
            <a:ext cx="2050406" cy="1390507"/>
          </a:xfrm>
          <a:prstGeom prst="roundRect">
            <a:avLst/>
          </a:prstGeom>
          <a:solidFill>
            <a:srgbClr val="F6FCFF"/>
          </a:solidFill>
          <a:ln w="10160">
            <a:solidFill>
              <a:srgbClr val="005B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83017" tIns="91509" rIns="183017" bIns="91509" rtlCol="0" anchor="ctr"/>
          <a:lstStyle/>
          <a:p>
            <a:pPr algn="ctr"/>
            <a:endParaRPr/>
          </a:p>
        </p:txBody>
      </p:sp>
      <p:sp>
        <p:nvSpPr>
          <p:cNvPr id="149" name="Rounded Rectangle 148"/>
          <p:cNvSpPr/>
          <p:nvPr/>
        </p:nvSpPr>
        <p:spPr>
          <a:xfrm>
            <a:off x="18893026" y="6525682"/>
            <a:ext cx="659059" cy="512292"/>
          </a:xfrm>
          <a:prstGeom prst="roundRect">
            <a:avLst/>
          </a:prstGeom>
          <a:solidFill>
            <a:srgbClr val="1E59A0"/>
          </a:solidFill>
          <a:ln w="9525">
            <a:solidFill>
              <a:srgbClr val="1E59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83017" tIns="91509" rIns="183017" bIns="91509" rtlCol="0" anchor="ctr"/>
          <a:lstStyle/>
          <a:p>
            <a:pPr algn="ctr"/>
            <a:endParaRPr/>
          </a:p>
        </p:txBody>
      </p:sp>
      <p:sp>
        <p:nvSpPr>
          <p:cNvPr id="150" name="Rounded Rectangle 149"/>
          <p:cNvSpPr/>
          <p:nvPr/>
        </p:nvSpPr>
        <p:spPr>
          <a:xfrm>
            <a:off x="19405627" y="6946493"/>
            <a:ext cx="659059" cy="512292"/>
          </a:xfrm>
          <a:prstGeom prst="roundRect">
            <a:avLst/>
          </a:prstGeom>
          <a:solidFill>
            <a:srgbClr val="FFD237"/>
          </a:solidFill>
          <a:ln w="9525">
            <a:solidFill>
              <a:srgbClr val="FFD2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83017" tIns="91509" rIns="183017" bIns="91509" rtlCol="0" anchor="ctr"/>
          <a:lstStyle/>
          <a:p>
            <a:pPr algn="ctr"/>
            <a:endParaRPr/>
          </a:p>
        </p:txBody>
      </p:sp>
      <p:sp>
        <p:nvSpPr>
          <p:cNvPr id="151" name="TextBox 150"/>
          <p:cNvSpPr txBox="1"/>
          <p:nvPr/>
        </p:nvSpPr>
        <p:spPr>
          <a:xfrm>
            <a:off x="19176422" y="6598867"/>
            <a:ext cx="257031" cy="233993"/>
          </a:xfrm>
          <a:prstGeom prst="rect">
            <a:avLst/>
          </a:prstGeom>
          <a:noFill/>
        </p:spPr>
        <p:txBody>
          <a:bodyPr wrap="none" lIns="109810" tIns="54905" rIns="109810" bIns="54905" anchor="t">
            <a:spAutoFit/>
          </a:bodyPr>
          <a:lstStyle/>
          <a:p>
            <a:pPr algn="ctr">
              <a:defRPr sz="800" b="1">
                <a:solidFill>
                  <a:srgbClr val="FFFFFF"/>
                </a:solidFill>
                <a:latin typeface="Arial"/>
              </a:defRPr>
            </a:pPr>
            <a:r>
              <a:t>•</a:t>
            </a:r>
          </a:p>
        </p:txBody>
      </p:sp>
      <p:sp>
        <p:nvSpPr>
          <p:cNvPr id="152" name="TextBox 151"/>
          <p:cNvSpPr txBox="1"/>
          <p:nvPr/>
        </p:nvSpPr>
        <p:spPr>
          <a:xfrm>
            <a:off x="19615794" y="7239232"/>
            <a:ext cx="257031" cy="233993"/>
          </a:xfrm>
          <a:prstGeom prst="rect">
            <a:avLst/>
          </a:prstGeom>
          <a:noFill/>
        </p:spPr>
        <p:txBody>
          <a:bodyPr wrap="none" lIns="109810" tIns="54905" rIns="109810" bIns="54905" anchor="t">
            <a:spAutoFit/>
          </a:bodyPr>
          <a:lstStyle/>
          <a:p>
            <a:pPr algn="ctr">
              <a:defRPr sz="800" b="1">
                <a:solidFill>
                  <a:srgbClr val="FFFFFF"/>
                </a:solidFill>
                <a:latin typeface="Arial"/>
              </a:defRPr>
            </a:pPr>
            <a:r>
              <a:t>•</a:t>
            </a:r>
          </a:p>
        </p:txBody>
      </p:sp>
      <p:cxnSp>
        <p:nvCxnSpPr>
          <p:cNvPr id="153" name="Connector 152"/>
          <p:cNvCxnSpPr>
            <a:stCxn id="148" idx="3"/>
          </p:cNvCxnSpPr>
          <p:nvPr/>
        </p:nvCxnSpPr>
        <p:spPr>
          <a:xfrm>
            <a:off x="20357601" y="6909901"/>
            <a:ext cx="951974" cy="0"/>
          </a:xfrm>
          <a:prstGeom prst="line">
            <a:avLst/>
          </a:prstGeom>
          <a:ln w="25400">
            <a:solidFill>
              <a:srgbClr val="0030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4" name="TextBox 153"/>
          <p:cNvSpPr txBox="1"/>
          <p:nvPr/>
        </p:nvSpPr>
        <p:spPr>
          <a:xfrm>
            <a:off x="18322078" y="7788116"/>
            <a:ext cx="1614775" cy="664880"/>
          </a:xfrm>
          <a:prstGeom prst="rect">
            <a:avLst/>
          </a:prstGeom>
          <a:noFill/>
        </p:spPr>
        <p:txBody>
          <a:bodyPr wrap="none" lIns="109810" tIns="54905" rIns="109810" bIns="54905" anchor="t">
            <a:spAutoFit/>
          </a:bodyPr>
          <a:lstStyle/>
          <a:p>
            <a:pPr algn="ctr">
              <a:defRPr sz="570" b="1">
                <a:solidFill>
                  <a:srgbClr val="08122B"/>
                </a:solidFill>
                <a:latin typeface="Arial"/>
              </a:defRPr>
            </a:pPr>
            <a:r>
              <a:rPr sz="1200"/>
              <a:t>Python code is</a:t>
            </a:r>
            <a:br>
              <a:rPr sz="1200"/>
            </a:br>
            <a:r>
              <a:rPr sz="1200"/>
              <a:t>generated from the</a:t>
            </a:r>
            <a:br>
              <a:rPr sz="1200"/>
            </a:br>
            <a:r>
              <a:rPr sz="1200"/>
              <a:t>flow diagram</a:t>
            </a:r>
          </a:p>
        </p:txBody>
      </p:sp>
      <p:sp>
        <p:nvSpPr>
          <p:cNvPr id="155" name="TextBox 154"/>
          <p:cNvSpPr txBox="1"/>
          <p:nvPr/>
        </p:nvSpPr>
        <p:spPr>
          <a:xfrm>
            <a:off x="21415031" y="5284675"/>
            <a:ext cx="1629201" cy="634103"/>
          </a:xfrm>
          <a:prstGeom prst="rect">
            <a:avLst/>
          </a:prstGeom>
          <a:noFill/>
        </p:spPr>
        <p:txBody>
          <a:bodyPr wrap="none" lIns="109810" tIns="54905" rIns="109810" bIns="54905" anchor="ctr">
            <a:spAutoFit/>
          </a:bodyPr>
          <a:lstStyle/>
          <a:p>
            <a:pPr algn="ctr">
              <a:defRPr sz="650" b="1">
                <a:solidFill>
                  <a:srgbClr val="138996"/>
                </a:solidFill>
                <a:latin typeface="Arial"/>
              </a:defRPr>
            </a:pPr>
            <a:r>
              <a:rPr sz="1700"/>
              <a:t>6. TESTING &amp;</a:t>
            </a:r>
            <a:br>
              <a:rPr sz="1700"/>
            </a:br>
            <a:r>
              <a:rPr sz="1700"/>
              <a:t>EVALUATION</a:t>
            </a:r>
          </a:p>
        </p:txBody>
      </p:sp>
      <p:sp>
        <p:nvSpPr>
          <p:cNvPr id="156" name="Rounded Rectangle 155"/>
          <p:cNvSpPr/>
          <p:nvPr/>
        </p:nvSpPr>
        <p:spPr>
          <a:xfrm>
            <a:off x="21218039" y="6214648"/>
            <a:ext cx="2050406" cy="1390507"/>
          </a:xfrm>
          <a:prstGeom prst="roundRect">
            <a:avLst/>
          </a:prstGeom>
          <a:solidFill>
            <a:srgbClr val="F6FCFF"/>
          </a:solidFill>
          <a:ln w="10160">
            <a:solidFill>
              <a:srgbClr val="1389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83017" tIns="91509" rIns="183017" bIns="91509" rtlCol="0" anchor="ctr"/>
          <a:lstStyle/>
          <a:p>
            <a:pPr algn="ctr"/>
            <a:endParaRPr/>
          </a:p>
        </p:txBody>
      </p:sp>
      <p:sp>
        <p:nvSpPr>
          <p:cNvPr id="157" name="Rectangle 156"/>
          <p:cNvSpPr/>
          <p:nvPr/>
        </p:nvSpPr>
        <p:spPr>
          <a:xfrm>
            <a:off x="21856437" y="6489090"/>
            <a:ext cx="805517" cy="1006288"/>
          </a:xfrm>
          <a:prstGeom prst="rect">
            <a:avLst/>
          </a:prstGeom>
          <a:solidFill>
            <a:srgbClr val="EFFDFD"/>
          </a:solidFill>
          <a:ln w="15240">
            <a:solidFill>
              <a:srgbClr val="1389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83017" tIns="91509" rIns="183017" bIns="91509" rtlCol="0" anchor="ctr"/>
          <a:lstStyle/>
          <a:p>
            <a:pPr algn="ctr"/>
            <a:endParaRPr/>
          </a:p>
        </p:txBody>
      </p:sp>
      <p:sp>
        <p:nvSpPr>
          <p:cNvPr id="158" name="Rounded Rectangle 157"/>
          <p:cNvSpPr/>
          <p:nvPr/>
        </p:nvSpPr>
        <p:spPr>
          <a:xfrm>
            <a:off x="22076123" y="6361017"/>
            <a:ext cx="366144" cy="182961"/>
          </a:xfrm>
          <a:prstGeom prst="roundRect">
            <a:avLst/>
          </a:prstGeom>
          <a:solidFill>
            <a:srgbClr val="EFFDFD"/>
          </a:solidFill>
          <a:ln w="15240">
            <a:solidFill>
              <a:srgbClr val="1389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83017" tIns="91509" rIns="183017" bIns="91509" rtlCol="0" anchor="ctr"/>
          <a:lstStyle/>
          <a:p>
            <a:pPr algn="ctr"/>
            <a:endParaRPr/>
          </a:p>
        </p:txBody>
      </p:sp>
      <p:sp>
        <p:nvSpPr>
          <p:cNvPr id="159" name="TextBox 158"/>
          <p:cNvSpPr txBox="1"/>
          <p:nvPr/>
        </p:nvSpPr>
        <p:spPr>
          <a:xfrm>
            <a:off x="21984587" y="6635459"/>
            <a:ext cx="350005" cy="264771"/>
          </a:xfrm>
          <a:prstGeom prst="rect">
            <a:avLst/>
          </a:prstGeom>
          <a:noFill/>
        </p:spPr>
        <p:txBody>
          <a:bodyPr wrap="none" lIns="109810" tIns="54905" rIns="109810" bIns="54905" anchor="t">
            <a:spAutoFit/>
          </a:bodyPr>
          <a:lstStyle/>
          <a:p>
            <a:pPr algn="l">
              <a:defRPr sz="750" b="1">
                <a:solidFill>
                  <a:srgbClr val="138996"/>
                </a:solidFill>
                <a:latin typeface="Arial"/>
              </a:defRPr>
            </a:pPr>
            <a:r>
              <a:rPr sz="1000" dirty="0"/>
              <a:t>✓</a:t>
            </a:r>
          </a:p>
        </p:txBody>
      </p:sp>
      <p:sp>
        <p:nvSpPr>
          <p:cNvPr id="160" name="TextBox 159"/>
          <p:cNvSpPr txBox="1"/>
          <p:nvPr/>
        </p:nvSpPr>
        <p:spPr>
          <a:xfrm>
            <a:off x="21984587" y="6818420"/>
            <a:ext cx="350005" cy="264771"/>
          </a:xfrm>
          <a:prstGeom prst="rect">
            <a:avLst/>
          </a:prstGeom>
          <a:noFill/>
        </p:spPr>
        <p:txBody>
          <a:bodyPr wrap="none" lIns="109810" tIns="54905" rIns="109810" bIns="54905" anchor="t">
            <a:spAutoFit/>
          </a:bodyPr>
          <a:lstStyle/>
          <a:p>
            <a:pPr algn="l">
              <a:defRPr sz="750" b="1">
                <a:solidFill>
                  <a:srgbClr val="138996"/>
                </a:solidFill>
                <a:latin typeface="Arial"/>
              </a:defRPr>
            </a:pPr>
            <a:r>
              <a:rPr sz="1000"/>
              <a:t>✓</a:t>
            </a:r>
          </a:p>
        </p:txBody>
      </p:sp>
      <p:sp>
        <p:nvSpPr>
          <p:cNvPr id="161" name="TextBox 160"/>
          <p:cNvSpPr txBox="1"/>
          <p:nvPr/>
        </p:nvSpPr>
        <p:spPr>
          <a:xfrm>
            <a:off x="21984587" y="7001382"/>
            <a:ext cx="350005" cy="264771"/>
          </a:xfrm>
          <a:prstGeom prst="rect">
            <a:avLst/>
          </a:prstGeom>
          <a:noFill/>
        </p:spPr>
        <p:txBody>
          <a:bodyPr wrap="none" lIns="109810" tIns="54905" rIns="109810" bIns="54905" anchor="t">
            <a:spAutoFit/>
          </a:bodyPr>
          <a:lstStyle/>
          <a:p>
            <a:pPr algn="l">
              <a:defRPr sz="750" b="1">
                <a:solidFill>
                  <a:srgbClr val="138996"/>
                </a:solidFill>
                <a:latin typeface="Arial"/>
              </a:defRPr>
            </a:pPr>
            <a:r>
              <a:rPr sz="1000"/>
              <a:t>✓</a:t>
            </a:r>
          </a:p>
        </p:txBody>
      </p:sp>
      <p:sp>
        <p:nvSpPr>
          <p:cNvPr id="162" name="TextBox 161"/>
          <p:cNvSpPr txBox="1"/>
          <p:nvPr/>
        </p:nvSpPr>
        <p:spPr>
          <a:xfrm>
            <a:off x="21984587" y="7184343"/>
            <a:ext cx="350005" cy="264771"/>
          </a:xfrm>
          <a:prstGeom prst="rect">
            <a:avLst/>
          </a:prstGeom>
          <a:noFill/>
        </p:spPr>
        <p:txBody>
          <a:bodyPr wrap="none" lIns="109810" tIns="54905" rIns="109810" bIns="54905" anchor="t">
            <a:spAutoFit/>
          </a:bodyPr>
          <a:lstStyle/>
          <a:p>
            <a:pPr algn="l">
              <a:defRPr sz="750" b="1">
                <a:solidFill>
                  <a:srgbClr val="138996"/>
                </a:solidFill>
                <a:latin typeface="Arial"/>
              </a:defRPr>
            </a:pPr>
            <a:r>
              <a:rPr sz="1000" dirty="0"/>
              <a:t>✓</a:t>
            </a:r>
          </a:p>
        </p:txBody>
      </p:sp>
      <p:sp>
        <p:nvSpPr>
          <p:cNvPr id="163" name="TextBox 162"/>
          <p:cNvSpPr txBox="1"/>
          <p:nvPr/>
        </p:nvSpPr>
        <p:spPr>
          <a:xfrm>
            <a:off x="21535197" y="7788116"/>
            <a:ext cx="1544243" cy="664880"/>
          </a:xfrm>
          <a:prstGeom prst="rect">
            <a:avLst/>
          </a:prstGeom>
          <a:noFill/>
        </p:spPr>
        <p:txBody>
          <a:bodyPr wrap="none" lIns="109810" tIns="54905" rIns="109810" bIns="54905" anchor="t">
            <a:spAutoFit/>
          </a:bodyPr>
          <a:lstStyle/>
          <a:p>
            <a:pPr algn="ctr">
              <a:defRPr sz="570" b="1">
                <a:solidFill>
                  <a:srgbClr val="08122B"/>
                </a:solidFill>
                <a:latin typeface="Arial"/>
              </a:defRPr>
            </a:pPr>
            <a:r>
              <a:rPr sz="1200"/>
              <a:t>Code is executed</a:t>
            </a:r>
            <a:br>
              <a:rPr sz="1200"/>
            </a:br>
            <a:r>
              <a:rPr sz="1200"/>
              <a:t>against test cases</a:t>
            </a:r>
            <a:br>
              <a:rPr sz="1200"/>
            </a:br>
            <a:r>
              <a:rPr sz="1200"/>
              <a:t>and evaluated</a:t>
            </a:r>
          </a:p>
        </p:txBody>
      </p:sp>
      <p:sp>
        <p:nvSpPr>
          <p:cNvPr id="164" name="Rectangle 163"/>
          <p:cNvSpPr/>
          <p:nvPr/>
        </p:nvSpPr>
        <p:spPr>
          <a:xfrm>
            <a:off x="6077989" y="9010473"/>
            <a:ext cx="18581803" cy="5708398"/>
          </a:xfrm>
          <a:prstGeom prst="rect">
            <a:avLst/>
          </a:prstGeom>
          <a:solidFill>
            <a:srgbClr val="FFFFFF"/>
          </a:solidFill>
          <a:ln w="10160">
            <a:solidFill>
              <a:srgbClr val="A4B8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83017" tIns="91509" rIns="183017" bIns="91509" rtlCol="0" anchor="ctr"/>
          <a:lstStyle/>
          <a:p>
            <a:pPr algn="ctr"/>
            <a:endParaRPr dirty="0"/>
          </a:p>
        </p:txBody>
      </p:sp>
      <p:sp>
        <p:nvSpPr>
          <p:cNvPr id="165" name="Rectangle 164"/>
          <p:cNvSpPr/>
          <p:nvPr/>
        </p:nvSpPr>
        <p:spPr>
          <a:xfrm>
            <a:off x="6077989" y="9054036"/>
            <a:ext cx="18581803" cy="530588"/>
          </a:xfrm>
          <a:prstGeom prst="rect">
            <a:avLst/>
          </a:prstGeom>
          <a:solidFill>
            <a:srgbClr val="003078"/>
          </a:solidFill>
          <a:ln w="6350">
            <a:solidFill>
              <a:srgbClr val="0030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83017" tIns="91509" rIns="183017" bIns="91509" rtlCol="0" anchor="ctr"/>
          <a:lstStyle/>
          <a:p>
            <a:pPr algn="ctr"/>
            <a:endParaRPr/>
          </a:p>
        </p:txBody>
      </p:sp>
      <p:sp>
        <p:nvSpPr>
          <p:cNvPr id="166" name="TextBox 165"/>
          <p:cNvSpPr txBox="1"/>
          <p:nvPr/>
        </p:nvSpPr>
        <p:spPr>
          <a:xfrm>
            <a:off x="13186896" y="9090974"/>
            <a:ext cx="4363989" cy="387881"/>
          </a:xfrm>
          <a:prstGeom prst="rect">
            <a:avLst/>
          </a:prstGeom>
          <a:noFill/>
        </p:spPr>
        <p:txBody>
          <a:bodyPr wrap="none" lIns="109810" tIns="54905" rIns="109810" bIns="54905" anchor="ctr">
            <a:spAutoFit/>
          </a:bodyPr>
          <a:lstStyle/>
          <a:p>
            <a:pPr algn="ctr">
              <a:defRPr sz="819" b="1">
                <a:solidFill>
                  <a:srgbClr val="FFFFFF"/>
                </a:solidFill>
                <a:latin typeface="Arial"/>
              </a:defRPr>
            </a:pPr>
            <a:r>
              <a:rPr sz="1800" dirty="0"/>
              <a:t>EXAMPLE PIPELINE WALKTHROUGH</a:t>
            </a:r>
          </a:p>
        </p:txBody>
      </p:sp>
      <p:sp>
        <p:nvSpPr>
          <p:cNvPr id="167" name="TextBox 166"/>
          <p:cNvSpPr txBox="1"/>
          <p:nvPr/>
        </p:nvSpPr>
        <p:spPr>
          <a:xfrm>
            <a:off x="6410010" y="9696480"/>
            <a:ext cx="2246806" cy="295548"/>
          </a:xfrm>
          <a:prstGeom prst="rect">
            <a:avLst/>
          </a:prstGeom>
          <a:noFill/>
        </p:spPr>
        <p:txBody>
          <a:bodyPr wrap="none" lIns="109810" tIns="54905" rIns="109810" bIns="54905" anchor="ctr">
            <a:spAutoFit/>
          </a:bodyPr>
          <a:lstStyle/>
          <a:p>
            <a:pPr algn="ctr">
              <a:defRPr sz="530" b="1">
                <a:solidFill>
                  <a:srgbClr val="003078"/>
                </a:solidFill>
                <a:latin typeface="Arial"/>
              </a:defRPr>
            </a:pPr>
            <a:r>
              <a:rPr sz="1200" i="1" dirty="0"/>
              <a:t>ENGLISH </a:t>
            </a:r>
            <a:r>
              <a:rPr lang="en-GB" sz="1200" i="1" dirty="0" smtClean="0"/>
              <a:t>NL </a:t>
            </a:r>
            <a:r>
              <a:rPr sz="1200" i="1" dirty="0" smtClean="0"/>
              <a:t>DESCRIPTION</a:t>
            </a:r>
            <a:endParaRPr sz="1200" i="1" dirty="0"/>
          </a:p>
        </p:txBody>
      </p:sp>
      <p:sp>
        <p:nvSpPr>
          <p:cNvPr id="168" name="Rounded Rectangle 167"/>
          <p:cNvSpPr/>
          <p:nvPr/>
        </p:nvSpPr>
        <p:spPr>
          <a:xfrm>
            <a:off x="6297675" y="10082106"/>
            <a:ext cx="2471471" cy="4391075"/>
          </a:xfrm>
          <a:prstGeom prst="roundRect">
            <a:avLst/>
          </a:prstGeom>
          <a:solidFill>
            <a:srgbClr val="FFFFFF"/>
          </a:solidFill>
          <a:ln w="7620">
            <a:solidFill>
              <a:srgbClr val="0030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83017" tIns="91509" rIns="183017" bIns="91509" rtlCol="0" anchor="ctr"/>
          <a:lstStyle/>
          <a:p>
            <a:pPr algn="ctr"/>
            <a:endParaRPr/>
          </a:p>
        </p:txBody>
      </p:sp>
      <p:sp>
        <p:nvSpPr>
          <p:cNvPr id="169" name="TextBox 168"/>
          <p:cNvSpPr txBox="1"/>
          <p:nvPr/>
        </p:nvSpPr>
        <p:spPr>
          <a:xfrm>
            <a:off x="9649444" y="9696480"/>
            <a:ext cx="1315013" cy="295548"/>
          </a:xfrm>
          <a:prstGeom prst="rect">
            <a:avLst/>
          </a:prstGeom>
          <a:noFill/>
        </p:spPr>
        <p:txBody>
          <a:bodyPr wrap="none" lIns="109810" tIns="54905" rIns="109810" bIns="54905" anchor="ctr">
            <a:spAutoFit/>
          </a:bodyPr>
          <a:lstStyle/>
          <a:p>
            <a:pPr algn="ctr">
              <a:defRPr sz="530" b="1">
                <a:solidFill>
                  <a:srgbClr val="1C8544"/>
                </a:solidFill>
                <a:latin typeface="Arial"/>
              </a:defRPr>
            </a:pPr>
            <a:r>
              <a:rPr sz="1200" i="1" dirty="0"/>
              <a:t>PSEUDOCODE</a:t>
            </a:r>
          </a:p>
        </p:txBody>
      </p:sp>
      <p:sp>
        <p:nvSpPr>
          <p:cNvPr id="170" name="Rounded Rectangle 169"/>
          <p:cNvSpPr/>
          <p:nvPr/>
        </p:nvSpPr>
        <p:spPr>
          <a:xfrm>
            <a:off x="9007140" y="10082106"/>
            <a:ext cx="2599622" cy="4391075"/>
          </a:xfrm>
          <a:prstGeom prst="roundRect">
            <a:avLst/>
          </a:prstGeom>
          <a:solidFill>
            <a:srgbClr val="FFFFFF"/>
          </a:solidFill>
          <a:ln w="7620">
            <a:solidFill>
              <a:srgbClr val="1C85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83017" tIns="91509" rIns="183017" bIns="91509" rtlCol="0" anchor="ctr"/>
          <a:lstStyle/>
          <a:p>
            <a:pPr algn="ctr"/>
            <a:endParaRPr/>
          </a:p>
        </p:txBody>
      </p:sp>
      <p:sp>
        <p:nvSpPr>
          <p:cNvPr id="171" name="TextBox 170"/>
          <p:cNvSpPr txBox="1"/>
          <p:nvPr/>
        </p:nvSpPr>
        <p:spPr>
          <a:xfrm>
            <a:off x="13017100" y="9696480"/>
            <a:ext cx="529541" cy="295548"/>
          </a:xfrm>
          <a:prstGeom prst="rect">
            <a:avLst/>
          </a:prstGeom>
          <a:noFill/>
        </p:spPr>
        <p:txBody>
          <a:bodyPr wrap="none" lIns="109810" tIns="54905" rIns="109810" bIns="54905" anchor="ctr">
            <a:spAutoFit/>
          </a:bodyPr>
          <a:lstStyle/>
          <a:p>
            <a:pPr algn="ctr">
              <a:defRPr sz="530" b="1">
                <a:solidFill>
                  <a:srgbClr val="E77020"/>
                </a:solidFill>
                <a:latin typeface="Arial"/>
              </a:defRPr>
            </a:pPr>
            <a:r>
              <a:rPr sz="1200" i="1" dirty="0"/>
              <a:t>AST</a:t>
            </a:r>
          </a:p>
        </p:txBody>
      </p:sp>
      <p:sp>
        <p:nvSpPr>
          <p:cNvPr id="172" name="Rounded Rectangle 171"/>
          <p:cNvSpPr/>
          <p:nvPr/>
        </p:nvSpPr>
        <p:spPr>
          <a:xfrm>
            <a:off x="11789834" y="10082106"/>
            <a:ext cx="2984073" cy="4391075"/>
          </a:xfrm>
          <a:prstGeom prst="roundRect">
            <a:avLst/>
          </a:prstGeom>
          <a:solidFill>
            <a:srgbClr val="FFFFFF"/>
          </a:solidFill>
          <a:ln w="7620">
            <a:solidFill>
              <a:srgbClr val="E770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83017" tIns="91509" rIns="183017" bIns="91509" rtlCol="0" anchor="ctr"/>
          <a:lstStyle/>
          <a:p>
            <a:pPr algn="ctr"/>
            <a:endParaRPr/>
          </a:p>
        </p:txBody>
      </p:sp>
      <p:sp>
        <p:nvSpPr>
          <p:cNvPr id="173" name="TextBox 172"/>
          <p:cNvSpPr txBox="1"/>
          <p:nvPr/>
        </p:nvSpPr>
        <p:spPr>
          <a:xfrm>
            <a:off x="15760744" y="9696480"/>
            <a:ext cx="1925757" cy="295548"/>
          </a:xfrm>
          <a:prstGeom prst="rect">
            <a:avLst/>
          </a:prstGeom>
          <a:noFill/>
        </p:spPr>
        <p:txBody>
          <a:bodyPr wrap="none" lIns="109810" tIns="54905" rIns="109810" bIns="54905" anchor="ctr">
            <a:spAutoFit/>
          </a:bodyPr>
          <a:lstStyle/>
          <a:p>
            <a:pPr algn="ctr">
              <a:defRPr sz="530" b="1">
                <a:solidFill>
                  <a:srgbClr val="623F96"/>
                </a:solidFill>
                <a:latin typeface="Arial"/>
              </a:defRPr>
            </a:pPr>
            <a:r>
              <a:rPr sz="1200" i="1" dirty="0"/>
              <a:t>FLOW DIAGRAM (CFG)</a:t>
            </a:r>
          </a:p>
        </p:txBody>
      </p:sp>
      <p:sp>
        <p:nvSpPr>
          <p:cNvPr id="174" name="Rounded Rectangle 173"/>
          <p:cNvSpPr/>
          <p:nvPr/>
        </p:nvSpPr>
        <p:spPr>
          <a:xfrm>
            <a:off x="14938671" y="10082106"/>
            <a:ext cx="3569903" cy="4391075"/>
          </a:xfrm>
          <a:prstGeom prst="roundRect">
            <a:avLst/>
          </a:prstGeom>
          <a:solidFill>
            <a:srgbClr val="FFFFFF"/>
          </a:solidFill>
          <a:ln w="7620">
            <a:solidFill>
              <a:srgbClr val="623F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83017" tIns="91509" rIns="183017" bIns="91509" rtlCol="0" anchor="ctr"/>
          <a:lstStyle/>
          <a:p>
            <a:pPr algn="ctr"/>
            <a:endParaRPr/>
          </a:p>
        </p:txBody>
      </p:sp>
      <p:sp>
        <p:nvSpPr>
          <p:cNvPr id="175" name="TextBox 174"/>
          <p:cNvSpPr txBox="1"/>
          <p:nvPr/>
        </p:nvSpPr>
        <p:spPr>
          <a:xfrm>
            <a:off x="19407854" y="9696480"/>
            <a:ext cx="1350279" cy="295548"/>
          </a:xfrm>
          <a:prstGeom prst="rect">
            <a:avLst/>
          </a:prstGeom>
          <a:noFill/>
        </p:spPr>
        <p:txBody>
          <a:bodyPr wrap="none" lIns="109810" tIns="54905" rIns="109810" bIns="54905" anchor="ctr">
            <a:spAutoFit/>
          </a:bodyPr>
          <a:lstStyle/>
          <a:p>
            <a:pPr algn="ctr">
              <a:defRPr sz="530" b="1">
                <a:solidFill>
                  <a:srgbClr val="003078"/>
                </a:solidFill>
                <a:latin typeface="Arial"/>
              </a:defRPr>
            </a:pPr>
            <a:r>
              <a:rPr sz="1200" i="1" dirty="0"/>
              <a:t>PYTHON CODE</a:t>
            </a:r>
          </a:p>
        </p:txBody>
      </p:sp>
      <p:sp>
        <p:nvSpPr>
          <p:cNvPr id="176" name="Rounded Rectangle 175"/>
          <p:cNvSpPr/>
          <p:nvPr/>
        </p:nvSpPr>
        <p:spPr>
          <a:xfrm>
            <a:off x="18709954" y="10082106"/>
            <a:ext cx="2746079" cy="4391075"/>
          </a:xfrm>
          <a:prstGeom prst="roundRect">
            <a:avLst/>
          </a:prstGeom>
          <a:solidFill>
            <a:srgbClr val="FFFFFF"/>
          </a:solidFill>
          <a:ln w="7620">
            <a:solidFill>
              <a:srgbClr val="0030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83017" tIns="91509" rIns="183017" bIns="91509" rtlCol="0" anchor="ctr"/>
          <a:lstStyle/>
          <a:p>
            <a:pPr algn="ctr"/>
            <a:endParaRPr/>
          </a:p>
        </p:txBody>
      </p:sp>
      <p:sp>
        <p:nvSpPr>
          <p:cNvPr id="177" name="TextBox 176"/>
          <p:cNvSpPr txBox="1"/>
          <p:nvPr/>
        </p:nvSpPr>
        <p:spPr>
          <a:xfrm>
            <a:off x="22398690" y="9696480"/>
            <a:ext cx="1263525" cy="295548"/>
          </a:xfrm>
          <a:prstGeom prst="rect">
            <a:avLst/>
          </a:prstGeom>
          <a:noFill/>
        </p:spPr>
        <p:txBody>
          <a:bodyPr wrap="none" lIns="109810" tIns="54905" rIns="109810" bIns="54905" anchor="ctr">
            <a:spAutoFit/>
          </a:bodyPr>
          <a:lstStyle/>
          <a:p>
            <a:pPr algn="ctr">
              <a:defRPr sz="530" b="1">
                <a:solidFill>
                  <a:srgbClr val="138996"/>
                </a:solidFill>
                <a:latin typeface="Arial"/>
              </a:defRPr>
            </a:pPr>
            <a:r>
              <a:rPr sz="1200" i="1" dirty="0"/>
              <a:t>TEST RESULT</a:t>
            </a:r>
          </a:p>
        </p:txBody>
      </p:sp>
      <p:sp>
        <p:nvSpPr>
          <p:cNvPr id="178" name="Rounded Rectangle 177"/>
          <p:cNvSpPr/>
          <p:nvPr/>
        </p:nvSpPr>
        <p:spPr>
          <a:xfrm>
            <a:off x="21675719" y="10082106"/>
            <a:ext cx="2709465" cy="4391075"/>
          </a:xfrm>
          <a:prstGeom prst="roundRect">
            <a:avLst/>
          </a:prstGeom>
          <a:solidFill>
            <a:srgbClr val="FFFFFF"/>
          </a:solidFill>
          <a:ln w="7620">
            <a:solidFill>
              <a:srgbClr val="1389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83017" tIns="91509" rIns="183017" bIns="91509" rtlCol="0" anchor="ctr"/>
          <a:lstStyle/>
          <a:p>
            <a:pPr algn="ctr"/>
            <a:endParaRPr/>
          </a:p>
        </p:txBody>
      </p:sp>
      <p:sp>
        <p:nvSpPr>
          <p:cNvPr id="179" name="TextBox 178"/>
          <p:cNvSpPr txBox="1"/>
          <p:nvPr/>
        </p:nvSpPr>
        <p:spPr>
          <a:xfrm>
            <a:off x="6361339" y="11724797"/>
            <a:ext cx="2344142" cy="849546"/>
          </a:xfrm>
          <a:prstGeom prst="rect">
            <a:avLst/>
          </a:prstGeom>
          <a:noFill/>
        </p:spPr>
        <p:txBody>
          <a:bodyPr wrap="none" lIns="109810" tIns="54905" rIns="109810" bIns="54905" anchor="ctr">
            <a:spAutoFit/>
          </a:bodyPr>
          <a:lstStyle/>
          <a:p>
            <a:pPr algn="ctr">
              <a:defRPr sz="600" b="1">
                <a:solidFill>
                  <a:srgbClr val="08122B"/>
                </a:solidFill>
                <a:latin typeface="Arial"/>
              </a:defRPr>
            </a:pPr>
            <a:r>
              <a:rPr sz="1600" dirty="0"/>
              <a:t>Find the factorial of</a:t>
            </a:r>
            <a:br>
              <a:rPr sz="1600" dirty="0"/>
            </a:br>
            <a:r>
              <a:rPr sz="1600" dirty="0"/>
              <a:t>a number using</a:t>
            </a:r>
            <a:br>
              <a:rPr sz="1600" dirty="0"/>
            </a:br>
            <a:r>
              <a:rPr sz="1600" dirty="0"/>
              <a:t>an iterative approach.</a:t>
            </a:r>
          </a:p>
        </p:txBody>
      </p:sp>
      <p:sp>
        <p:nvSpPr>
          <p:cNvPr id="180" name="TextBox 179"/>
          <p:cNvSpPr txBox="1"/>
          <p:nvPr/>
        </p:nvSpPr>
        <p:spPr>
          <a:xfrm>
            <a:off x="9251911" y="10617443"/>
            <a:ext cx="1855225" cy="2265318"/>
          </a:xfrm>
          <a:prstGeom prst="rect">
            <a:avLst/>
          </a:prstGeom>
          <a:noFill/>
        </p:spPr>
        <p:txBody>
          <a:bodyPr wrap="none" lIns="109810" tIns="54905" rIns="109810" bIns="54905" anchor="t">
            <a:spAutoFit/>
          </a:bodyPr>
          <a:lstStyle/>
          <a:p>
            <a:pPr>
              <a:defRPr sz="570" b="0">
                <a:solidFill>
                  <a:srgbClr val="08122B"/>
                </a:solidFill>
                <a:latin typeface="Arial"/>
              </a:defRPr>
            </a:pPr>
            <a:r>
              <a:rPr sz="1400" dirty="0" smtClean="0"/>
              <a:t>1.  Start</a:t>
            </a:r>
            <a:br>
              <a:rPr sz="1400" dirty="0" smtClean="0"/>
            </a:br>
            <a:r>
              <a:rPr sz="1400" dirty="0" smtClean="0"/>
              <a:t>2. </a:t>
            </a:r>
            <a:r>
              <a:rPr lang="en-GB" sz="1400" dirty="0" smtClean="0"/>
              <a:t> </a:t>
            </a:r>
            <a:r>
              <a:rPr lang="en-US" sz="1400" dirty="0"/>
              <a:t>n &lt;- INPUT() </a:t>
            </a:r>
            <a:r>
              <a:rPr sz="1400" dirty="0" smtClean="0"/>
              <a:t/>
            </a:r>
            <a:br>
              <a:rPr sz="1400" dirty="0" smtClean="0"/>
            </a:br>
            <a:r>
              <a:rPr sz="1400" dirty="0" smtClean="0"/>
              <a:t>3. </a:t>
            </a:r>
            <a:r>
              <a:rPr lang="en-GB" sz="1400" dirty="0" smtClean="0"/>
              <a:t> </a:t>
            </a:r>
            <a:r>
              <a:rPr lang="en-US" sz="1400" dirty="0"/>
              <a:t>fact &lt;- 1 </a:t>
            </a:r>
            <a:r>
              <a:rPr sz="1400" dirty="0" smtClean="0"/>
              <a:t/>
            </a:r>
            <a:br>
              <a:rPr sz="1400" dirty="0" smtClean="0"/>
            </a:br>
            <a:r>
              <a:rPr sz="1400" dirty="0" smtClean="0"/>
              <a:t>4. </a:t>
            </a:r>
            <a:r>
              <a:rPr lang="en-GB" sz="1400" dirty="0" smtClean="0"/>
              <a:t> </a:t>
            </a:r>
            <a:r>
              <a:rPr lang="en-US" sz="1400" dirty="0"/>
              <a:t>i &lt;- 1 </a:t>
            </a:r>
            <a:r>
              <a:rPr sz="1400" dirty="0" smtClean="0"/>
              <a:t/>
            </a:r>
            <a:br>
              <a:rPr sz="1400" dirty="0" smtClean="0"/>
            </a:br>
            <a:r>
              <a:rPr sz="1400" dirty="0" smtClean="0"/>
              <a:t>5. </a:t>
            </a:r>
            <a:r>
              <a:rPr lang="en-GB" sz="1400" dirty="0" smtClean="0"/>
              <a:t> </a:t>
            </a:r>
            <a:r>
              <a:rPr sz="1400" dirty="0" smtClean="0"/>
              <a:t>W</a:t>
            </a:r>
            <a:r>
              <a:rPr lang="en-GB" sz="1400" dirty="0" smtClean="0"/>
              <a:t>HILE</a:t>
            </a:r>
            <a:r>
              <a:rPr sz="1400" dirty="0" smtClean="0"/>
              <a:t> i &lt;= n</a:t>
            </a:r>
            <a:r>
              <a:rPr lang="en-GB" sz="1400" dirty="0" smtClean="0"/>
              <a:t> DO</a:t>
            </a:r>
            <a:r>
              <a:rPr sz="1400" dirty="0" smtClean="0"/>
              <a:t/>
            </a:r>
            <a:br>
              <a:rPr sz="1400" dirty="0" smtClean="0"/>
            </a:br>
            <a:r>
              <a:rPr sz="1400" dirty="0" smtClean="0"/>
              <a:t>    5.1  fact </a:t>
            </a:r>
            <a:r>
              <a:rPr lang="en-GB" sz="1400" dirty="0" smtClean="0"/>
              <a:t>&lt;-</a:t>
            </a:r>
            <a:r>
              <a:rPr sz="1400" dirty="0" smtClean="0"/>
              <a:t> fact * i</a:t>
            </a:r>
            <a:br>
              <a:rPr sz="1400" dirty="0" smtClean="0"/>
            </a:br>
            <a:r>
              <a:rPr sz="1400" dirty="0" smtClean="0"/>
              <a:t>    5.2  i </a:t>
            </a:r>
            <a:r>
              <a:rPr lang="en-GB" sz="1400" dirty="0" smtClean="0"/>
              <a:t>&lt;-</a:t>
            </a:r>
            <a:r>
              <a:rPr sz="1400" dirty="0" smtClean="0"/>
              <a:t> i + 1</a:t>
            </a:r>
            <a:br>
              <a:rPr sz="1400" dirty="0" smtClean="0"/>
            </a:br>
            <a:r>
              <a:rPr sz="1400" dirty="0" smtClean="0"/>
              <a:t>6.  </a:t>
            </a:r>
            <a:r>
              <a:rPr lang="en-GB" sz="1400" dirty="0" smtClean="0"/>
              <a:t>ENDWHILE</a:t>
            </a:r>
            <a:r>
              <a:rPr sz="1400" dirty="0" smtClean="0"/>
              <a:t/>
            </a:r>
            <a:br>
              <a:rPr sz="1400" dirty="0" smtClean="0"/>
            </a:br>
            <a:r>
              <a:rPr sz="1400" dirty="0" smtClean="0"/>
              <a:t>7.  </a:t>
            </a:r>
            <a:r>
              <a:rPr lang="en-GB" sz="1400" dirty="0" smtClean="0"/>
              <a:t>OUTPUT fact</a:t>
            </a:r>
          </a:p>
          <a:p>
            <a:pPr>
              <a:defRPr sz="570" b="0">
                <a:solidFill>
                  <a:srgbClr val="08122B"/>
                </a:solidFill>
                <a:latin typeface="Arial"/>
              </a:defRPr>
            </a:pPr>
            <a:r>
              <a:rPr lang="en-GB" sz="1400" dirty="0" smtClean="0"/>
              <a:t>8.  STOP</a:t>
            </a:r>
          </a:p>
        </p:txBody>
      </p:sp>
      <p:sp>
        <p:nvSpPr>
          <p:cNvPr id="181" name="Rounded Rectangle 180"/>
          <p:cNvSpPr/>
          <p:nvPr/>
        </p:nvSpPr>
        <p:spPr>
          <a:xfrm>
            <a:off x="12851651" y="10319956"/>
            <a:ext cx="768902" cy="292738"/>
          </a:xfrm>
          <a:prstGeom prst="roundRect">
            <a:avLst/>
          </a:prstGeom>
          <a:solidFill>
            <a:srgbClr val="FFF8F0"/>
          </a:solidFill>
          <a:ln w="8890">
            <a:solidFill>
              <a:srgbClr val="E770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83017" tIns="91509" rIns="183017" bIns="91509" rtlCol="0" anchor="ctr"/>
          <a:lstStyle/>
          <a:p>
            <a:pPr algn="ctr"/>
            <a:endParaRPr/>
          </a:p>
        </p:txBody>
      </p:sp>
      <p:sp>
        <p:nvSpPr>
          <p:cNvPr id="182" name="TextBox 181"/>
          <p:cNvSpPr txBox="1"/>
          <p:nvPr/>
        </p:nvSpPr>
        <p:spPr>
          <a:xfrm>
            <a:off x="12990567" y="10338252"/>
            <a:ext cx="491069" cy="264771"/>
          </a:xfrm>
          <a:prstGeom prst="rect">
            <a:avLst/>
          </a:prstGeom>
          <a:noFill/>
        </p:spPr>
        <p:txBody>
          <a:bodyPr wrap="none" lIns="109810" tIns="54905" rIns="109810" bIns="54905" anchor="t">
            <a:spAutoFit/>
          </a:bodyPr>
          <a:lstStyle/>
          <a:p>
            <a:pPr algn="ctr">
              <a:defRPr sz="420" b="0">
                <a:solidFill>
                  <a:srgbClr val="08122B"/>
                </a:solidFill>
                <a:latin typeface="Arial"/>
              </a:defRPr>
            </a:pPr>
            <a:r>
              <a:rPr sz="1000"/>
              <a:t>Start</a:t>
            </a:r>
          </a:p>
        </p:txBody>
      </p:sp>
      <p:sp>
        <p:nvSpPr>
          <p:cNvPr id="183" name="Rounded Rectangle 182"/>
          <p:cNvSpPr/>
          <p:nvPr/>
        </p:nvSpPr>
        <p:spPr>
          <a:xfrm>
            <a:off x="12851651" y="10960321"/>
            <a:ext cx="768902" cy="292738"/>
          </a:xfrm>
          <a:prstGeom prst="roundRect">
            <a:avLst/>
          </a:prstGeom>
          <a:solidFill>
            <a:srgbClr val="FFF8F0"/>
          </a:solidFill>
          <a:ln w="8890">
            <a:solidFill>
              <a:srgbClr val="E770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83017" tIns="91509" rIns="183017" bIns="91509" rtlCol="0" anchor="ctr"/>
          <a:lstStyle/>
          <a:p>
            <a:pPr algn="ctr"/>
            <a:endParaRPr/>
          </a:p>
        </p:txBody>
      </p:sp>
      <p:sp>
        <p:nvSpPr>
          <p:cNvPr id="184" name="TextBox 183"/>
          <p:cNvSpPr txBox="1"/>
          <p:nvPr/>
        </p:nvSpPr>
        <p:spPr>
          <a:xfrm>
            <a:off x="12791778" y="10978618"/>
            <a:ext cx="944720" cy="264771"/>
          </a:xfrm>
          <a:prstGeom prst="rect">
            <a:avLst/>
          </a:prstGeom>
          <a:noFill/>
        </p:spPr>
        <p:txBody>
          <a:bodyPr wrap="none" lIns="109810" tIns="54905" rIns="109810" bIns="54905" anchor="t">
            <a:spAutoFit/>
          </a:bodyPr>
          <a:lstStyle/>
          <a:p>
            <a:pPr>
              <a:defRPr sz="570" b="0">
                <a:solidFill>
                  <a:srgbClr val="08122B"/>
                </a:solidFill>
                <a:latin typeface="Arial"/>
              </a:defRPr>
            </a:pPr>
            <a:r>
              <a:rPr lang="en-US" sz="1000" dirty="0"/>
              <a:t>n = INPUT() </a:t>
            </a:r>
          </a:p>
        </p:txBody>
      </p:sp>
      <p:sp>
        <p:nvSpPr>
          <p:cNvPr id="185" name="Rounded Rectangle 184"/>
          <p:cNvSpPr/>
          <p:nvPr/>
        </p:nvSpPr>
        <p:spPr>
          <a:xfrm>
            <a:off x="12728135" y="12181585"/>
            <a:ext cx="1171661" cy="292738"/>
          </a:xfrm>
          <a:prstGeom prst="roundRect">
            <a:avLst/>
          </a:prstGeom>
          <a:solidFill>
            <a:srgbClr val="FFF8F0"/>
          </a:solidFill>
          <a:ln w="8890">
            <a:solidFill>
              <a:srgbClr val="E770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83017" tIns="91509" rIns="183017" bIns="91509" rtlCol="0" anchor="ctr"/>
          <a:lstStyle/>
          <a:p>
            <a:pPr algn="ctr"/>
            <a:endParaRPr/>
          </a:p>
        </p:txBody>
      </p:sp>
      <p:sp>
        <p:nvSpPr>
          <p:cNvPr id="186" name="TextBox 185"/>
          <p:cNvSpPr txBox="1"/>
          <p:nvPr/>
        </p:nvSpPr>
        <p:spPr>
          <a:xfrm>
            <a:off x="12815106" y="12199894"/>
            <a:ext cx="983192" cy="264771"/>
          </a:xfrm>
          <a:prstGeom prst="rect">
            <a:avLst/>
          </a:prstGeom>
          <a:noFill/>
        </p:spPr>
        <p:txBody>
          <a:bodyPr wrap="none" lIns="109810" tIns="54905" rIns="109810" bIns="54905" anchor="t">
            <a:spAutoFit/>
          </a:bodyPr>
          <a:lstStyle/>
          <a:p>
            <a:pPr algn="ctr">
              <a:defRPr sz="420" b="0">
                <a:solidFill>
                  <a:srgbClr val="08122B"/>
                </a:solidFill>
                <a:latin typeface="Arial"/>
              </a:defRPr>
            </a:pPr>
            <a:r>
              <a:rPr sz="1000" dirty="0" smtClean="0"/>
              <a:t>W</a:t>
            </a:r>
            <a:r>
              <a:rPr lang="en-GB" sz="1000" dirty="0" smtClean="0"/>
              <a:t>HILE</a:t>
            </a:r>
            <a:r>
              <a:rPr sz="1000" dirty="0" smtClean="0"/>
              <a:t> </a:t>
            </a:r>
            <a:r>
              <a:rPr sz="1000" dirty="0"/>
              <a:t>i &lt;= n</a:t>
            </a:r>
          </a:p>
        </p:txBody>
      </p:sp>
      <p:sp>
        <p:nvSpPr>
          <p:cNvPr id="187" name="Rounded Rectangle 186"/>
          <p:cNvSpPr/>
          <p:nvPr/>
        </p:nvSpPr>
        <p:spPr>
          <a:xfrm>
            <a:off x="11862149" y="12923607"/>
            <a:ext cx="1171661" cy="292738"/>
          </a:xfrm>
          <a:prstGeom prst="roundRect">
            <a:avLst/>
          </a:prstGeom>
          <a:solidFill>
            <a:srgbClr val="FFF8F0"/>
          </a:solidFill>
          <a:ln w="8890">
            <a:solidFill>
              <a:srgbClr val="E770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83017" tIns="91509" rIns="183017" bIns="91509" rtlCol="0" anchor="ctr"/>
          <a:lstStyle/>
          <a:p>
            <a:pPr algn="ctr"/>
            <a:endParaRPr/>
          </a:p>
        </p:txBody>
      </p:sp>
      <p:sp>
        <p:nvSpPr>
          <p:cNvPr id="188" name="TextBox 187"/>
          <p:cNvSpPr txBox="1"/>
          <p:nvPr/>
        </p:nvSpPr>
        <p:spPr>
          <a:xfrm>
            <a:off x="11998969" y="12940097"/>
            <a:ext cx="927086" cy="264771"/>
          </a:xfrm>
          <a:prstGeom prst="rect">
            <a:avLst/>
          </a:prstGeom>
          <a:noFill/>
        </p:spPr>
        <p:txBody>
          <a:bodyPr wrap="none" lIns="109810" tIns="54905" rIns="109810" bIns="54905" anchor="t">
            <a:spAutoFit/>
          </a:bodyPr>
          <a:lstStyle/>
          <a:p>
            <a:pPr algn="ctr">
              <a:defRPr sz="420" b="0">
                <a:solidFill>
                  <a:srgbClr val="08122B"/>
                </a:solidFill>
                <a:latin typeface="Arial"/>
              </a:defRPr>
            </a:pPr>
            <a:r>
              <a:rPr sz="1000" dirty="0"/>
              <a:t>fact = fact * i</a:t>
            </a:r>
          </a:p>
        </p:txBody>
      </p:sp>
      <p:sp>
        <p:nvSpPr>
          <p:cNvPr id="189" name="Rounded Rectangle 188"/>
          <p:cNvSpPr/>
          <p:nvPr/>
        </p:nvSpPr>
        <p:spPr>
          <a:xfrm>
            <a:off x="13515631" y="12952652"/>
            <a:ext cx="1171661" cy="292738"/>
          </a:xfrm>
          <a:prstGeom prst="roundRect">
            <a:avLst/>
          </a:prstGeom>
          <a:solidFill>
            <a:srgbClr val="FFF8F0"/>
          </a:solidFill>
          <a:ln w="8890">
            <a:solidFill>
              <a:srgbClr val="E770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83017" tIns="91509" rIns="183017" bIns="91509" rtlCol="0" anchor="ctr"/>
          <a:lstStyle/>
          <a:p>
            <a:pPr algn="ctr"/>
            <a:endParaRPr/>
          </a:p>
        </p:txBody>
      </p:sp>
      <p:sp>
        <p:nvSpPr>
          <p:cNvPr id="190" name="TextBox 189"/>
          <p:cNvSpPr txBox="1"/>
          <p:nvPr/>
        </p:nvSpPr>
        <p:spPr>
          <a:xfrm>
            <a:off x="13780585" y="12969142"/>
            <a:ext cx="641753" cy="264771"/>
          </a:xfrm>
          <a:prstGeom prst="rect">
            <a:avLst/>
          </a:prstGeom>
          <a:noFill/>
        </p:spPr>
        <p:txBody>
          <a:bodyPr wrap="none" lIns="109810" tIns="54905" rIns="109810" bIns="54905" anchor="t">
            <a:spAutoFit/>
          </a:bodyPr>
          <a:lstStyle/>
          <a:p>
            <a:pPr algn="ctr">
              <a:defRPr sz="420" b="0">
                <a:solidFill>
                  <a:srgbClr val="08122B"/>
                </a:solidFill>
                <a:latin typeface="Arial"/>
              </a:defRPr>
            </a:pPr>
            <a:r>
              <a:rPr sz="1000" dirty="0"/>
              <a:t>i = i + 1</a:t>
            </a:r>
          </a:p>
        </p:txBody>
      </p:sp>
      <p:sp>
        <p:nvSpPr>
          <p:cNvPr id="191" name="Rounded Rectangle 190"/>
          <p:cNvSpPr/>
          <p:nvPr/>
        </p:nvSpPr>
        <p:spPr>
          <a:xfrm>
            <a:off x="11863527" y="13534928"/>
            <a:ext cx="1171661" cy="292738"/>
          </a:xfrm>
          <a:prstGeom prst="roundRect">
            <a:avLst/>
          </a:prstGeom>
          <a:solidFill>
            <a:srgbClr val="FFF8F0"/>
          </a:solidFill>
          <a:ln w="8890">
            <a:solidFill>
              <a:srgbClr val="E770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83017" tIns="91509" rIns="183017" bIns="91509" rtlCol="0" anchor="ctr"/>
          <a:lstStyle/>
          <a:p>
            <a:pPr algn="ctr"/>
            <a:endParaRPr/>
          </a:p>
        </p:txBody>
      </p:sp>
      <p:sp>
        <p:nvSpPr>
          <p:cNvPr id="192" name="TextBox 191"/>
          <p:cNvSpPr txBox="1"/>
          <p:nvPr/>
        </p:nvSpPr>
        <p:spPr>
          <a:xfrm>
            <a:off x="11983362" y="13555041"/>
            <a:ext cx="917469" cy="264771"/>
          </a:xfrm>
          <a:prstGeom prst="rect">
            <a:avLst/>
          </a:prstGeom>
          <a:noFill/>
        </p:spPr>
        <p:txBody>
          <a:bodyPr wrap="none" lIns="109810" tIns="54905" rIns="109810" bIns="54905" anchor="t">
            <a:spAutoFit/>
          </a:bodyPr>
          <a:lstStyle/>
          <a:p>
            <a:pPr algn="ctr">
              <a:defRPr sz="420" b="0">
                <a:solidFill>
                  <a:srgbClr val="08122B"/>
                </a:solidFill>
                <a:latin typeface="Arial"/>
              </a:defRPr>
            </a:pPr>
            <a:r>
              <a:rPr lang="en-GB" sz="1000" dirty="0" smtClean="0"/>
              <a:t>[</a:t>
            </a:r>
            <a:r>
              <a:rPr sz="1000" dirty="0" smtClean="0"/>
              <a:t>P</a:t>
            </a:r>
            <a:r>
              <a:rPr lang="en-GB" sz="1000" dirty="0" smtClean="0"/>
              <a:t>RINT]</a:t>
            </a:r>
            <a:r>
              <a:rPr sz="1000" dirty="0" smtClean="0"/>
              <a:t> </a:t>
            </a:r>
            <a:r>
              <a:rPr sz="1000" dirty="0"/>
              <a:t>fact</a:t>
            </a:r>
          </a:p>
        </p:txBody>
      </p:sp>
      <p:sp>
        <p:nvSpPr>
          <p:cNvPr id="193" name="Rounded Rectangle 192"/>
          <p:cNvSpPr/>
          <p:nvPr/>
        </p:nvSpPr>
        <p:spPr>
          <a:xfrm>
            <a:off x="12066964" y="14015546"/>
            <a:ext cx="768902" cy="292738"/>
          </a:xfrm>
          <a:prstGeom prst="roundRect">
            <a:avLst/>
          </a:prstGeom>
          <a:solidFill>
            <a:srgbClr val="FFF8F0"/>
          </a:solidFill>
          <a:ln w="8890">
            <a:solidFill>
              <a:srgbClr val="E770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83017" tIns="91509" rIns="183017" bIns="91509" rtlCol="0" anchor="ctr"/>
          <a:lstStyle/>
          <a:p>
            <a:pPr algn="ctr"/>
            <a:endParaRPr/>
          </a:p>
        </p:txBody>
      </p:sp>
      <p:sp>
        <p:nvSpPr>
          <p:cNvPr id="194" name="TextBox 193"/>
          <p:cNvSpPr txBox="1"/>
          <p:nvPr/>
        </p:nvSpPr>
        <p:spPr>
          <a:xfrm>
            <a:off x="12202623" y="14033853"/>
            <a:ext cx="483055" cy="264771"/>
          </a:xfrm>
          <a:prstGeom prst="rect">
            <a:avLst/>
          </a:prstGeom>
          <a:noFill/>
        </p:spPr>
        <p:txBody>
          <a:bodyPr wrap="none" lIns="109810" tIns="54905" rIns="109810" bIns="54905" anchor="t">
            <a:spAutoFit/>
          </a:bodyPr>
          <a:lstStyle/>
          <a:p>
            <a:pPr algn="ctr">
              <a:defRPr sz="420" b="0">
                <a:solidFill>
                  <a:srgbClr val="08122B"/>
                </a:solidFill>
                <a:latin typeface="Arial"/>
              </a:defRPr>
            </a:pPr>
            <a:r>
              <a:rPr sz="1000" dirty="0"/>
              <a:t>Stop</a:t>
            </a:r>
          </a:p>
        </p:txBody>
      </p:sp>
      <p:cxnSp>
        <p:nvCxnSpPr>
          <p:cNvPr id="195" name="Connector 194"/>
          <p:cNvCxnSpPr>
            <a:stCxn id="181" idx="2"/>
            <a:endCxn id="184" idx="0"/>
          </p:cNvCxnSpPr>
          <p:nvPr/>
        </p:nvCxnSpPr>
        <p:spPr>
          <a:xfrm>
            <a:off x="13236102" y="10612694"/>
            <a:ext cx="28036" cy="365924"/>
          </a:xfrm>
          <a:prstGeom prst="line">
            <a:avLst/>
          </a:prstGeom>
          <a:ln w="6985">
            <a:solidFill>
              <a:srgbClr val="E7702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6" name="Connector 195"/>
          <p:cNvCxnSpPr>
            <a:stCxn id="183" idx="2"/>
            <a:endCxn id="420" idx="0"/>
          </p:cNvCxnSpPr>
          <p:nvPr/>
        </p:nvCxnSpPr>
        <p:spPr>
          <a:xfrm>
            <a:off x="13236102" y="11253059"/>
            <a:ext cx="622445" cy="265294"/>
          </a:xfrm>
          <a:prstGeom prst="line">
            <a:avLst/>
          </a:prstGeom>
          <a:ln w="6985">
            <a:solidFill>
              <a:srgbClr val="E7702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7" name="Connector 196"/>
          <p:cNvCxnSpPr>
            <a:stCxn id="185" idx="2"/>
            <a:endCxn id="187" idx="0"/>
          </p:cNvCxnSpPr>
          <p:nvPr/>
        </p:nvCxnSpPr>
        <p:spPr>
          <a:xfrm flipH="1">
            <a:off x="12447981" y="12474323"/>
            <a:ext cx="865986" cy="449284"/>
          </a:xfrm>
          <a:prstGeom prst="line">
            <a:avLst/>
          </a:prstGeom>
          <a:ln w="6985">
            <a:solidFill>
              <a:srgbClr val="E7702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8" name="Connector 197"/>
          <p:cNvCxnSpPr>
            <a:stCxn id="185" idx="2"/>
            <a:endCxn id="189" idx="0"/>
          </p:cNvCxnSpPr>
          <p:nvPr/>
        </p:nvCxnSpPr>
        <p:spPr>
          <a:xfrm>
            <a:off x="13313967" y="12474323"/>
            <a:ext cx="787496" cy="478329"/>
          </a:xfrm>
          <a:prstGeom prst="line">
            <a:avLst/>
          </a:prstGeom>
          <a:ln w="6985">
            <a:solidFill>
              <a:srgbClr val="E7702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9" name="Connector 198"/>
          <p:cNvCxnSpPr>
            <a:stCxn id="187" idx="2"/>
            <a:endCxn id="191" idx="0"/>
          </p:cNvCxnSpPr>
          <p:nvPr/>
        </p:nvCxnSpPr>
        <p:spPr>
          <a:xfrm>
            <a:off x="12447980" y="13216345"/>
            <a:ext cx="1377" cy="318582"/>
          </a:xfrm>
          <a:prstGeom prst="line">
            <a:avLst/>
          </a:prstGeom>
          <a:ln w="6985">
            <a:solidFill>
              <a:srgbClr val="E7702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0" name="Connector 199"/>
          <p:cNvCxnSpPr>
            <a:stCxn id="191" idx="2"/>
            <a:endCxn id="193" idx="0"/>
          </p:cNvCxnSpPr>
          <p:nvPr/>
        </p:nvCxnSpPr>
        <p:spPr>
          <a:xfrm>
            <a:off x="12449357" y="13827666"/>
            <a:ext cx="2058" cy="187880"/>
          </a:xfrm>
          <a:prstGeom prst="line">
            <a:avLst/>
          </a:prstGeom>
          <a:ln w="6985">
            <a:solidFill>
              <a:srgbClr val="E7702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1" name="Rounded Rectangle 200"/>
          <p:cNvSpPr/>
          <p:nvPr/>
        </p:nvSpPr>
        <p:spPr>
          <a:xfrm>
            <a:off x="15945567" y="10301659"/>
            <a:ext cx="951974" cy="329331"/>
          </a:xfrm>
          <a:prstGeom prst="roundRect">
            <a:avLst/>
          </a:prstGeom>
          <a:solidFill>
            <a:srgbClr val="F4F0FF"/>
          </a:solidFill>
          <a:ln w="7620">
            <a:solidFill>
              <a:srgbClr val="623F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83017" tIns="91509" rIns="183017" bIns="91509" rtlCol="0" anchor="ctr"/>
          <a:lstStyle/>
          <a:p>
            <a:pPr algn="ctr"/>
            <a:endParaRPr/>
          </a:p>
        </p:txBody>
      </p:sp>
      <p:sp>
        <p:nvSpPr>
          <p:cNvPr id="202" name="TextBox 201"/>
          <p:cNvSpPr txBox="1"/>
          <p:nvPr/>
        </p:nvSpPr>
        <p:spPr>
          <a:xfrm>
            <a:off x="16164798" y="10333940"/>
            <a:ext cx="513512" cy="264771"/>
          </a:xfrm>
          <a:prstGeom prst="rect">
            <a:avLst/>
          </a:prstGeom>
          <a:noFill/>
        </p:spPr>
        <p:txBody>
          <a:bodyPr wrap="none" lIns="109810" tIns="54905" rIns="109810" bIns="54905" anchor="ctr">
            <a:spAutoFit/>
          </a:bodyPr>
          <a:lstStyle/>
          <a:p>
            <a:pPr algn="ctr">
              <a:defRPr sz="400" b="1">
                <a:solidFill>
                  <a:srgbClr val="08122B"/>
                </a:solidFill>
                <a:latin typeface="Arial"/>
              </a:defRPr>
            </a:pPr>
            <a:r>
              <a:rPr sz="1000"/>
              <a:t>Start</a:t>
            </a:r>
          </a:p>
        </p:txBody>
      </p:sp>
      <p:sp>
        <p:nvSpPr>
          <p:cNvPr id="203" name="Parallelogram 202"/>
          <p:cNvSpPr/>
          <p:nvPr/>
        </p:nvSpPr>
        <p:spPr>
          <a:xfrm>
            <a:off x="15945567" y="10813952"/>
            <a:ext cx="1006896" cy="329331"/>
          </a:xfrm>
          <a:prstGeom prst="parallelogram">
            <a:avLst/>
          </a:prstGeom>
          <a:solidFill>
            <a:srgbClr val="F4F0FF"/>
          </a:solidFill>
          <a:ln w="7620">
            <a:solidFill>
              <a:srgbClr val="623F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83017" tIns="91509" rIns="183017" bIns="91509" rtlCol="0" anchor="ctr"/>
          <a:lstStyle/>
          <a:p>
            <a:pPr algn="ctr"/>
            <a:endParaRPr/>
          </a:p>
        </p:txBody>
      </p:sp>
      <p:sp>
        <p:nvSpPr>
          <p:cNvPr id="204" name="TextBox 203"/>
          <p:cNvSpPr txBox="1"/>
          <p:nvPr/>
        </p:nvSpPr>
        <p:spPr>
          <a:xfrm>
            <a:off x="16033902" y="10846232"/>
            <a:ext cx="944720" cy="264771"/>
          </a:xfrm>
          <a:prstGeom prst="rect">
            <a:avLst/>
          </a:prstGeom>
          <a:noFill/>
        </p:spPr>
        <p:txBody>
          <a:bodyPr wrap="none" lIns="109810" tIns="54905" rIns="109810" bIns="54905" anchor="ctr">
            <a:spAutoFit/>
          </a:bodyPr>
          <a:lstStyle/>
          <a:p>
            <a:pPr>
              <a:defRPr sz="570" b="0">
                <a:solidFill>
                  <a:srgbClr val="08122B"/>
                </a:solidFill>
                <a:latin typeface="Arial"/>
              </a:defRPr>
            </a:pPr>
            <a:r>
              <a:rPr lang="en-US" sz="1000" dirty="0"/>
              <a:t>n = INPUT() </a:t>
            </a:r>
            <a:endParaRPr lang="en-US" sz="1000" dirty="0"/>
          </a:p>
        </p:txBody>
      </p:sp>
      <p:sp>
        <p:nvSpPr>
          <p:cNvPr id="205" name="Rectangle 204"/>
          <p:cNvSpPr/>
          <p:nvPr/>
        </p:nvSpPr>
        <p:spPr>
          <a:xfrm>
            <a:off x="15945567" y="11326244"/>
            <a:ext cx="1098432" cy="329331"/>
          </a:xfrm>
          <a:prstGeom prst="rect">
            <a:avLst/>
          </a:prstGeom>
          <a:solidFill>
            <a:srgbClr val="F4F0FF"/>
          </a:solidFill>
          <a:ln w="7620">
            <a:solidFill>
              <a:srgbClr val="623F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83017" tIns="91509" rIns="183017" bIns="91509" rtlCol="0" anchor="ctr"/>
          <a:lstStyle/>
          <a:p>
            <a:pPr algn="ctr"/>
            <a:endParaRPr/>
          </a:p>
        </p:txBody>
      </p:sp>
      <p:sp>
        <p:nvSpPr>
          <p:cNvPr id="206" name="TextBox 205"/>
          <p:cNvSpPr txBox="1"/>
          <p:nvPr/>
        </p:nvSpPr>
        <p:spPr>
          <a:xfrm>
            <a:off x="16015210" y="11358524"/>
            <a:ext cx="959147" cy="264771"/>
          </a:xfrm>
          <a:prstGeom prst="rect">
            <a:avLst/>
          </a:prstGeom>
          <a:noFill/>
        </p:spPr>
        <p:txBody>
          <a:bodyPr wrap="none" lIns="109810" tIns="54905" rIns="109810" bIns="54905" anchor="ctr">
            <a:spAutoFit/>
          </a:bodyPr>
          <a:lstStyle/>
          <a:p>
            <a:pPr algn="ctr">
              <a:defRPr sz="400" b="0">
                <a:solidFill>
                  <a:srgbClr val="08122B"/>
                </a:solidFill>
                <a:latin typeface="Arial"/>
              </a:defRPr>
            </a:pPr>
            <a:r>
              <a:rPr sz="1000"/>
              <a:t>fact = 1, i = 1</a:t>
            </a:r>
          </a:p>
        </p:txBody>
      </p:sp>
      <p:sp>
        <p:nvSpPr>
          <p:cNvPr id="207" name="Diamond 206"/>
          <p:cNvSpPr/>
          <p:nvPr/>
        </p:nvSpPr>
        <p:spPr>
          <a:xfrm>
            <a:off x="16083614" y="11948313"/>
            <a:ext cx="823824" cy="512292"/>
          </a:xfrm>
          <a:prstGeom prst="diamond">
            <a:avLst/>
          </a:prstGeom>
          <a:solidFill>
            <a:srgbClr val="F4F0FF"/>
          </a:solidFill>
          <a:ln w="7620">
            <a:solidFill>
              <a:srgbClr val="623F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83017" tIns="91509" rIns="183017" bIns="91509" rtlCol="0" anchor="ctr"/>
          <a:lstStyle/>
          <a:p>
            <a:pPr algn="ctr"/>
            <a:endParaRPr/>
          </a:p>
        </p:txBody>
      </p:sp>
      <p:sp>
        <p:nvSpPr>
          <p:cNvPr id="208" name="TextBox 207"/>
          <p:cNvSpPr txBox="1"/>
          <p:nvPr/>
        </p:nvSpPr>
        <p:spPr>
          <a:xfrm>
            <a:off x="16183188" y="12083833"/>
            <a:ext cx="648164" cy="264771"/>
          </a:xfrm>
          <a:prstGeom prst="rect">
            <a:avLst/>
          </a:prstGeom>
          <a:noFill/>
        </p:spPr>
        <p:txBody>
          <a:bodyPr wrap="none" lIns="109810" tIns="54905" rIns="109810" bIns="54905" anchor="ctr">
            <a:spAutoFit/>
          </a:bodyPr>
          <a:lstStyle/>
          <a:p>
            <a:pPr algn="ctr">
              <a:defRPr sz="400" b="0">
                <a:solidFill>
                  <a:srgbClr val="08122B"/>
                </a:solidFill>
                <a:latin typeface="Arial"/>
              </a:defRPr>
            </a:pPr>
            <a:r>
              <a:rPr sz="1000" dirty="0"/>
              <a:t>i &lt;= n ?</a:t>
            </a:r>
          </a:p>
        </p:txBody>
      </p:sp>
      <p:sp>
        <p:nvSpPr>
          <p:cNvPr id="209" name="Rectangle 208"/>
          <p:cNvSpPr/>
          <p:nvPr/>
        </p:nvSpPr>
        <p:spPr>
          <a:xfrm>
            <a:off x="17135535" y="12437677"/>
            <a:ext cx="1098432" cy="548884"/>
          </a:xfrm>
          <a:prstGeom prst="rect">
            <a:avLst/>
          </a:prstGeom>
          <a:solidFill>
            <a:srgbClr val="F4F0FF"/>
          </a:solidFill>
          <a:ln w="7620">
            <a:solidFill>
              <a:srgbClr val="623F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83017" tIns="91509" rIns="183017" bIns="91509" rtlCol="0" anchor="ctr"/>
          <a:lstStyle/>
          <a:p>
            <a:pPr algn="ctr"/>
            <a:endParaRPr/>
          </a:p>
        </p:txBody>
      </p:sp>
      <p:sp>
        <p:nvSpPr>
          <p:cNvPr id="210" name="TextBox 209"/>
          <p:cNvSpPr txBox="1"/>
          <p:nvPr/>
        </p:nvSpPr>
        <p:spPr>
          <a:xfrm>
            <a:off x="17221207" y="12502787"/>
            <a:ext cx="927087" cy="418659"/>
          </a:xfrm>
          <a:prstGeom prst="rect">
            <a:avLst/>
          </a:prstGeom>
          <a:noFill/>
        </p:spPr>
        <p:txBody>
          <a:bodyPr wrap="none" lIns="109810" tIns="54905" rIns="109810" bIns="54905" anchor="ctr">
            <a:spAutoFit/>
          </a:bodyPr>
          <a:lstStyle/>
          <a:p>
            <a:pPr algn="ctr">
              <a:defRPr sz="400" b="0">
                <a:solidFill>
                  <a:srgbClr val="08122B"/>
                </a:solidFill>
                <a:latin typeface="Arial"/>
              </a:defRPr>
            </a:pPr>
            <a:r>
              <a:rPr sz="1000" dirty="0"/>
              <a:t>fact = </a:t>
            </a:r>
            <a:r>
              <a:rPr lang="en-GB" sz="1000" dirty="0" smtClean="0"/>
              <a:t>f</a:t>
            </a:r>
            <a:r>
              <a:rPr sz="1000" dirty="0" smtClean="0"/>
              <a:t>act </a:t>
            </a:r>
            <a:r>
              <a:rPr sz="1000" dirty="0"/>
              <a:t>* i</a:t>
            </a:r>
            <a:br>
              <a:rPr sz="1000" dirty="0"/>
            </a:br>
            <a:r>
              <a:rPr sz="1000" dirty="0" err="1"/>
              <a:t>i</a:t>
            </a:r>
            <a:r>
              <a:rPr sz="1000" dirty="0"/>
              <a:t> = i + 1</a:t>
            </a:r>
          </a:p>
        </p:txBody>
      </p:sp>
      <p:sp>
        <p:nvSpPr>
          <p:cNvPr id="211" name="Parallelogram 210"/>
          <p:cNvSpPr/>
          <p:nvPr/>
        </p:nvSpPr>
        <p:spPr>
          <a:xfrm>
            <a:off x="15989161" y="12972897"/>
            <a:ext cx="1006896" cy="329331"/>
          </a:xfrm>
          <a:prstGeom prst="parallelogram">
            <a:avLst/>
          </a:prstGeom>
          <a:solidFill>
            <a:srgbClr val="F4F0FF"/>
          </a:solidFill>
          <a:ln w="7620">
            <a:solidFill>
              <a:srgbClr val="623F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83017" tIns="91509" rIns="183017" bIns="91509" rtlCol="0" anchor="ctr"/>
          <a:lstStyle/>
          <a:p>
            <a:pPr algn="ctr"/>
            <a:endParaRPr/>
          </a:p>
        </p:txBody>
      </p:sp>
      <p:sp>
        <p:nvSpPr>
          <p:cNvPr id="212" name="TextBox 211"/>
          <p:cNvSpPr txBox="1"/>
          <p:nvPr/>
        </p:nvSpPr>
        <p:spPr>
          <a:xfrm>
            <a:off x="16109321" y="13005177"/>
            <a:ext cx="795641" cy="264771"/>
          </a:xfrm>
          <a:prstGeom prst="rect">
            <a:avLst/>
          </a:prstGeom>
          <a:noFill/>
        </p:spPr>
        <p:txBody>
          <a:bodyPr wrap="none" lIns="109810" tIns="54905" rIns="109810" bIns="54905" anchor="ctr">
            <a:spAutoFit/>
          </a:bodyPr>
          <a:lstStyle/>
          <a:p>
            <a:pPr algn="ctr">
              <a:defRPr sz="400" b="0">
                <a:solidFill>
                  <a:srgbClr val="08122B"/>
                </a:solidFill>
                <a:latin typeface="Arial"/>
              </a:defRPr>
            </a:pPr>
            <a:r>
              <a:rPr lang="en-GB" sz="1000" dirty="0"/>
              <a:t>[</a:t>
            </a:r>
            <a:r>
              <a:rPr sz="1000" dirty="0" smtClean="0"/>
              <a:t>Print</a:t>
            </a:r>
            <a:r>
              <a:rPr lang="en-GB" sz="1000" dirty="0" smtClean="0"/>
              <a:t>]</a:t>
            </a:r>
            <a:r>
              <a:rPr sz="1000" dirty="0" smtClean="0"/>
              <a:t> </a:t>
            </a:r>
            <a:r>
              <a:rPr sz="1000" dirty="0"/>
              <a:t>fact</a:t>
            </a:r>
          </a:p>
        </p:txBody>
      </p:sp>
      <p:sp>
        <p:nvSpPr>
          <p:cNvPr id="213" name="Rounded Rectangle 212"/>
          <p:cNvSpPr/>
          <p:nvPr/>
        </p:nvSpPr>
        <p:spPr>
          <a:xfrm>
            <a:off x="16018223" y="13558374"/>
            <a:ext cx="951974" cy="329331"/>
          </a:xfrm>
          <a:prstGeom prst="roundRect">
            <a:avLst/>
          </a:prstGeom>
          <a:solidFill>
            <a:srgbClr val="F4F0FF"/>
          </a:solidFill>
          <a:ln w="7620">
            <a:solidFill>
              <a:srgbClr val="623F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83017" tIns="91509" rIns="183017" bIns="91509" rtlCol="0" anchor="ctr"/>
          <a:lstStyle/>
          <a:p>
            <a:pPr algn="ctr"/>
            <a:endParaRPr/>
          </a:p>
        </p:txBody>
      </p:sp>
      <p:sp>
        <p:nvSpPr>
          <p:cNvPr id="214" name="TextBox 213"/>
          <p:cNvSpPr txBox="1"/>
          <p:nvPr/>
        </p:nvSpPr>
        <p:spPr>
          <a:xfrm>
            <a:off x="16259948" y="13590654"/>
            <a:ext cx="483055" cy="264771"/>
          </a:xfrm>
          <a:prstGeom prst="rect">
            <a:avLst/>
          </a:prstGeom>
          <a:noFill/>
        </p:spPr>
        <p:txBody>
          <a:bodyPr wrap="none" lIns="109810" tIns="54905" rIns="109810" bIns="54905" anchor="ctr">
            <a:spAutoFit/>
          </a:bodyPr>
          <a:lstStyle/>
          <a:p>
            <a:pPr algn="ctr">
              <a:defRPr sz="400" b="0">
                <a:solidFill>
                  <a:srgbClr val="08122B"/>
                </a:solidFill>
                <a:latin typeface="Arial"/>
              </a:defRPr>
            </a:pPr>
            <a:r>
              <a:rPr sz="1000" dirty="0"/>
              <a:t>Stop</a:t>
            </a:r>
          </a:p>
        </p:txBody>
      </p:sp>
      <p:cxnSp>
        <p:nvCxnSpPr>
          <p:cNvPr id="215" name="Connector 214"/>
          <p:cNvCxnSpPr/>
          <p:nvPr/>
        </p:nvCxnSpPr>
        <p:spPr>
          <a:xfrm>
            <a:off x="16421554" y="10630990"/>
            <a:ext cx="0" cy="182961"/>
          </a:xfrm>
          <a:prstGeom prst="line">
            <a:avLst/>
          </a:prstGeom>
          <a:ln w="6985">
            <a:solidFill>
              <a:srgbClr val="623F9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6" name="Connector 215"/>
          <p:cNvCxnSpPr/>
          <p:nvPr/>
        </p:nvCxnSpPr>
        <p:spPr>
          <a:xfrm>
            <a:off x="16421554" y="11143283"/>
            <a:ext cx="0" cy="182961"/>
          </a:xfrm>
          <a:prstGeom prst="line">
            <a:avLst/>
          </a:prstGeom>
          <a:ln w="6985">
            <a:solidFill>
              <a:srgbClr val="623F9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7" name="Connector 216"/>
          <p:cNvCxnSpPr>
            <a:stCxn id="205" idx="2"/>
            <a:endCxn id="207" idx="0"/>
          </p:cNvCxnSpPr>
          <p:nvPr/>
        </p:nvCxnSpPr>
        <p:spPr>
          <a:xfrm>
            <a:off x="16494784" y="11655575"/>
            <a:ext cx="743" cy="292738"/>
          </a:xfrm>
          <a:prstGeom prst="line">
            <a:avLst/>
          </a:prstGeom>
          <a:ln w="6985">
            <a:solidFill>
              <a:srgbClr val="623F9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8" name="Connector 217"/>
          <p:cNvCxnSpPr>
            <a:stCxn id="207" idx="3"/>
            <a:endCxn id="209" idx="0"/>
          </p:cNvCxnSpPr>
          <p:nvPr/>
        </p:nvCxnSpPr>
        <p:spPr>
          <a:xfrm>
            <a:off x="16907439" y="12204460"/>
            <a:ext cx="777313" cy="233218"/>
          </a:xfrm>
          <a:prstGeom prst="line">
            <a:avLst/>
          </a:prstGeom>
          <a:ln w="6985">
            <a:solidFill>
              <a:srgbClr val="623F9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9" name="TextBox 218"/>
          <p:cNvSpPr txBox="1"/>
          <p:nvPr/>
        </p:nvSpPr>
        <p:spPr>
          <a:xfrm>
            <a:off x="17111706" y="12059272"/>
            <a:ext cx="441377" cy="264771"/>
          </a:xfrm>
          <a:prstGeom prst="rect">
            <a:avLst/>
          </a:prstGeom>
          <a:noFill/>
        </p:spPr>
        <p:txBody>
          <a:bodyPr wrap="none" lIns="109810" tIns="54905" rIns="109810" bIns="54905" anchor="t">
            <a:spAutoFit/>
          </a:bodyPr>
          <a:lstStyle/>
          <a:p>
            <a:pPr algn="ctr">
              <a:defRPr sz="420" b="0">
                <a:solidFill>
                  <a:srgbClr val="08122B"/>
                </a:solidFill>
                <a:latin typeface="Arial"/>
              </a:defRPr>
            </a:pPr>
            <a:r>
              <a:rPr sz="1000" dirty="0"/>
              <a:t>Yes</a:t>
            </a:r>
          </a:p>
        </p:txBody>
      </p:sp>
      <p:cxnSp>
        <p:nvCxnSpPr>
          <p:cNvPr id="220" name="Connector 219"/>
          <p:cNvCxnSpPr>
            <a:stCxn id="207" idx="2"/>
            <a:endCxn id="211" idx="0"/>
          </p:cNvCxnSpPr>
          <p:nvPr/>
        </p:nvCxnSpPr>
        <p:spPr>
          <a:xfrm flipH="1">
            <a:off x="16492610" y="12460605"/>
            <a:ext cx="2917" cy="512292"/>
          </a:xfrm>
          <a:prstGeom prst="line">
            <a:avLst/>
          </a:prstGeom>
          <a:ln w="6985">
            <a:solidFill>
              <a:srgbClr val="623F9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1" name="TextBox 220"/>
          <p:cNvSpPr txBox="1"/>
          <p:nvPr/>
        </p:nvSpPr>
        <p:spPr>
          <a:xfrm>
            <a:off x="16453526" y="12588678"/>
            <a:ext cx="385272" cy="264771"/>
          </a:xfrm>
          <a:prstGeom prst="rect">
            <a:avLst/>
          </a:prstGeom>
          <a:noFill/>
        </p:spPr>
        <p:txBody>
          <a:bodyPr wrap="none" lIns="109810" tIns="54905" rIns="109810" bIns="54905" anchor="t">
            <a:spAutoFit/>
          </a:bodyPr>
          <a:lstStyle/>
          <a:p>
            <a:pPr algn="ctr">
              <a:defRPr sz="420" b="0">
                <a:solidFill>
                  <a:srgbClr val="08122B"/>
                </a:solidFill>
                <a:latin typeface="Arial"/>
              </a:defRPr>
            </a:pPr>
            <a:r>
              <a:rPr sz="1000" dirty="0"/>
              <a:t>No</a:t>
            </a:r>
          </a:p>
        </p:txBody>
      </p:sp>
      <p:cxnSp>
        <p:nvCxnSpPr>
          <p:cNvPr id="222" name="Connector 221"/>
          <p:cNvCxnSpPr>
            <a:stCxn id="211" idx="4"/>
            <a:endCxn id="213" idx="0"/>
          </p:cNvCxnSpPr>
          <p:nvPr/>
        </p:nvCxnSpPr>
        <p:spPr>
          <a:xfrm>
            <a:off x="16492609" y="13302228"/>
            <a:ext cx="1602" cy="256146"/>
          </a:xfrm>
          <a:prstGeom prst="line">
            <a:avLst/>
          </a:prstGeom>
          <a:ln w="6985">
            <a:solidFill>
              <a:srgbClr val="623F9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3" name="TextBox 222"/>
          <p:cNvSpPr txBox="1"/>
          <p:nvPr/>
        </p:nvSpPr>
        <p:spPr>
          <a:xfrm>
            <a:off x="18947948" y="10905433"/>
            <a:ext cx="2088430" cy="2696205"/>
          </a:xfrm>
          <a:prstGeom prst="rect">
            <a:avLst/>
          </a:prstGeom>
          <a:noFill/>
        </p:spPr>
        <p:txBody>
          <a:bodyPr wrap="none" lIns="109810" tIns="54905" rIns="109810" bIns="54905" anchor="t">
            <a:spAutoFit/>
          </a:bodyPr>
          <a:lstStyle/>
          <a:p>
            <a:r>
              <a:rPr lang="en-US" sz="2400" dirty="0"/>
              <a:t>n = int(input())</a:t>
            </a:r>
            <a:br>
              <a:rPr lang="en-US" sz="2400" dirty="0"/>
            </a:br>
            <a:r>
              <a:rPr lang="en-US" sz="2400" dirty="0"/>
              <a:t>fact = 1</a:t>
            </a:r>
            <a:br>
              <a:rPr lang="en-US" sz="2400" dirty="0"/>
            </a:br>
            <a:r>
              <a:rPr lang="en-US" sz="2400" dirty="0"/>
              <a:t>i = 1</a:t>
            </a:r>
            <a:br>
              <a:rPr lang="en-US" sz="2400" dirty="0"/>
            </a:br>
            <a:r>
              <a:rPr lang="en-US" sz="2400" dirty="0"/>
              <a:t>while i &lt;= n:</a:t>
            </a:r>
            <a:br>
              <a:rPr lang="en-US" sz="2400" dirty="0"/>
            </a:br>
            <a:r>
              <a:rPr lang="en-US" sz="2400" dirty="0"/>
              <a:t>    fact = fact * i</a:t>
            </a:r>
            <a:br>
              <a:rPr lang="en-US" sz="2400" dirty="0"/>
            </a:br>
            <a:r>
              <a:rPr lang="en-US" sz="2400" dirty="0"/>
              <a:t>    </a:t>
            </a:r>
            <a:r>
              <a:rPr lang="en-US" sz="2400" dirty="0"/>
              <a:t>i = i + 1</a:t>
            </a:r>
            <a:br>
              <a:rPr lang="en-US" sz="2400" dirty="0"/>
            </a:br>
            <a:r>
              <a:rPr lang="en-US" sz="2400" dirty="0"/>
              <a:t>print(fact)</a:t>
            </a:r>
          </a:p>
        </p:txBody>
      </p:sp>
      <p:sp>
        <p:nvSpPr>
          <p:cNvPr id="224" name="TextBox 223"/>
          <p:cNvSpPr txBox="1"/>
          <p:nvPr/>
        </p:nvSpPr>
        <p:spPr>
          <a:xfrm>
            <a:off x="21895406" y="11106690"/>
            <a:ext cx="2331317" cy="2080652"/>
          </a:xfrm>
          <a:prstGeom prst="rect">
            <a:avLst/>
          </a:prstGeom>
          <a:noFill/>
        </p:spPr>
        <p:txBody>
          <a:bodyPr wrap="none" lIns="109810" tIns="54905" rIns="109810" bIns="54905" anchor="t">
            <a:spAutoFit/>
          </a:bodyPr>
          <a:lstStyle/>
          <a:p>
            <a:pPr algn="l">
              <a:defRPr sz="590" b="1">
                <a:solidFill>
                  <a:srgbClr val="08122B"/>
                </a:solidFill>
                <a:latin typeface="Arial"/>
              </a:defRPr>
            </a:pPr>
            <a:r>
              <a:rPr sz="1600" dirty="0"/>
              <a:t>Input: 5</a:t>
            </a:r>
            <a:br>
              <a:rPr sz="1600" dirty="0"/>
            </a:br>
            <a:r>
              <a:rPr sz="1600" dirty="0"/>
              <a:t/>
            </a:r>
            <a:br>
              <a:rPr sz="1600" dirty="0"/>
            </a:br>
            <a:r>
              <a:rPr sz="1600" dirty="0"/>
              <a:t>Expected Output: 120</a:t>
            </a:r>
            <a:br>
              <a:rPr sz="1600" dirty="0"/>
            </a:br>
            <a:r>
              <a:rPr sz="1600" dirty="0"/>
              <a:t/>
            </a:r>
            <a:br>
              <a:rPr sz="1600" dirty="0"/>
            </a:br>
            <a:r>
              <a:rPr sz="1600" dirty="0"/>
              <a:t>Actual Output: 120</a:t>
            </a:r>
            <a:br>
              <a:rPr sz="1600" dirty="0"/>
            </a:br>
            <a:r>
              <a:rPr sz="1600" dirty="0"/>
              <a:t/>
            </a:r>
            <a:br>
              <a:rPr sz="1600" dirty="0"/>
            </a:br>
            <a:r>
              <a:rPr sz="1600" dirty="0"/>
              <a:t/>
            </a:r>
            <a:br>
              <a:rPr sz="1600" dirty="0"/>
            </a:br>
            <a:r>
              <a:rPr sz="1600" dirty="0"/>
              <a:t>Result:  ✓ PASS</a:t>
            </a:r>
          </a:p>
        </p:txBody>
      </p:sp>
      <p:sp>
        <p:nvSpPr>
          <p:cNvPr id="225" name="TextBox 224"/>
          <p:cNvSpPr txBox="1"/>
          <p:nvPr/>
        </p:nvSpPr>
        <p:spPr>
          <a:xfrm>
            <a:off x="22442994" y="13745958"/>
            <a:ext cx="1231849" cy="418659"/>
          </a:xfrm>
          <a:prstGeom prst="rect">
            <a:avLst/>
          </a:prstGeom>
          <a:noFill/>
        </p:spPr>
        <p:txBody>
          <a:bodyPr wrap="none" lIns="109810" tIns="54905" rIns="109810" bIns="54905" anchor="t">
            <a:spAutoFit/>
          </a:bodyPr>
          <a:lstStyle/>
          <a:p>
            <a:pPr algn="l">
              <a:defRPr sz="620" b="1">
                <a:solidFill>
                  <a:srgbClr val="1C8544"/>
                </a:solidFill>
                <a:latin typeface="Arial"/>
              </a:defRPr>
            </a:pPr>
            <a:r>
              <a:rPr sz="2000" dirty="0"/>
              <a:t>✓ PASS</a:t>
            </a:r>
          </a:p>
        </p:txBody>
      </p:sp>
      <p:sp>
        <p:nvSpPr>
          <p:cNvPr id="226" name="Rectangle 225"/>
          <p:cNvSpPr/>
          <p:nvPr/>
        </p:nvSpPr>
        <p:spPr>
          <a:xfrm>
            <a:off x="6077991" y="14902580"/>
            <a:ext cx="18581803" cy="3073753"/>
          </a:xfrm>
          <a:prstGeom prst="rect">
            <a:avLst/>
          </a:prstGeom>
          <a:solidFill>
            <a:srgbClr val="FFFFFF"/>
          </a:solidFill>
          <a:ln w="10160">
            <a:solidFill>
              <a:srgbClr val="A4B8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83017" tIns="91509" rIns="183017" bIns="91509" rtlCol="0" anchor="ctr"/>
          <a:lstStyle/>
          <a:p>
            <a:pPr algn="ctr"/>
            <a:endParaRPr/>
          </a:p>
        </p:txBody>
      </p:sp>
      <p:cxnSp>
        <p:nvCxnSpPr>
          <p:cNvPr id="227" name="Connector 226"/>
          <p:cNvCxnSpPr/>
          <p:nvPr/>
        </p:nvCxnSpPr>
        <p:spPr>
          <a:xfrm>
            <a:off x="12393971" y="15350976"/>
            <a:ext cx="0" cy="2122353"/>
          </a:xfrm>
          <a:prstGeom prst="line">
            <a:avLst/>
          </a:prstGeom>
          <a:ln w="10160">
            <a:solidFill>
              <a:srgbClr val="A4B8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8" name="Connector 227"/>
          <p:cNvCxnSpPr/>
          <p:nvPr/>
        </p:nvCxnSpPr>
        <p:spPr>
          <a:xfrm>
            <a:off x="18746568" y="15338275"/>
            <a:ext cx="0" cy="2144585"/>
          </a:xfrm>
          <a:prstGeom prst="line">
            <a:avLst/>
          </a:prstGeom>
          <a:ln w="10160">
            <a:solidFill>
              <a:srgbClr val="A4B8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9" name="TextBox 228"/>
          <p:cNvSpPr txBox="1"/>
          <p:nvPr/>
        </p:nvSpPr>
        <p:spPr>
          <a:xfrm>
            <a:off x="6379011" y="15002759"/>
            <a:ext cx="569617" cy="480214"/>
          </a:xfrm>
          <a:prstGeom prst="rect">
            <a:avLst/>
          </a:prstGeom>
          <a:noFill/>
        </p:spPr>
        <p:txBody>
          <a:bodyPr wrap="none" lIns="109810" tIns="54905" rIns="109810" bIns="54905" anchor="t">
            <a:spAutoFit/>
          </a:bodyPr>
          <a:lstStyle/>
          <a:p>
            <a:pPr algn="ctr">
              <a:defRPr sz="1400" b="1">
                <a:solidFill>
                  <a:srgbClr val="003078"/>
                </a:solidFill>
                <a:latin typeface="Arial"/>
              </a:defRPr>
            </a:pPr>
            <a:r>
              <a:rPr sz="2400" dirty="0"/>
              <a:t>⚙</a:t>
            </a:r>
          </a:p>
        </p:txBody>
      </p:sp>
      <p:sp>
        <p:nvSpPr>
          <p:cNvPr id="230" name="TextBox 229"/>
          <p:cNvSpPr txBox="1"/>
          <p:nvPr/>
        </p:nvSpPr>
        <p:spPr>
          <a:xfrm>
            <a:off x="7233637" y="15084291"/>
            <a:ext cx="3299595" cy="387881"/>
          </a:xfrm>
          <a:prstGeom prst="rect">
            <a:avLst/>
          </a:prstGeom>
          <a:noFill/>
        </p:spPr>
        <p:txBody>
          <a:bodyPr wrap="none" lIns="109810" tIns="54905" rIns="109810" bIns="54905" anchor="t">
            <a:spAutoFit/>
          </a:bodyPr>
          <a:lstStyle/>
          <a:p>
            <a:pPr algn="l">
              <a:defRPr sz="830" b="1">
                <a:solidFill>
                  <a:srgbClr val="003078"/>
                </a:solidFill>
                <a:latin typeface="Arial"/>
              </a:defRPr>
            </a:pPr>
            <a:r>
              <a:rPr sz="1800" dirty="0"/>
              <a:t>METHODOLOGY </a:t>
            </a:r>
            <a:r>
              <a:rPr lang="en-GB" sz="1800" dirty="0" smtClean="0"/>
              <a:t>SUMMARY</a:t>
            </a:r>
            <a:endParaRPr lang="en-GB" sz="1800" dirty="0"/>
          </a:p>
        </p:txBody>
      </p:sp>
      <p:sp>
        <p:nvSpPr>
          <p:cNvPr id="231" name="TextBox 230"/>
          <p:cNvSpPr txBox="1"/>
          <p:nvPr/>
        </p:nvSpPr>
        <p:spPr>
          <a:xfrm>
            <a:off x="7291663" y="15675169"/>
            <a:ext cx="5217551" cy="2072362"/>
          </a:xfrm>
          <a:prstGeom prst="rect">
            <a:avLst/>
          </a:prstGeom>
          <a:noFill/>
        </p:spPr>
        <p:txBody>
          <a:bodyPr wrap="square" lIns="18302" tIns="0" rIns="18302" bIns="0">
            <a:spAutoFit/>
          </a:bodyPr>
          <a:lstStyle/>
          <a:p>
            <a:pPr>
              <a:spcAft>
                <a:spcPts val="400"/>
              </a:spcAft>
              <a:defRPr sz="540">
                <a:solidFill>
                  <a:srgbClr val="08122B"/>
                </a:solidFill>
                <a:latin typeface="Arial"/>
              </a:defRPr>
            </a:pPr>
            <a:r>
              <a:rPr sz="1200" b="1" dirty="0"/>
              <a:t>•  Experimental and comparative research </a:t>
            </a:r>
            <a:r>
              <a:rPr sz="1200" b="1" dirty="0" smtClean="0"/>
              <a:t>design</a:t>
            </a:r>
            <a:endParaRPr lang="en-GB" sz="1200" b="1" dirty="0" smtClean="0"/>
          </a:p>
          <a:p>
            <a:pPr>
              <a:spcAft>
                <a:spcPts val="400"/>
              </a:spcAft>
              <a:defRPr sz="540">
                <a:solidFill>
                  <a:srgbClr val="08122B"/>
                </a:solidFill>
                <a:latin typeface="Arial"/>
              </a:defRPr>
            </a:pPr>
            <a:endParaRPr sz="1200" b="1" dirty="0"/>
          </a:p>
          <a:p>
            <a:pPr>
              <a:spcAft>
                <a:spcPts val="400"/>
              </a:spcAft>
              <a:defRPr sz="540">
                <a:solidFill>
                  <a:srgbClr val="08122B"/>
                </a:solidFill>
                <a:latin typeface="Arial"/>
              </a:defRPr>
            </a:pPr>
            <a:r>
              <a:rPr sz="1200" b="1" dirty="0"/>
              <a:t>•  Multi-stage pipeline </a:t>
            </a:r>
            <a:r>
              <a:rPr sz="1200" b="1" dirty="0" smtClean="0"/>
              <a:t>implementation</a:t>
            </a:r>
            <a:endParaRPr lang="en-GB" sz="1200" b="1" dirty="0" smtClean="0"/>
          </a:p>
          <a:p>
            <a:pPr>
              <a:spcAft>
                <a:spcPts val="400"/>
              </a:spcAft>
              <a:defRPr sz="540">
                <a:solidFill>
                  <a:srgbClr val="08122B"/>
                </a:solidFill>
                <a:latin typeface="Arial"/>
              </a:defRPr>
            </a:pPr>
            <a:endParaRPr sz="1200" b="1" dirty="0"/>
          </a:p>
          <a:p>
            <a:pPr>
              <a:spcAft>
                <a:spcPts val="400"/>
              </a:spcAft>
              <a:defRPr sz="540">
                <a:solidFill>
                  <a:srgbClr val="08122B"/>
                </a:solidFill>
                <a:latin typeface="Arial"/>
              </a:defRPr>
            </a:pPr>
            <a:r>
              <a:rPr sz="1200" b="1" dirty="0"/>
              <a:t>•  Quantitative evaluation at each </a:t>
            </a:r>
            <a:r>
              <a:rPr sz="1200" b="1" dirty="0" smtClean="0"/>
              <a:t>stage</a:t>
            </a:r>
            <a:endParaRPr lang="en-GB" sz="1200" b="1" dirty="0" smtClean="0"/>
          </a:p>
          <a:p>
            <a:pPr>
              <a:spcAft>
                <a:spcPts val="400"/>
              </a:spcAft>
              <a:defRPr sz="540">
                <a:solidFill>
                  <a:srgbClr val="08122B"/>
                </a:solidFill>
                <a:latin typeface="Arial"/>
              </a:defRPr>
            </a:pPr>
            <a:endParaRPr sz="1200" b="1" dirty="0"/>
          </a:p>
          <a:p>
            <a:pPr>
              <a:spcAft>
                <a:spcPts val="400"/>
              </a:spcAft>
              <a:defRPr sz="540">
                <a:solidFill>
                  <a:srgbClr val="08122B"/>
                </a:solidFill>
                <a:latin typeface="Arial"/>
              </a:defRPr>
            </a:pPr>
            <a:r>
              <a:rPr sz="1200" b="1" dirty="0"/>
              <a:t>•  Qualitative error </a:t>
            </a:r>
            <a:r>
              <a:rPr sz="1200" b="1" dirty="0" smtClean="0"/>
              <a:t>analysis</a:t>
            </a:r>
            <a:endParaRPr lang="en-GB" sz="1200" b="1" dirty="0" smtClean="0"/>
          </a:p>
          <a:p>
            <a:pPr>
              <a:spcAft>
                <a:spcPts val="400"/>
              </a:spcAft>
              <a:defRPr sz="540">
                <a:solidFill>
                  <a:srgbClr val="08122B"/>
                </a:solidFill>
                <a:latin typeface="Arial"/>
              </a:defRPr>
            </a:pPr>
            <a:endParaRPr sz="1200" b="1" dirty="0"/>
          </a:p>
          <a:p>
            <a:pPr>
              <a:spcAft>
                <a:spcPts val="400"/>
              </a:spcAft>
              <a:defRPr sz="540">
                <a:solidFill>
                  <a:srgbClr val="08122B"/>
                </a:solidFill>
                <a:latin typeface="Arial"/>
              </a:defRPr>
            </a:pPr>
            <a:r>
              <a:rPr sz="1200" b="1" dirty="0"/>
              <a:t>•  Statistical comparison between models</a:t>
            </a:r>
          </a:p>
        </p:txBody>
      </p:sp>
      <p:sp>
        <p:nvSpPr>
          <p:cNvPr id="232" name="TextBox 231"/>
          <p:cNvSpPr txBox="1"/>
          <p:nvPr/>
        </p:nvSpPr>
        <p:spPr>
          <a:xfrm>
            <a:off x="12758858" y="15017579"/>
            <a:ext cx="515115" cy="480214"/>
          </a:xfrm>
          <a:prstGeom prst="rect">
            <a:avLst/>
          </a:prstGeom>
          <a:noFill/>
        </p:spPr>
        <p:txBody>
          <a:bodyPr wrap="none" lIns="109810" tIns="54905" rIns="109810" bIns="54905" anchor="t">
            <a:spAutoFit/>
          </a:bodyPr>
          <a:lstStyle/>
          <a:p>
            <a:pPr algn="ctr">
              <a:defRPr sz="1400" b="1">
                <a:solidFill>
                  <a:srgbClr val="003078"/>
                </a:solidFill>
                <a:latin typeface="Arial"/>
              </a:defRPr>
            </a:pPr>
            <a:r>
              <a:rPr sz="2400" dirty="0"/>
              <a:t>▮</a:t>
            </a:r>
          </a:p>
        </p:txBody>
      </p:sp>
      <p:sp>
        <p:nvSpPr>
          <p:cNvPr id="233" name="TextBox 232"/>
          <p:cNvSpPr txBox="1"/>
          <p:nvPr/>
        </p:nvSpPr>
        <p:spPr>
          <a:xfrm>
            <a:off x="13547325" y="15084291"/>
            <a:ext cx="2863514" cy="387881"/>
          </a:xfrm>
          <a:prstGeom prst="rect">
            <a:avLst/>
          </a:prstGeom>
          <a:noFill/>
        </p:spPr>
        <p:txBody>
          <a:bodyPr wrap="none" lIns="109810" tIns="54905" rIns="109810" bIns="54905" anchor="t">
            <a:spAutoFit/>
          </a:bodyPr>
          <a:lstStyle/>
          <a:p>
            <a:pPr algn="l">
              <a:defRPr sz="830" b="1">
                <a:solidFill>
                  <a:srgbClr val="003078"/>
                </a:solidFill>
                <a:latin typeface="Arial"/>
              </a:defRPr>
            </a:pPr>
            <a:r>
              <a:rPr sz="1800" dirty="0"/>
              <a:t>EXPECTED OUTCOMES</a:t>
            </a:r>
          </a:p>
        </p:txBody>
      </p:sp>
      <p:sp>
        <p:nvSpPr>
          <p:cNvPr id="234" name="TextBox 233"/>
          <p:cNvSpPr txBox="1"/>
          <p:nvPr/>
        </p:nvSpPr>
        <p:spPr>
          <a:xfrm>
            <a:off x="13664457" y="15548168"/>
            <a:ext cx="5257971" cy="2099036"/>
          </a:xfrm>
          <a:prstGeom prst="rect">
            <a:avLst/>
          </a:prstGeom>
          <a:noFill/>
        </p:spPr>
        <p:txBody>
          <a:bodyPr wrap="square" lIns="18302" tIns="0" rIns="18302" bIns="0">
            <a:spAutoFit/>
          </a:bodyPr>
          <a:lstStyle/>
          <a:p>
            <a:pPr>
              <a:spcAft>
                <a:spcPts val="400"/>
              </a:spcAft>
              <a:defRPr sz="520">
                <a:solidFill>
                  <a:srgbClr val="08122B"/>
                </a:solidFill>
                <a:latin typeface="Arial"/>
              </a:defRPr>
            </a:pPr>
            <a:r>
              <a:rPr sz="1200" b="1" dirty="0"/>
              <a:t>•  A working end-to-end program </a:t>
            </a:r>
            <a:r>
              <a:rPr lang="en-GB" sz="1200" b="1" dirty="0" smtClean="0"/>
              <a:t>generation</a:t>
            </a:r>
            <a:r>
              <a:rPr sz="1200" b="1" dirty="0" smtClean="0"/>
              <a:t> </a:t>
            </a:r>
            <a:r>
              <a:rPr sz="1200" b="1" dirty="0"/>
              <a:t>system</a:t>
            </a:r>
          </a:p>
          <a:p>
            <a:pPr>
              <a:spcAft>
                <a:spcPts val="400"/>
              </a:spcAft>
              <a:defRPr sz="520">
                <a:solidFill>
                  <a:srgbClr val="08122B"/>
                </a:solidFill>
                <a:latin typeface="Arial"/>
              </a:defRPr>
            </a:pPr>
            <a:r>
              <a:rPr sz="1200" b="1" dirty="0"/>
              <a:t>•  </a:t>
            </a:r>
            <a:r>
              <a:rPr lang="en-GB" sz="1200" b="1" dirty="0" smtClean="0"/>
              <a:t>A </a:t>
            </a:r>
            <a:r>
              <a:rPr sz="1200" b="1" dirty="0" smtClean="0"/>
              <a:t>Comprehensive </a:t>
            </a:r>
            <a:r>
              <a:rPr sz="1200" b="1" dirty="0"/>
              <a:t>evaluation of LLM capabilities</a:t>
            </a:r>
          </a:p>
          <a:p>
            <a:pPr>
              <a:spcAft>
                <a:spcPts val="400"/>
              </a:spcAft>
              <a:defRPr sz="520">
                <a:solidFill>
                  <a:srgbClr val="08122B"/>
                </a:solidFill>
                <a:latin typeface="Arial"/>
              </a:defRPr>
            </a:pPr>
            <a:r>
              <a:rPr sz="1200" b="1" dirty="0"/>
              <a:t>•  </a:t>
            </a:r>
            <a:r>
              <a:rPr lang="en-GB" sz="1200" b="1" dirty="0" smtClean="0"/>
              <a:t>An </a:t>
            </a:r>
            <a:r>
              <a:rPr sz="1200" b="1" dirty="0" smtClean="0"/>
              <a:t>Identification </a:t>
            </a:r>
            <a:r>
              <a:rPr sz="1200" b="1" dirty="0"/>
              <a:t>of common error types and </a:t>
            </a:r>
            <a:r>
              <a:rPr sz="1200" b="1" dirty="0" smtClean="0"/>
              <a:t>where</a:t>
            </a:r>
            <a:r>
              <a:rPr lang="en-GB" sz="1200" b="1" dirty="0"/>
              <a:t> </a:t>
            </a:r>
            <a:r>
              <a:rPr sz="1200" b="1" dirty="0" smtClean="0"/>
              <a:t>they occur</a:t>
            </a:r>
            <a:endParaRPr lang="en-GB" sz="1200" b="1" dirty="0" smtClean="0"/>
          </a:p>
          <a:p>
            <a:pPr>
              <a:spcAft>
                <a:spcPts val="400"/>
              </a:spcAft>
              <a:defRPr sz="520">
                <a:solidFill>
                  <a:srgbClr val="08122B"/>
                </a:solidFill>
                <a:latin typeface="Arial"/>
              </a:defRPr>
            </a:pPr>
            <a:r>
              <a:rPr lang="en-GB" sz="1200" b="1" dirty="0" smtClean="0"/>
              <a:t>•  An Analysis of the accuracy of program generation from </a:t>
            </a:r>
          </a:p>
          <a:p>
            <a:pPr>
              <a:spcAft>
                <a:spcPts val="400"/>
              </a:spcAft>
              <a:defRPr sz="520">
                <a:solidFill>
                  <a:srgbClr val="08122B"/>
                </a:solidFill>
                <a:latin typeface="Arial"/>
              </a:defRPr>
            </a:pPr>
            <a:r>
              <a:rPr lang="en-GB" sz="1200" b="1" dirty="0"/>
              <a:t> </a:t>
            </a:r>
            <a:r>
              <a:rPr lang="en-GB" sz="1200" b="1" dirty="0" smtClean="0"/>
              <a:t>  Flow Diagrams (CFD)</a:t>
            </a:r>
            <a:endParaRPr sz="1200" b="1" dirty="0"/>
          </a:p>
          <a:p>
            <a:pPr>
              <a:spcAft>
                <a:spcPts val="400"/>
              </a:spcAft>
              <a:defRPr sz="520">
                <a:solidFill>
                  <a:srgbClr val="08122B"/>
                </a:solidFill>
                <a:latin typeface="Arial"/>
              </a:defRPr>
            </a:pPr>
            <a:r>
              <a:rPr sz="1200" b="1" dirty="0"/>
              <a:t>•  Insights for improving future </a:t>
            </a:r>
            <a:r>
              <a:rPr sz="1200" b="1" dirty="0" smtClean="0"/>
              <a:t>model-based</a:t>
            </a:r>
            <a:r>
              <a:rPr lang="en-GB" sz="1200" b="1" dirty="0" smtClean="0"/>
              <a:t> </a:t>
            </a:r>
            <a:r>
              <a:rPr sz="1200" b="1" dirty="0" smtClean="0"/>
              <a:t>code </a:t>
            </a:r>
            <a:r>
              <a:rPr sz="1200" b="1" dirty="0"/>
              <a:t>generation </a:t>
            </a:r>
            <a:endParaRPr lang="en-GB" sz="1200" b="1" dirty="0"/>
          </a:p>
          <a:p>
            <a:pPr>
              <a:spcAft>
                <a:spcPts val="400"/>
              </a:spcAft>
              <a:defRPr sz="520">
                <a:solidFill>
                  <a:srgbClr val="08122B"/>
                </a:solidFill>
                <a:latin typeface="Arial"/>
              </a:defRPr>
            </a:pPr>
            <a:r>
              <a:rPr lang="en-GB" sz="1200" b="1" dirty="0" smtClean="0"/>
              <a:t>   </a:t>
            </a:r>
            <a:r>
              <a:rPr sz="1200" b="1" dirty="0" smtClean="0"/>
              <a:t>systems</a:t>
            </a:r>
            <a:endParaRPr lang="en-GB" sz="1200" b="1" dirty="0" smtClean="0"/>
          </a:p>
          <a:p>
            <a:pPr>
              <a:spcAft>
                <a:spcPts val="400"/>
              </a:spcAft>
              <a:defRPr sz="520">
                <a:solidFill>
                  <a:srgbClr val="08122B"/>
                </a:solidFill>
                <a:latin typeface="Arial"/>
              </a:defRPr>
            </a:pPr>
            <a:r>
              <a:rPr lang="en-GB" sz="1200" b="1" dirty="0" smtClean="0"/>
              <a:t>•  a metric for possible language to language compiled code</a:t>
            </a:r>
            <a:endParaRPr lang="en-GB" sz="1200" b="1" dirty="0"/>
          </a:p>
          <a:p>
            <a:pPr>
              <a:spcAft>
                <a:spcPts val="400"/>
              </a:spcAft>
              <a:defRPr sz="520">
                <a:solidFill>
                  <a:srgbClr val="08122B"/>
                </a:solidFill>
                <a:latin typeface="Arial"/>
              </a:defRPr>
            </a:pPr>
            <a:endParaRPr lang="en-GB" dirty="0" smtClean="0"/>
          </a:p>
          <a:p>
            <a:pPr>
              <a:spcAft>
                <a:spcPts val="400"/>
              </a:spcAft>
              <a:defRPr sz="520">
                <a:solidFill>
                  <a:srgbClr val="08122B"/>
                </a:solidFill>
                <a:latin typeface="Arial"/>
              </a:defRPr>
            </a:pPr>
            <a:endParaRPr dirty="0"/>
          </a:p>
        </p:txBody>
      </p:sp>
      <p:sp>
        <p:nvSpPr>
          <p:cNvPr id="235" name="TextBox 234"/>
          <p:cNvSpPr txBox="1"/>
          <p:nvPr/>
        </p:nvSpPr>
        <p:spPr>
          <a:xfrm>
            <a:off x="19221298" y="15017579"/>
            <a:ext cx="515115" cy="480214"/>
          </a:xfrm>
          <a:prstGeom prst="rect">
            <a:avLst/>
          </a:prstGeom>
          <a:noFill/>
        </p:spPr>
        <p:txBody>
          <a:bodyPr wrap="none" lIns="109810" tIns="54905" rIns="109810" bIns="54905" anchor="t">
            <a:spAutoFit/>
          </a:bodyPr>
          <a:lstStyle/>
          <a:p>
            <a:pPr algn="ctr">
              <a:defRPr sz="1400" b="1">
                <a:solidFill>
                  <a:srgbClr val="003078"/>
                </a:solidFill>
                <a:latin typeface="Arial"/>
              </a:defRPr>
            </a:pPr>
            <a:r>
              <a:rPr sz="2400" dirty="0"/>
              <a:t>▭</a:t>
            </a:r>
          </a:p>
        </p:txBody>
      </p:sp>
      <p:sp>
        <p:nvSpPr>
          <p:cNvPr id="236" name="TextBox 235"/>
          <p:cNvSpPr txBox="1"/>
          <p:nvPr/>
        </p:nvSpPr>
        <p:spPr>
          <a:xfrm>
            <a:off x="20056680" y="15093822"/>
            <a:ext cx="1923064" cy="387881"/>
          </a:xfrm>
          <a:prstGeom prst="rect">
            <a:avLst/>
          </a:prstGeom>
          <a:noFill/>
        </p:spPr>
        <p:txBody>
          <a:bodyPr wrap="none" lIns="109810" tIns="54905" rIns="109810" bIns="54905" anchor="t">
            <a:spAutoFit/>
          </a:bodyPr>
          <a:lstStyle/>
          <a:p>
            <a:pPr algn="l">
              <a:defRPr sz="830" b="1">
                <a:solidFill>
                  <a:srgbClr val="003078"/>
                </a:solidFill>
                <a:latin typeface="Arial"/>
              </a:defRPr>
            </a:pPr>
            <a:r>
              <a:rPr sz="1800" dirty="0"/>
              <a:t>APPLICATIONS</a:t>
            </a:r>
          </a:p>
        </p:txBody>
      </p:sp>
      <p:sp>
        <p:nvSpPr>
          <p:cNvPr id="237" name="TextBox 236"/>
          <p:cNvSpPr txBox="1"/>
          <p:nvPr/>
        </p:nvSpPr>
        <p:spPr>
          <a:xfrm>
            <a:off x="20153976" y="15548168"/>
            <a:ext cx="4485263" cy="2072362"/>
          </a:xfrm>
          <a:prstGeom prst="rect">
            <a:avLst/>
          </a:prstGeom>
          <a:noFill/>
        </p:spPr>
        <p:txBody>
          <a:bodyPr wrap="square" lIns="18302" tIns="0" rIns="18302" bIns="0">
            <a:spAutoFit/>
          </a:bodyPr>
          <a:lstStyle/>
          <a:p>
            <a:pPr>
              <a:spcAft>
                <a:spcPts val="400"/>
              </a:spcAft>
              <a:defRPr sz="520">
                <a:solidFill>
                  <a:srgbClr val="08122B"/>
                </a:solidFill>
                <a:latin typeface="Arial"/>
              </a:defRPr>
            </a:pPr>
            <a:r>
              <a:rPr sz="1200" b="1" dirty="0"/>
              <a:t>•  AI-assisted programming </a:t>
            </a:r>
            <a:r>
              <a:rPr sz="1200" b="1" dirty="0" smtClean="0"/>
              <a:t>tools</a:t>
            </a:r>
            <a:endParaRPr lang="en-GB" sz="1200" b="1" dirty="0" smtClean="0"/>
          </a:p>
          <a:p>
            <a:pPr>
              <a:spcAft>
                <a:spcPts val="400"/>
              </a:spcAft>
              <a:defRPr sz="520">
                <a:solidFill>
                  <a:srgbClr val="08122B"/>
                </a:solidFill>
                <a:latin typeface="Arial"/>
              </a:defRPr>
            </a:pPr>
            <a:endParaRPr sz="1200" b="1" dirty="0"/>
          </a:p>
          <a:p>
            <a:pPr>
              <a:spcAft>
                <a:spcPts val="400"/>
              </a:spcAft>
              <a:defRPr sz="520">
                <a:solidFill>
                  <a:srgbClr val="08122B"/>
                </a:solidFill>
                <a:latin typeface="Arial"/>
              </a:defRPr>
            </a:pPr>
            <a:r>
              <a:rPr sz="1200" b="1" dirty="0"/>
              <a:t>•  Automated tutoring and </a:t>
            </a:r>
            <a:r>
              <a:rPr sz="1200" b="1" dirty="0" smtClean="0"/>
              <a:t>education</a:t>
            </a:r>
            <a:endParaRPr lang="en-GB" sz="1200" b="1" dirty="0" smtClean="0"/>
          </a:p>
          <a:p>
            <a:pPr>
              <a:spcAft>
                <a:spcPts val="400"/>
              </a:spcAft>
              <a:defRPr sz="520">
                <a:solidFill>
                  <a:srgbClr val="08122B"/>
                </a:solidFill>
                <a:latin typeface="Arial"/>
              </a:defRPr>
            </a:pPr>
            <a:endParaRPr sz="1200" b="1" dirty="0"/>
          </a:p>
          <a:p>
            <a:pPr>
              <a:spcAft>
                <a:spcPts val="400"/>
              </a:spcAft>
              <a:defRPr sz="520">
                <a:solidFill>
                  <a:srgbClr val="08122B"/>
                </a:solidFill>
                <a:latin typeface="Arial"/>
              </a:defRPr>
            </a:pPr>
            <a:r>
              <a:rPr sz="1200" b="1" dirty="0"/>
              <a:t>•  Rapid prototyping from </a:t>
            </a:r>
            <a:r>
              <a:rPr sz="1200" b="1" dirty="0" smtClean="0"/>
              <a:t>requirements</a:t>
            </a:r>
            <a:endParaRPr lang="en-GB" sz="1200" b="1" dirty="0" smtClean="0"/>
          </a:p>
          <a:p>
            <a:pPr>
              <a:spcAft>
                <a:spcPts val="400"/>
              </a:spcAft>
              <a:defRPr sz="520">
                <a:solidFill>
                  <a:srgbClr val="08122B"/>
                </a:solidFill>
                <a:latin typeface="Arial"/>
              </a:defRPr>
            </a:pPr>
            <a:endParaRPr sz="1200" b="1" dirty="0"/>
          </a:p>
          <a:p>
            <a:pPr>
              <a:spcAft>
                <a:spcPts val="400"/>
              </a:spcAft>
              <a:defRPr sz="520">
                <a:solidFill>
                  <a:srgbClr val="08122B"/>
                </a:solidFill>
                <a:latin typeface="Arial"/>
              </a:defRPr>
            </a:pPr>
            <a:r>
              <a:rPr sz="1200" b="1" dirty="0"/>
              <a:t>•  Documentation and flow </a:t>
            </a:r>
            <a:r>
              <a:rPr sz="1200" b="1" dirty="0" smtClean="0"/>
              <a:t>automation</a:t>
            </a:r>
            <a:endParaRPr lang="en-GB" sz="1200" b="1" dirty="0" smtClean="0"/>
          </a:p>
          <a:p>
            <a:pPr>
              <a:spcAft>
                <a:spcPts val="400"/>
              </a:spcAft>
              <a:defRPr sz="520">
                <a:solidFill>
                  <a:srgbClr val="08122B"/>
                </a:solidFill>
                <a:latin typeface="Arial"/>
              </a:defRPr>
            </a:pPr>
            <a:endParaRPr sz="1200" b="1" dirty="0"/>
          </a:p>
          <a:p>
            <a:pPr>
              <a:spcAft>
                <a:spcPts val="400"/>
              </a:spcAft>
              <a:defRPr sz="520">
                <a:solidFill>
                  <a:srgbClr val="08122B"/>
                </a:solidFill>
                <a:latin typeface="Arial"/>
              </a:defRPr>
            </a:pPr>
            <a:r>
              <a:rPr sz="1200" b="1" dirty="0"/>
              <a:t>•  Supporting non-programmers </a:t>
            </a:r>
            <a:r>
              <a:rPr sz="1200" b="1" dirty="0" smtClean="0"/>
              <a:t>in</a:t>
            </a:r>
            <a:r>
              <a:rPr lang="en-GB" sz="1200" b="1" dirty="0" smtClean="0"/>
              <a:t> </a:t>
            </a:r>
            <a:r>
              <a:rPr sz="1200" b="1" dirty="0" smtClean="0"/>
              <a:t>algorithm </a:t>
            </a:r>
            <a:r>
              <a:rPr sz="1200" b="1" dirty="0"/>
              <a:t>design</a:t>
            </a:r>
          </a:p>
        </p:txBody>
      </p:sp>
      <p:sp>
        <p:nvSpPr>
          <p:cNvPr id="276" name="Rectangle 275"/>
          <p:cNvSpPr/>
          <p:nvPr/>
        </p:nvSpPr>
        <p:spPr>
          <a:xfrm>
            <a:off x="213584" y="18115473"/>
            <a:ext cx="29846831" cy="3134740"/>
          </a:xfrm>
          <a:prstGeom prst="rect">
            <a:avLst/>
          </a:prstGeom>
          <a:solidFill>
            <a:srgbClr val="FFFFFF"/>
          </a:solidFill>
          <a:ln w="10160">
            <a:solidFill>
              <a:srgbClr val="A4B8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83017" tIns="91509" rIns="183017" bIns="91509" rtlCol="0" anchor="ctr"/>
          <a:lstStyle/>
          <a:p>
            <a:endParaRPr lang="en-US" sz="2000" b="1" dirty="0">
              <a:solidFill>
                <a:schemeClr val="tx1"/>
              </a:solidFill>
            </a:endParaRPr>
          </a:p>
          <a:p>
            <a:endParaRPr lang="en-US" sz="20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20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 first began thinking about using control flow diagrams to generate code early in my computer science journey. At the time, I was tired of repeatedly typing the same boilerplate for web pages especially the header section and started imagining a drag and drop tool that would let me place HTML elements directly onto a page. This was before React became widespread; in fact, I discovered React halfway through the project and adopted it immediately. </a:t>
            </a:r>
            <a:r>
              <a:rPr lang="en-US" sz="20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While planning that tool, another idea emerged: </a:t>
            </a:r>
            <a:r>
              <a:rPr lang="en-US" sz="2000" b="1" i="1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What </a:t>
            </a:r>
            <a:r>
              <a:rPr lang="en-US" sz="2000" b="1" i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if a program’s flow diagram could be dropped into an application and automatically compiled into code? </a:t>
            </a:r>
            <a:r>
              <a:rPr lang="en-US" sz="20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 was thinking mainly about JavaScript then, but the concept was broader than any single language. </a:t>
            </a:r>
            <a:r>
              <a:rPr lang="en-US" sz="20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 didn’t at that time have the skill set to build such a system, but the idea stayed with me. </a:t>
            </a:r>
            <a:endParaRPr lang="en-US" sz="2000" b="1" dirty="0" smtClean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2000" b="1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The </a:t>
            </a:r>
            <a:r>
              <a:rPr lang="en-US" sz="20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appeal is </a:t>
            </a:r>
            <a:r>
              <a:rPr lang="en-US" sz="2000" b="1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simple; </a:t>
            </a:r>
            <a:r>
              <a:rPr lang="en-US" sz="20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 flow diagram is a blueprint for a program. If the logic is expressed correctly, it should be possible to compile that diagram into any programming language, producing equivalent behaviour regardless of </a:t>
            </a:r>
            <a:r>
              <a:rPr lang="en-US" sz="2000" b="1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language syntax</a:t>
            </a:r>
            <a:r>
              <a:rPr lang="en-US" sz="20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 </a:t>
            </a:r>
            <a:r>
              <a:rPr lang="en-US" sz="20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 theory, this would eliminate the need to manually ensure semantic alignment when translating code between languages, because the diagram itself defines the logic unambiguously.</a:t>
            </a:r>
            <a:endParaRPr lang="en-GB" sz="20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77" name="Rectangle 276"/>
          <p:cNvSpPr/>
          <p:nvPr/>
        </p:nvSpPr>
        <p:spPr>
          <a:xfrm>
            <a:off x="225789" y="18067444"/>
            <a:ext cx="29834626" cy="530588"/>
          </a:xfrm>
          <a:prstGeom prst="rect">
            <a:avLst/>
          </a:prstGeom>
          <a:solidFill>
            <a:srgbClr val="003078"/>
          </a:solidFill>
          <a:ln w="6350">
            <a:solidFill>
              <a:srgbClr val="0030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83017" tIns="91509" rIns="183017" bIns="91509" rtlCol="0" anchor="ctr"/>
          <a:lstStyle/>
          <a:p>
            <a:pPr algn="ctr"/>
            <a:endParaRPr dirty="0"/>
          </a:p>
        </p:txBody>
      </p:sp>
      <p:sp>
        <p:nvSpPr>
          <p:cNvPr id="284" name="Rectangle 283"/>
          <p:cNvSpPr/>
          <p:nvPr/>
        </p:nvSpPr>
        <p:spPr>
          <a:xfrm>
            <a:off x="24824557" y="4442318"/>
            <a:ext cx="5235858" cy="5353744"/>
          </a:xfrm>
          <a:prstGeom prst="rect">
            <a:avLst/>
          </a:prstGeom>
          <a:solidFill>
            <a:srgbClr val="FFFFFF"/>
          </a:solidFill>
          <a:ln w="10160">
            <a:solidFill>
              <a:srgbClr val="A4B8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83017" tIns="91509" rIns="183017" bIns="91509" rtlCol="0" anchor="ctr"/>
          <a:lstStyle/>
          <a:p>
            <a:pPr algn="ctr"/>
            <a:endParaRPr/>
          </a:p>
        </p:txBody>
      </p:sp>
      <p:sp>
        <p:nvSpPr>
          <p:cNvPr id="285" name="Rectangle 284"/>
          <p:cNvSpPr/>
          <p:nvPr/>
        </p:nvSpPr>
        <p:spPr>
          <a:xfrm>
            <a:off x="24824557" y="4419715"/>
            <a:ext cx="5235858" cy="553192"/>
          </a:xfrm>
          <a:prstGeom prst="rect">
            <a:avLst/>
          </a:prstGeom>
          <a:solidFill>
            <a:srgbClr val="003078"/>
          </a:solidFill>
          <a:ln w="6350">
            <a:solidFill>
              <a:srgbClr val="0030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83017" tIns="91509" rIns="183017" bIns="91509" rtlCol="0" anchor="ctr"/>
          <a:lstStyle/>
          <a:p>
            <a:pPr algn="ctr"/>
            <a:endParaRPr/>
          </a:p>
        </p:txBody>
      </p:sp>
      <p:sp>
        <p:nvSpPr>
          <p:cNvPr id="286" name="TextBox 285"/>
          <p:cNvSpPr txBox="1"/>
          <p:nvPr/>
        </p:nvSpPr>
        <p:spPr>
          <a:xfrm>
            <a:off x="24956514" y="4478912"/>
            <a:ext cx="431759" cy="418659"/>
          </a:xfrm>
          <a:prstGeom prst="rect">
            <a:avLst/>
          </a:prstGeom>
          <a:noFill/>
        </p:spPr>
        <p:txBody>
          <a:bodyPr wrap="none" lIns="109810" tIns="54905" rIns="109810" bIns="54905" anchor="t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rial"/>
              </a:defRPr>
            </a:pPr>
            <a:r>
              <a:rPr sz="2000" dirty="0"/>
              <a:t>◍</a:t>
            </a:r>
          </a:p>
        </p:txBody>
      </p:sp>
      <p:sp>
        <p:nvSpPr>
          <p:cNvPr id="287" name="TextBox 286"/>
          <p:cNvSpPr txBox="1"/>
          <p:nvPr/>
        </p:nvSpPr>
        <p:spPr>
          <a:xfrm>
            <a:off x="25483616" y="4522820"/>
            <a:ext cx="2581257" cy="387881"/>
          </a:xfrm>
          <a:prstGeom prst="rect">
            <a:avLst/>
          </a:prstGeom>
          <a:noFill/>
        </p:spPr>
        <p:txBody>
          <a:bodyPr wrap="none" lIns="109810" tIns="54905" rIns="109810" bIns="54905" anchor="ctr">
            <a:spAutoFit/>
          </a:bodyPr>
          <a:lstStyle/>
          <a:p>
            <a:pPr algn="l">
              <a:defRPr sz="819" b="1">
                <a:solidFill>
                  <a:srgbClr val="FFFFFF"/>
                </a:solidFill>
                <a:latin typeface="Arial"/>
              </a:defRPr>
            </a:pPr>
            <a:r>
              <a:rPr sz="1800" dirty="0"/>
              <a:t>DATA &amp; EVALUATION</a:t>
            </a:r>
          </a:p>
        </p:txBody>
      </p:sp>
      <p:sp>
        <p:nvSpPr>
          <p:cNvPr id="288" name="TextBox 287"/>
          <p:cNvSpPr txBox="1"/>
          <p:nvPr/>
        </p:nvSpPr>
        <p:spPr>
          <a:xfrm>
            <a:off x="25080858" y="5192460"/>
            <a:ext cx="1277567" cy="387881"/>
          </a:xfrm>
          <a:prstGeom prst="rect">
            <a:avLst/>
          </a:prstGeom>
          <a:noFill/>
        </p:spPr>
        <p:txBody>
          <a:bodyPr wrap="none" lIns="109810" tIns="54905" rIns="109810" bIns="54905" anchor="t">
            <a:spAutoFit/>
          </a:bodyPr>
          <a:lstStyle/>
          <a:p>
            <a:pPr algn="l">
              <a:defRPr sz="700" b="1">
                <a:solidFill>
                  <a:srgbClr val="003078"/>
                </a:solidFill>
                <a:latin typeface="Arial"/>
              </a:defRPr>
            </a:pPr>
            <a:r>
              <a:rPr sz="1800" dirty="0"/>
              <a:t>DATASET</a:t>
            </a:r>
          </a:p>
        </p:txBody>
      </p:sp>
      <p:sp>
        <p:nvSpPr>
          <p:cNvPr id="289" name="TextBox 288"/>
          <p:cNvSpPr txBox="1"/>
          <p:nvPr/>
        </p:nvSpPr>
        <p:spPr>
          <a:xfrm>
            <a:off x="25190701" y="5703721"/>
            <a:ext cx="4613413" cy="1261884"/>
          </a:xfrm>
          <a:prstGeom prst="rect">
            <a:avLst/>
          </a:prstGeom>
          <a:noFill/>
        </p:spPr>
        <p:txBody>
          <a:bodyPr wrap="square" lIns="18302" tIns="0" rIns="18302" bIns="0">
            <a:spAutoFit/>
          </a:bodyPr>
          <a:lstStyle/>
          <a:p>
            <a:pPr>
              <a:spcAft>
                <a:spcPts val="400"/>
              </a:spcAft>
              <a:defRPr sz="550">
                <a:solidFill>
                  <a:srgbClr val="08122B"/>
                </a:solidFill>
                <a:latin typeface="Arial"/>
              </a:defRPr>
            </a:pPr>
            <a:r>
              <a:rPr sz="1200" b="1" dirty="0"/>
              <a:t>•  50 algorithmic</a:t>
            </a:r>
            <a:r>
              <a:rPr lang="en-GB" sz="1200" b="1" dirty="0"/>
              <a:t> </a:t>
            </a:r>
            <a:r>
              <a:rPr sz="1200" b="1" dirty="0"/>
              <a:t>problems</a:t>
            </a:r>
            <a:endParaRPr lang="en-GB" sz="1200" b="1" dirty="0"/>
          </a:p>
          <a:p>
            <a:pPr>
              <a:spcAft>
                <a:spcPts val="400"/>
              </a:spcAft>
              <a:defRPr sz="550">
                <a:solidFill>
                  <a:srgbClr val="08122B"/>
                </a:solidFill>
                <a:latin typeface="Arial"/>
              </a:defRPr>
            </a:pPr>
            <a:r>
              <a:rPr lang="en-GB" sz="1200" b="1" dirty="0"/>
              <a:t>•  Increasing difficulty</a:t>
            </a:r>
            <a:endParaRPr sz="1200" b="1" dirty="0"/>
          </a:p>
          <a:p>
            <a:pPr>
              <a:spcAft>
                <a:spcPts val="400"/>
              </a:spcAft>
              <a:defRPr sz="550">
                <a:solidFill>
                  <a:srgbClr val="08122B"/>
                </a:solidFill>
                <a:latin typeface="Arial"/>
              </a:defRPr>
            </a:pPr>
            <a:r>
              <a:rPr sz="1200" b="1" dirty="0"/>
              <a:t>•  Includes input/output test cases</a:t>
            </a:r>
          </a:p>
          <a:p>
            <a:pPr>
              <a:spcAft>
                <a:spcPts val="400"/>
              </a:spcAft>
              <a:defRPr sz="550">
                <a:solidFill>
                  <a:srgbClr val="08122B"/>
                </a:solidFill>
                <a:latin typeface="Arial"/>
              </a:defRPr>
            </a:pPr>
            <a:r>
              <a:rPr sz="1200" b="1" dirty="0"/>
              <a:t>•  Covers varying complexity</a:t>
            </a:r>
            <a:br>
              <a:rPr sz="1200" b="1" dirty="0"/>
            </a:br>
            <a:r>
              <a:rPr sz="1200" b="1" dirty="0"/>
              <a:t>   (arithmetic, conditionals, loops,</a:t>
            </a:r>
            <a:br>
              <a:rPr sz="1200" b="1" dirty="0"/>
            </a:br>
            <a:r>
              <a:rPr sz="1200" b="1" dirty="0"/>
              <a:t>   searching, sorting, etc.)</a:t>
            </a:r>
          </a:p>
        </p:txBody>
      </p:sp>
      <p:cxnSp>
        <p:nvCxnSpPr>
          <p:cNvPr id="290" name="Connector 289"/>
          <p:cNvCxnSpPr/>
          <p:nvPr/>
        </p:nvCxnSpPr>
        <p:spPr>
          <a:xfrm>
            <a:off x="25044243" y="7333110"/>
            <a:ext cx="4741564" cy="0"/>
          </a:xfrm>
          <a:prstGeom prst="line">
            <a:avLst/>
          </a:prstGeom>
          <a:ln w="12700">
            <a:solidFill>
              <a:srgbClr val="E1E6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1" name="TextBox 290"/>
          <p:cNvSpPr txBox="1"/>
          <p:nvPr/>
        </p:nvSpPr>
        <p:spPr>
          <a:xfrm>
            <a:off x="25080858" y="7607552"/>
            <a:ext cx="2790801" cy="387881"/>
          </a:xfrm>
          <a:prstGeom prst="rect">
            <a:avLst/>
          </a:prstGeom>
          <a:noFill/>
        </p:spPr>
        <p:txBody>
          <a:bodyPr wrap="none" lIns="109810" tIns="54905" rIns="109810" bIns="54905" anchor="t">
            <a:spAutoFit/>
          </a:bodyPr>
          <a:lstStyle/>
          <a:p>
            <a:pPr algn="l">
              <a:defRPr sz="680" b="1">
                <a:solidFill>
                  <a:srgbClr val="003078"/>
                </a:solidFill>
                <a:latin typeface="Arial"/>
              </a:defRPr>
            </a:pPr>
            <a:r>
              <a:rPr sz="1800" dirty="0"/>
              <a:t>EVALUATION METRICS</a:t>
            </a:r>
          </a:p>
        </p:txBody>
      </p:sp>
      <p:sp>
        <p:nvSpPr>
          <p:cNvPr id="292" name="Rounded Rectangle 291"/>
          <p:cNvSpPr/>
          <p:nvPr/>
        </p:nvSpPr>
        <p:spPr>
          <a:xfrm>
            <a:off x="25154086" y="8101548"/>
            <a:ext cx="237994" cy="23785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7878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83017" tIns="91509" rIns="183017" bIns="91509" rtlCol="0" anchor="ctr"/>
          <a:lstStyle/>
          <a:p>
            <a:pPr algn="ctr"/>
            <a:endParaRPr sz="1200"/>
          </a:p>
        </p:txBody>
      </p:sp>
      <p:sp>
        <p:nvSpPr>
          <p:cNvPr id="293" name="TextBox 292"/>
          <p:cNvSpPr txBox="1"/>
          <p:nvPr/>
        </p:nvSpPr>
        <p:spPr>
          <a:xfrm>
            <a:off x="25079646" y="8092400"/>
            <a:ext cx="386875" cy="295548"/>
          </a:xfrm>
          <a:prstGeom prst="rect">
            <a:avLst/>
          </a:prstGeom>
          <a:noFill/>
        </p:spPr>
        <p:txBody>
          <a:bodyPr wrap="none" lIns="109810" tIns="54905" rIns="109810" bIns="54905" anchor="t">
            <a:spAutoFit/>
          </a:bodyPr>
          <a:lstStyle/>
          <a:p>
            <a:pPr algn="ctr">
              <a:defRPr sz="430" b="1">
                <a:solidFill>
                  <a:srgbClr val="323232"/>
                </a:solidFill>
                <a:latin typeface="Arial"/>
              </a:defRPr>
            </a:pPr>
            <a:r>
              <a:rPr sz="1200"/>
              <a:t>⌘</a:t>
            </a:r>
          </a:p>
        </p:txBody>
      </p:sp>
      <p:sp>
        <p:nvSpPr>
          <p:cNvPr id="294" name="TextBox 293"/>
          <p:cNvSpPr txBox="1"/>
          <p:nvPr/>
        </p:nvSpPr>
        <p:spPr>
          <a:xfrm>
            <a:off x="25556846" y="8083253"/>
            <a:ext cx="2266748" cy="295548"/>
          </a:xfrm>
          <a:prstGeom prst="rect">
            <a:avLst/>
          </a:prstGeom>
          <a:noFill/>
        </p:spPr>
        <p:txBody>
          <a:bodyPr wrap="none" lIns="109810" tIns="54905" rIns="109810" bIns="54905" anchor="t">
            <a:spAutoFit/>
          </a:bodyPr>
          <a:lstStyle/>
          <a:p>
            <a:pPr algn="l">
              <a:defRPr sz="530" b="0">
                <a:solidFill>
                  <a:srgbClr val="08122B"/>
                </a:solidFill>
                <a:latin typeface="Arial"/>
              </a:defRPr>
            </a:pPr>
            <a:r>
              <a:rPr sz="1200" b="1" dirty="0"/>
              <a:t>Pseudocode Syntax Validity</a:t>
            </a:r>
          </a:p>
        </p:txBody>
      </p:sp>
      <p:sp>
        <p:nvSpPr>
          <p:cNvPr id="295" name="Rounded Rectangle 294"/>
          <p:cNvSpPr/>
          <p:nvPr/>
        </p:nvSpPr>
        <p:spPr>
          <a:xfrm>
            <a:off x="25154086" y="8430878"/>
            <a:ext cx="237994" cy="23785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7878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83017" tIns="91509" rIns="183017" bIns="91509" rtlCol="0" anchor="ctr"/>
          <a:lstStyle/>
          <a:p>
            <a:pPr algn="ctr"/>
            <a:endParaRPr sz="1200"/>
          </a:p>
        </p:txBody>
      </p:sp>
      <p:sp>
        <p:nvSpPr>
          <p:cNvPr id="296" name="TextBox 295"/>
          <p:cNvSpPr txBox="1"/>
          <p:nvPr/>
        </p:nvSpPr>
        <p:spPr>
          <a:xfrm>
            <a:off x="25079646" y="8421730"/>
            <a:ext cx="386875" cy="295548"/>
          </a:xfrm>
          <a:prstGeom prst="rect">
            <a:avLst/>
          </a:prstGeom>
          <a:noFill/>
        </p:spPr>
        <p:txBody>
          <a:bodyPr wrap="none" lIns="109810" tIns="54905" rIns="109810" bIns="54905" anchor="t">
            <a:spAutoFit/>
          </a:bodyPr>
          <a:lstStyle/>
          <a:p>
            <a:pPr algn="ctr">
              <a:defRPr sz="430" b="1">
                <a:solidFill>
                  <a:srgbClr val="323232"/>
                </a:solidFill>
                <a:latin typeface="Arial"/>
              </a:defRPr>
            </a:pPr>
            <a:r>
              <a:rPr sz="1200"/>
              <a:t>⌘</a:t>
            </a:r>
          </a:p>
        </p:txBody>
      </p:sp>
      <p:sp>
        <p:nvSpPr>
          <p:cNvPr id="297" name="TextBox 296"/>
          <p:cNvSpPr txBox="1"/>
          <p:nvPr/>
        </p:nvSpPr>
        <p:spPr>
          <a:xfrm>
            <a:off x="25556846" y="8412583"/>
            <a:ext cx="2177428" cy="295548"/>
          </a:xfrm>
          <a:prstGeom prst="rect">
            <a:avLst/>
          </a:prstGeom>
          <a:noFill/>
        </p:spPr>
        <p:txBody>
          <a:bodyPr wrap="none" lIns="109810" tIns="54905" rIns="109810" bIns="54905" anchor="t">
            <a:spAutoFit/>
          </a:bodyPr>
          <a:lstStyle/>
          <a:p>
            <a:pPr algn="l">
              <a:defRPr sz="530" b="0">
                <a:solidFill>
                  <a:srgbClr val="08122B"/>
                </a:solidFill>
                <a:latin typeface="Arial"/>
              </a:defRPr>
            </a:pPr>
            <a:r>
              <a:rPr sz="1200" b="1" dirty="0"/>
              <a:t>AST Parsing Success Rate</a:t>
            </a:r>
          </a:p>
        </p:txBody>
      </p:sp>
      <p:sp>
        <p:nvSpPr>
          <p:cNvPr id="298" name="Rounded Rectangle 297"/>
          <p:cNvSpPr/>
          <p:nvPr/>
        </p:nvSpPr>
        <p:spPr>
          <a:xfrm>
            <a:off x="25154086" y="8760207"/>
            <a:ext cx="237994" cy="23785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7878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83017" tIns="91509" rIns="183017" bIns="91509" rtlCol="0" anchor="ctr"/>
          <a:lstStyle/>
          <a:p>
            <a:pPr algn="ctr"/>
            <a:endParaRPr sz="1200"/>
          </a:p>
        </p:txBody>
      </p:sp>
      <p:sp>
        <p:nvSpPr>
          <p:cNvPr id="299" name="TextBox 298"/>
          <p:cNvSpPr txBox="1"/>
          <p:nvPr/>
        </p:nvSpPr>
        <p:spPr>
          <a:xfrm>
            <a:off x="25079646" y="8751061"/>
            <a:ext cx="386875" cy="295548"/>
          </a:xfrm>
          <a:prstGeom prst="rect">
            <a:avLst/>
          </a:prstGeom>
          <a:noFill/>
        </p:spPr>
        <p:txBody>
          <a:bodyPr wrap="none" lIns="109810" tIns="54905" rIns="109810" bIns="54905" anchor="t">
            <a:spAutoFit/>
          </a:bodyPr>
          <a:lstStyle/>
          <a:p>
            <a:pPr algn="ctr">
              <a:defRPr sz="430" b="1">
                <a:solidFill>
                  <a:srgbClr val="323232"/>
                </a:solidFill>
                <a:latin typeface="Arial"/>
              </a:defRPr>
            </a:pPr>
            <a:r>
              <a:rPr sz="1200"/>
              <a:t>⌘</a:t>
            </a:r>
          </a:p>
        </p:txBody>
      </p:sp>
      <p:sp>
        <p:nvSpPr>
          <p:cNvPr id="300" name="TextBox 299"/>
          <p:cNvSpPr txBox="1"/>
          <p:nvPr/>
        </p:nvSpPr>
        <p:spPr>
          <a:xfrm>
            <a:off x="25556846" y="8741914"/>
            <a:ext cx="2584143" cy="295548"/>
          </a:xfrm>
          <a:prstGeom prst="rect">
            <a:avLst/>
          </a:prstGeom>
          <a:noFill/>
        </p:spPr>
        <p:txBody>
          <a:bodyPr wrap="none" lIns="109810" tIns="54905" rIns="109810" bIns="54905" anchor="t">
            <a:spAutoFit/>
          </a:bodyPr>
          <a:lstStyle/>
          <a:p>
            <a:pPr algn="l">
              <a:defRPr sz="530" b="0">
                <a:solidFill>
                  <a:srgbClr val="08122B"/>
                </a:solidFill>
                <a:latin typeface="Arial"/>
              </a:defRPr>
            </a:pPr>
            <a:r>
              <a:rPr sz="1200" b="1" dirty="0"/>
              <a:t>Flow Diagram Structural Validity</a:t>
            </a:r>
          </a:p>
        </p:txBody>
      </p:sp>
      <p:sp>
        <p:nvSpPr>
          <p:cNvPr id="301" name="Rounded Rectangle 300"/>
          <p:cNvSpPr/>
          <p:nvPr/>
        </p:nvSpPr>
        <p:spPr>
          <a:xfrm>
            <a:off x="25154086" y="9089540"/>
            <a:ext cx="237994" cy="23785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7878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83017" tIns="91509" rIns="183017" bIns="91509" rtlCol="0" anchor="ctr"/>
          <a:lstStyle/>
          <a:p>
            <a:pPr algn="ctr"/>
            <a:endParaRPr sz="1200"/>
          </a:p>
        </p:txBody>
      </p:sp>
      <p:sp>
        <p:nvSpPr>
          <p:cNvPr id="302" name="TextBox 301"/>
          <p:cNvSpPr txBox="1"/>
          <p:nvPr/>
        </p:nvSpPr>
        <p:spPr>
          <a:xfrm>
            <a:off x="25085257" y="9080392"/>
            <a:ext cx="375653" cy="295548"/>
          </a:xfrm>
          <a:prstGeom prst="rect">
            <a:avLst/>
          </a:prstGeom>
          <a:noFill/>
        </p:spPr>
        <p:txBody>
          <a:bodyPr wrap="none" lIns="109810" tIns="54905" rIns="109810" bIns="54905" anchor="t">
            <a:spAutoFit/>
          </a:bodyPr>
          <a:lstStyle/>
          <a:p>
            <a:pPr algn="ctr">
              <a:defRPr sz="430" b="1">
                <a:solidFill>
                  <a:srgbClr val="323232"/>
                </a:solidFill>
                <a:latin typeface="Arial"/>
              </a:defRPr>
            </a:pPr>
            <a:r>
              <a:rPr sz="1200"/>
              <a:t>✓</a:t>
            </a:r>
          </a:p>
        </p:txBody>
      </p:sp>
      <p:sp>
        <p:nvSpPr>
          <p:cNvPr id="303" name="TextBox 302"/>
          <p:cNvSpPr txBox="1"/>
          <p:nvPr/>
        </p:nvSpPr>
        <p:spPr>
          <a:xfrm>
            <a:off x="25556846" y="9071245"/>
            <a:ext cx="2616651" cy="295548"/>
          </a:xfrm>
          <a:prstGeom prst="rect">
            <a:avLst/>
          </a:prstGeom>
          <a:noFill/>
        </p:spPr>
        <p:txBody>
          <a:bodyPr wrap="none" lIns="109810" tIns="54905" rIns="109810" bIns="54905" anchor="t">
            <a:spAutoFit/>
          </a:bodyPr>
          <a:lstStyle/>
          <a:p>
            <a:pPr algn="l">
              <a:defRPr sz="530" b="0">
                <a:solidFill>
                  <a:srgbClr val="08122B"/>
                </a:solidFill>
                <a:latin typeface="Arial"/>
              </a:defRPr>
            </a:pPr>
            <a:r>
              <a:rPr sz="1200" b="1" dirty="0"/>
              <a:t>Python Code Execution Success</a:t>
            </a:r>
          </a:p>
        </p:txBody>
      </p:sp>
      <p:sp>
        <p:nvSpPr>
          <p:cNvPr id="304" name="Rounded Rectangle 303"/>
          <p:cNvSpPr/>
          <p:nvPr/>
        </p:nvSpPr>
        <p:spPr>
          <a:xfrm>
            <a:off x="25154086" y="9418868"/>
            <a:ext cx="237994" cy="23785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7878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83017" tIns="91509" rIns="183017" bIns="91509" rtlCol="0" anchor="ctr"/>
          <a:lstStyle/>
          <a:p>
            <a:pPr algn="ctr"/>
            <a:endParaRPr sz="1200"/>
          </a:p>
        </p:txBody>
      </p:sp>
      <p:sp>
        <p:nvSpPr>
          <p:cNvPr id="305" name="TextBox 304"/>
          <p:cNvSpPr txBox="1"/>
          <p:nvPr/>
        </p:nvSpPr>
        <p:spPr>
          <a:xfrm>
            <a:off x="25085257" y="9409720"/>
            <a:ext cx="375653" cy="295548"/>
          </a:xfrm>
          <a:prstGeom prst="rect">
            <a:avLst/>
          </a:prstGeom>
          <a:noFill/>
        </p:spPr>
        <p:txBody>
          <a:bodyPr wrap="none" lIns="109810" tIns="54905" rIns="109810" bIns="54905" anchor="t">
            <a:spAutoFit/>
          </a:bodyPr>
          <a:lstStyle/>
          <a:p>
            <a:pPr algn="ctr">
              <a:defRPr sz="430" b="1">
                <a:solidFill>
                  <a:srgbClr val="323232"/>
                </a:solidFill>
                <a:latin typeface="Arial"/>
              </a:defRPr>
            </a:pPr>
            <a:r>
              <a:rPr sz="1200"/>
              <a:t>✓</a:t>
            </a:r>
          </a:p>
        </p:txBody>
      </p:sp>
      <p:sp>
        <p:nvSpPr>
          <p:cNvPr id="306" name="TextBox 305"/>
          <p:cNvSpPr txBox="1"/>
          <p:nvPr/>
        </p:nvSpPr>
        <p:spPr>
          <a:xfrm>
            <a:off x="25556846" y="9400575"/>
            <a:ext cx="1666071" cy="295548"/>
          </a:xfrm>
          <a:prstGeom prst="rect">
            <a:avLst/>
          </a:prstGeom>
          <a:noFill/>
        </p:spPr>
        <p:txBody>
          <a:bodyPr wrap="none" lIns="109810" tIns="54905" rIns="109810" bIns="54905" anchor="t">
            <a:spAutoFit/>
          </a:bodyPr>
          <a:lstStyle/>
          <a:p>
            <a:pPr algn="l">
              <a:defRPr sz="530" b="0">
                <a:solidFill>
                  <a:srgbClr val="08122B"/>
                </a:solidFill>
                <a:latin typeface="Arial"/>
              </a:defRPr>
            </a:pPr>
            <a:r>
              <a:rPr sz="1200" b="1" dirty="0"/>
              <a:t>Output Correctness</a:t>
            </a:r>
          </a:p>
        </p:txBody>
      </p:sp>
      <p:sp>
        <p:nvSpPr>
          <p:cNvPr id="307" name="Rounded Rectangle 306"/>
          <p:cNvSpPr/>
          <p:nvPr/>
        </p:nvSpPr>
        <p:spPr>
          <a:xfrm>
            <a:off x="25154086" y="9862550"/>
            <a:ext cx="237994" cy="23785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7878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83017" tIns="91509" rIns="183017" bIns="91509" rtlCol="0" anchor="ctr"/>
          <a:lstStyle/>
          <a:p>
            <a:pPr algn="ctr"/>
            <a:endParaRPr/>
          </a:p>
        </p:txBody>
      </p:sp>
      <p:sp>
        <p:nvSpPr>
          <p:cNvPr id="308" name="TextBox 307"/>
          <p:cNvSpPr txBox="1"/>
          <p:nvPr/>
        </p:nvSpPr>
        <p:spPr>
          <a:xfrm>
            <a:off x="25132545" y="9853402"/>
            <a:ext cx="281076" cy="177054"/>
          </a:xfrm>
          <a:prstGeom prst="rect">
            <a:avLst/>
          </a:prstGeom>
          <a:noFill/>
        </p:spPr>
        <p:txBody>
          <a:bodyPr wrap="none" lIns="109810" tIns="54905" rIns="109810" bIns="54905" anchor="t">
            <a:spAutoFit/>
          </a:bodyPr>
          <a:lstStyle/>
          <a:p>
            <a:pPr algn="ctr">
              <a:defRPr sz="430" b="1">
                <a:solidFill>
                  <a:srgbClr val="323232"/>
                </a:solidFill>
                <a:latin typeface="Arial"/>
              </a:defRPr>
            </a:pPr>
            <a:r>
              <a:t>⌘</a:t>
            </a:r>
          </a:p>
        </p:txBody>
      </p:sp>
      <p:sp>
        <p:nvSpPr>
          <p:cNvPr id="309" name="TextBox 308"/>
          <p:cNvSpPr txBox="1"/>
          <p:nvPr/>
        </p:nvSpPr>
        <p:spPr>
          <a:xfrm>
            <a:off x="25556845" y="9844254"/>
            <a:ext cx="1008840" cy="192443"/>
          </a:xfrm>
          <a:prstGeom prst="rect">
            <a:avLst/>
          </a:prstGeom>
          <a:noFill/>
        </p:spPr>
        <p:txBody>
          <a:bodyPr wrap="none" lIns="109810" tIns="54905" rIns="109810" bIns="54905" anchor="t">
            <a:spAutoFit/>
          </a:bodyPr>
          <a:lstStyle/>
          <a:p>
            <a:pPr algn="l">
              <a:defRPr sz="530" b="0">
                <a:solidFill>
                  <a:srgbClr val="08122B"/>
                </a:solidFill>
                <a:latin typeface="Arial"/>
              </a:defRPr>
            </a:pPr>
            <a:r>
              <a:t>End-to-End Success Rate</a:t>
            </a:r>
          </a:p>
        </p:txBody>
      </p:sp>
      <p:sp>
        <p:nvSpPr>
          <p:cNvPr id="310" name="Rounded Rectangle 309"/>
          <p:cNvSpPr/>
          <p:nvPr/>
        </p:nvSpPr>
        <p:spPr>
          <a:xfrm>
            <a:off x="25154086" y="10191883"/>
            <a:ext cx="237994" cy="23785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7878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83017" tIns="91509" rIns="183017" bIns="91509" rtlCol="0" anchor="ctr"/>
          <a:lstStyle/>
          <a:p>
            <a:pPr algn="ctr"/>
            <a:endParaRPr/>
          </a:p>
        </p:txBody>
      </p:sp>
      <p:sp>
        <p:nvSpPr>
          <p:cNvPr id="311" name="TextBox 310"/>
          <p:cNvSpPr txBox="1"/>
          <p:nvPr/>
        </p:nvSpPr>
        <p:spPr>
          <a:xfrm>
            <a:off x="25132545" y="10182734"/>
            <a:ext cx="281076" cy="177054"/>
          </a:xfrm>
          <a:prstGeom prst="rect">
            <a:avLst/>
          </a:prstGeom>
          <a:noFill/>
        </p:spPr>
        <p:txBody>
          <a:bodyPr wrap="none" lIns="109810" tIns="54905" rIns="109810" bIns="54905" anchor="t">
            <a:spAutoFit/>
          </a:bodyPr>
          <a:lstStyle/>
          <a:p>
            <a:pPr algn="ctr">
              <a:defRPr sz="430" b="1">
                <a:solidFill>
                  <a:srgbClr val="323232"/>
                </a:solidFill>
                <a:latin typeface="Arial"/>
              </a:defRPr>
            </a:pPr>
            <a:r>
              <a:t>⌘</a:t>
            </a:r>
          </a:p>
        </p:txBody>
      </p:sp>
      <p:sp>
        <p:nvSpPr>
          <p:cNvPr id="312" name="TextBox 311"/>
          <p:cNvSpPr txBox="1"/>
          <p:nvPr/>
        </p:nvSpPr>
        <p:spPr>
          <a:xfrm>
            <a:off x="25556845" y="10173587"/>
            <a:ext cx="1087386" cy="192443"/>
          </a:xfrm>
          <a:prstGeom prst="rect">
            <a:avLst/>
          </a:prstGeom>
          <a:noFill/>
        </p:spPr>
        <p:txBody>
          <a:bodyPr wrap="none" lIns="109810" tIns="54905" rIns="109810" bIns="54905" anchor="t">
            <a:spAutoFit/>
          </a:bodyPr>
          <a:lstStyle/>
          <a:p>
            <a:pPr algn="l">
              <a:defRPr sz="530" b="0">
                <a:solidFill>
                  <a:srgbClr val="08122B"/>
                </a:solidFill>
                <a:latin typeface="Arial"/>
              </a:defRPr>
            </a:pPr>
            <a:r>
              <a:t>Robustness to Paraphrasing</a:t>
            </a:r>
          </a:p>
        </p:txBody>
      </p:sp>
      <p:sp>
        <p:nvSpPr>
          <p:cNvPr id="313" name="Rounded Rectangle 312"/>
          <p:cNvSpPr/>
          <p:nvPr/>
        </p:nvSpPr>
        <p:spPr>
          <a:xfrm>
            <a:off x="25154086" y="10521211"/>
            <a:ext cx="237994" cy="23785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7878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83017" tIns="91509" rIns="183017" bIns="91509" rtlCol="0" anchor="ctr"/>
          <a:lstStyle/>
          <a:p>
            <a:pPr algn="ctr"/>
            <a:endParaRPr/>
          </a:p>
        </p:txBody>
      </p:sp>
      <p:sp>
        <p:nvSpPr>
          <p:cNvPr id="314" name="TextBox 313"/>
          <p:cNvSpPr txBox="1"/>
          <p:nvPr/>
        </p:nvSpPr>
        <p:spPr>
          <a:xfrm>
            <a:off x="25132545" y="10512063"/>
            <a:ext cx="281076" cy="177054"/>
          </a:xfrm>
          <a:prstGeom prst="rect">
            <a:avLst/>
          </a:prstGeom>
          <a:noFill/>
        </p:spPr>
        <p:txBody>
          <a:bodyPr wrap="none" lIns="109810" tIns="54905" rIns="109810" bIns="54905" anchor="t">
            <a:spAutoFit/>
          </a:bodyPr>
          <a:lstStyle/>
          <a:p>
            <a:pPr algn="ctr">
              <a:defRPr sz="430" b="1">
                <a:solidFill>
                  <a:srgbClr val="323232"/>
                </a:solidFill>
                <a:latin typeface="Arial"/>
              </a:defRPr>
            </a:pPr>
            <a:r>
              <a:t>⌘</a:t>
            </a:r>
          </a:p>
        </p:txBody>
      </p:sp>
      <p:sp>
        <p:nvSpPr>
          <p:cNvPr id="315" name="TextBox 314"/>
          <p:cNvSpPr txBox="1"/>
          <p:nvPr/>
        </p:nvSpPr>
        <p:spPr>
          <a:xfrm>
            <a:off x="25556845" y="10502917"/>
            <a:ext cx="1074562" cy="192443"/>
          </a:xfrm>
          <a:prstGeom prst="rect">
            <a:avLst/>
          </a:prstGeom>
          <a:noFill/>
        </p:spPr>
        <p:txBody>
          <a:bodyPr wrap="none" lIns="109810" tIns="54905" rIns="109810" bIns="54905" anchor="t">
            <a:spAutoFit/>
          </a:bodyPr>
          <a:lstStyle/>
          <a:p>
            <a:pPr algn="l">
              <a:defRPr sz="530" b="0">
                <a:solidFill>
                  <a:srgbClr val="08122B"/>
                </a:solidFill>
                <a:latin typeface="Arial"/>
              </a:defRPr>
            </a:pPr>
            <a:r>
              <a:t>Performance vs. Complexity</a:t>
            </a:r>
          </a:p>
        </p:txBody>
      </p:sp>
      <p:sp>
        <p:nvSpPr>
          <p:cNvPr id="316" name="Rectangle 315"/>
          <p:cNvSpPr/>
          <p:nvPr/>
        </p:nvSpPr>
        <p:spPr>
          <a:xfrm>
            <a:off x="24824557" y="9862552"/>
            <a:ext cx="5235858" cy="2013425"/>
          </a:xfrm>
          <a:prstGeom prst="rect">
            <a:avLst/>
          </a:prstGeom>
          <a:solidFill>
            <a:srgbClr val="FFFFFF"/>
          </a:solidFill>
          <a:ln w="10160">
            <a:solidFill>
              <a:srgbClr val="A4B8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83017" tIns="91509" rIns="183017" bIns="91509" rtlCol="0" anchor="ctr"/>
          <a:lstStyle/>
          <a:p>
            <a:pPr algn="ctr"/>
            <a:endParaRPr/>
          </a:p>
        </p:txBody>
      </p:sp>
      <p:sp>
        <p:nvSpPr>
          <p:cNvPr id="317" name="Rectangle 316"/>
          <p:cNvSpPr/>
          <p:nvPr/>
        </p:nvSpPr>
        <p:spPr>
          <a:xfrm>
            <a:off x="24824557" y="9862552"/>
            <a:ext cx="5235858" cy="530588"/>
          </a:xfrm>
          <a:prstGeom prst="rect">
            <a:avLst/>
          </a:prstGeom>
          <a:solidFill>
            <a:srgbClr val="003078"/>
          </a:solidFill>
          <a:ln w="6350">
            <a:solidFill>
              <a:srgbClr val="0030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83017" tIns="91509" rIns="183017" bIns="91509" rtlCol="0" anchor="ctr"/>
          <a:lstStyle/>
          <a:p>
            <a:pPr algn="ctr"/>
            <a:endParaRPr/>
          </a:p>
        </p:txBody>
      </p:sp>
      <p:sp>
        <p:nvSpPr>
          <p:cNvPr id="318" name="TextBox 317"/>
          <p:cNvSpPr txBox="1"/>
          <p:nvPr/>
        </p:nvSpPr>
        <p:spPr>
          <a:xfrm>
            <a:off x="24933271" y="9929638"/>
            <a:ext cx="478246" cy="418659"/>
          </a:xfrm>
          <a:prstGeom prst="rect">
            <a:avLst/>
          </a:prstGeom>
          <a:noFill/>
        </p:spPr>
        <p:txBody>
          <a:bodyPr wrap="none" lIns="109810" tIns="54905" rIns="109810" bIns="54905" anchor="t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rial"/>
              </a:defRPr>
            </a:pPr>
            <a:r>
              <a:rPr sz="2000" dirty="0" smtClean="0"/>
              <a:t>A</a:t>
            </a:r>
            <a:r>
              <a:rPr lang="en-GB" sz="2000" dirty="0" smtClean="0"/>
              <a:t>I</a:t>
            </a:r>
            <a:endParaRPr sz="2000" dirty="0"/>
          </a:p>
        </p:txBody>
      </p:sp>
      <p:sp>
        <p:nvSpPr>
          <p:cNvPr id="319" name="TextBox 318"/>
          <p:cNvSpPr txBox="1"/>
          <p:nvPr/>
        </p:nvSpPr>
        <p:spPr>
          <a:xfrm>
            <a:off x="25483616" y="9943054"/>
            <a:ext cx="3415011" cy="387881"/>
          </a:xfrm>
          <a:prstGeom prst="rect">
            <a:avLst/>
          </a:prstGeom>
          <a:noFill/>
        </p:spPr>
        <p:txBody>
          <a:bodyPr wrap="none" lIns="109810" tIns="54905" rIns="109810" bIns="54905" anchor="ctr">
            <a:spAutoFit/>
          </a:bodyPr>
          <a:lstStyle/>
          <a:p>
            <a:pPr algn="l">
              <a:defRPr sz="819" b="1">
                <a:solidFill>
                  <a:srgbClr val="FFFFFF"/>
                </a:solidFill>
                <a:latin typeface="Arial"/>
              </a:defRPr>
            </a:pPr>
            <a:r>
              <a:rPr sz="1800"/>
              <a:t>MODELS TO BE EVALUATED</a:t>
            </a:r>
          </a:p>
        </p:txBody>
      </p:sp>
      <p:sp>
        <p:nvSpPr>
          <p:cNvPr id="320" name="TextBox 319"/>
          <p:cNvSpPr txBox="1"/>
          <p:nvPr/>
        </p:nvSpPr>
        <p:spPr>
          <a:xfrm>
            <a:off x="25154086" y="10566932"/>
            <a:ext cx="4686642" cy="1107996"/>
          </a:xfrm>
          <a:prstGeom prst="rect">
            <a:avLst/>
          </a:prstGeom>
          <a:noFill/>
        </p:spPr>
        <p:txBody>
          <a:bodyPr wrap="square" lIns="18302" tIns="0" rIns="18302" bIns="0">
            <a:spAutoFit/>
          </a:bodyPr>
          <a:lstStyle/>
          <a:p>
            <a:pPr lvl="0"/>
            <a:r>
              <a:rPr sz="1200" b="1" i="1" dirty="0"/>
              <a:t>•</a:t>
            </a:r>
            <a:r>
              <a:rPr lang="en-GB" sz="1200" b="1" i="1" dirty="0"/>
              <a:t>  Gwen </a:t>
            </a:r>
            <a:r>
              <a:rPr lang="en-GB" sz="1200" b="1" i="1" dirty="0"/>
              <a:t>3.6 plus</a:t>
            </a:r>
          </a:p>
          <a:p>
            <a:pPr lvl="0"/>
            <a:r>
              <a:rPr lang="en-GB" sz="1200" b="1" i="1" dirty="0"/>
              <a:t>•  Groq </a:t>
            </a:r>
            <a:r>
              <a:rPr lang="en-GB" sz="1200" b="1" i="1" dirty="0"/>
              <a:t>llama-3.3-70b-versatile</a:t>
            </a:r>
          </a:p>
          <a:p>
            <a:pPr lvl="0"/>
            <a:r>
              <a:rPr lang="en-GB" sz="1200" b="1" i="1" dirty="0"/>
              <a:t>•  Gemini </a:t>
            </a:r>
            <a:r>
              <a:rPr lang="en-GB" sz="1200" b="1" i="1" dirty="0"/>
              <a:t>3 flash</a:t>
            </a:r>
          </a:p>
          <a:p>
            <a:pPr lvl="0"/>
            <a:r>
              <a:rPr lang="en-GB" sz="1200" b="1" i="1" dirty="0"/>
              <a:t>•  DeepSeek</a:t>
            </a:r>
            <a:endParaRPr lang="en-GB" sz="1200" b="1" i="1" dirty="0"/>
          </a:p>
          <a:p>
            <a:pPr lvl="0"/>
            <a:r>
              <a:rPr lang="en-GB" sz="1200" b="1" i="1" dirty="0"/>
              <a:t>•  Claude </a:t>
            </a:r>
            <a:r>
              <a:rPr lang="en-GB" sz="1200" b="1" i="1" dirty="0"/>
              <a:t>sonnet 4.6</a:t>
            </a:r>
          </a:p>
          <a:p>
            <a:pPr lvl="0"/>
            <a:r>
              <a:rPr lang="en-GB" sz="1200" b="1" i="1" dirty="0"/>
              <a:t>•  ChatGPT </a:t>
            </a:r>
            <a:r>
              <a:rPr lang="en-GB" sz="1200" b="1" i="1" dirty="0" smtClean="0"/>
              <a:t>5.5</a:t>
            </a:r>
            <a:endParaRPr lang="en-GB" sz="1200" b="1" i="1" dirty="0"/>
          </a:p>
        </p:txBody>
      </p:sp>
      <p:sp>
        <p:nvSpPr>
          <p:cNvPr id="321" name="Rectangle 320"/>
          <p:cNvSpPr/>
          <p:nvPr/>
        </p:nvSpPr>
        <p:spPr>
          <a:xfrm>
            <a:off x="24824557" y="11948313"/>
            <a:ext cx="5235858" cy="3165234"/>
          </a:xfrm>
          <a:prstGeom prst="rect">
            <a:avLst/>
          </a:prstGeom>
          <a:solidFill>
            <a:srgbClr val="FFFFFF"/>
          </a:solidFill>
          <a:ln w="10160">
            <a:solidFill>
              <a:srgbClr val="A4B8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83017" tIns="91509" rIns="183017" bIns="91509" rtlCol="0" anchor="ctr"/>
          <a:lstStyle/>
          <a:p>
            <a:pPr algn="ctr"/>
            <a:endParaRPr sz="1200"/>
          </a:p>
        </p:txBody>
      </p:sp>
      <p:sp>
        <p:nvSpPr>
          <p:cNvPr id="322" name="Rectangle 321"/>
          <p:cNvSpPr/>
          <p:nvPr/>
        </p:nvSpPr>
        <p:spPr>
          <a:xfrm>
            <a:off x="24824557" y="11948313"/>
            <a:ext cx="5235858" cy="530588"/>
          </a:xfrm>
          <a:prstGeom prst="rect">
            <a:avLst/>
          </a:prstGeom>
          <a:solidFill>
            <a:srgbClr val="003078"/>
          </a:solidFill>
          <a:ln w="6350">
            <a:solidFill>
              <a:srgbClr val="0030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83017" tIns="91509" rIns="183017" bIns="91509" rtlCol="0" anchor="ctr"/>
          <a:lstStyle/>
          <a:p>
            <a:pPr algn="ctr"/>
            <a:endParaRPr/>
          </a:p>
        </p:txBody>
      </p:sp>
      <p:sp>
        <p:nvSpPr>
          <p:cNvPr id="323" name="TextBox 322"/>
          <p:cNvSpPr txBox="1"/>
          <p:nvPr/>
        </p:nvSpPr>
        <p:spPr>
          <a:xfrm>
            <a:off x="24916439" y="11984904"/>
            <a:ext cx="511909" cy="418659"/>
          </a:xfrm>
          <a:prstGeom prst="rect">
            <a:avLst/>
          </a:prstGeom>
          <a:noFill/>
        </p:spPr>
        <p:txBody>
          <a:bodyPr wrap="none" lIns="109810" tIns="54905" rIns="109810" bIns="54905" anchor="t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rial"/>
              </a:defRPr>
            </a:pPr>
            <a:r>
              <a:rPr sz="2000" dirty="0"/>
              <a:t>⚒</a:t>
            </a:r>
          </a:p>
        </p:txBody>
      </p:sp>
      <p:sp>
        <p:nvSpPr>
          <p:cNvPr id="324" name="TextBox 323"/>
          <p:cNvSpPr txBox="1"/>
          <p:nvPr/>
        </p:nvSpPr>
        <p:spPr>
          <a:xfrm>
            <a:off x="25483616" y="12028815"/>
            <a:ext cx="3154299" cy="387881"/>
          </a:xfrm>
          <a:prstGeom prst="rect">
            <a:avLst/>
          </a:prstGeom>
          <a:noFill/>
        </p:spPr>
        <p:txBody>
          <a:bodyPr wrap="none" lIns="109810" tIns="54905" rIns="109810" bIns="54905" anchor="ctr">
            <a:spAutoFit/>
          </a:bodyPr>
          <a:lstStyle/>
          <a:p>
            <a:pPr algn="l">
              <a:defRPr sz="819" b="1">
                <a:solidFill>
                  <a:srgbClr val="FFFFFF"/>
                </a:solidFill>
                <a:latin typeface="Arial"/>
              </a:defRPr>
            </a:pPr>
            <a:r>
              <a:rPr sz="1800" dirty="0"/>
              <a:t>TECHNOLOGIES &amp; TOOLS</a:t>
            </a:r>
          </a:p>
        </p:txBody>
      </p:sp>
      <p:sp>
        <p:nvSpPr>
          <p:cNvPr id="325" name="TextBox 324"/>
          <p:cNvSpPr txBox="1"/>
          <p:nvPr/>
        </p:nvSpPr>
        <p:spPr>
          <a:xfrm>
            <a:off x="25112717" y="12588678"/>
            <a:ext cx="375653" cy="295548"/>
          </a:xfrm>
          <a:prstGeom prst="rect">
            <a:avLst/>
          </a:prstGeom>
          <a:noFill/>
        </p:spPr>
        <p:txBody>
          <a:bodyPr wrap="none" lIns="109810" tIns="54905" rIns="109810" bIns="54905" anchor="t">
            <a:spAutoFit/>
          </a:bodyPr>
          <a:lstStyle/>
          <a:p>
            <a:pPr algn="ctr">
              <a:defRPr sz="630" b="1">
                <a:solidFill>
                  <a:srgbClr val="003078"/>
                </a:solidFill>
                <a:latin typeface="Arial"/>
              </a:defRPr>
            </a:pPr>
            <a:r>
              <a:rPr sz="1200"/>
              <a:t>🐍</a:t>
            </a:r>
          </a:p>
        </p:txBody>
      </p:sp>
      <p:sp>
        <p:nvSpPr>
          <p:cNvPr id="326" name="TextBox 325"/>
          <p:cNvSpPr txBox="1"/>
          <p:nvPr/>
        </p:nvSpPr>
        <p:spPr>
          <a:xfrm>
            <a:off x="25593459" y="12606975"/>
            <a:ext cx="744344" cy="295548"/>
          </a:xfrm>
          <a:prstGeom prst="rect">
            <a:avLst/>
          </a:prstGeom>
          <a:noFill/>
        </p:spPr>
        <p:txBody>
          <a:bodyPr wrap="none" lIns="109810" tIns="54905" rIns="109810" bIns="54905" anchor="t">
            <a:spAutoFit/>
          </a:bodyPr>
          <a:lstStyle/>
          <a:p>
            <a:pPr algn="l">
              <a:defRPr sz="530" b="0">
                <a:solidFill>
                  <a:srgbClr val="08122B"/>
                </a:solidFill>
                <a:latin typeface="Arial"/>
              </a:defRPr>
            </a:pPr>
            <a:r>
              <a:rPr sz="1200" b="1" dirty="0"/>
              <a:t>Python</a:t>
            </a:r>
          </a:p>
        </p:txBody>
      </p:sp>
      <p:sp>
        <p:nvSpPr>
          <p:cNvPr id="327" name="TextBox 326"/>
          <p:cNvSpPr txBox="1"/>
          <p:nvPr/>
        </p:nvSpPr>
        <p:spPr>
          <a:xfrm>
            <a:off x="25098054" y="12918009"/>
            <a:ext cx="337181" cy="295548"/>
          </a:xfrm>
          <a:prstGeom prst="rect">
            <a:avLst/>
          </a:prstGeom>
          <a:noFill/>
        </p:spPr>
        <p:txBody>
          <a:bodyPr wrap="none" lIns="109810" tIns="54905" rIns="109810" bIns="54905" anchor="t">
            <a:spAutoFit/>
          </a:bodyPr>
          <a:lstStyle/>
          <a:p>
            <a:pPr algn="ctr">
              <a:defRPr sz="630" b="1">
                <a:solidFill>
                  <a:srgbClr val="003078"/>
                </a:solidFill>
                <a:latin typeface="Arial"/>
              </a:defRPr>
            </a:pPr>
            <a:r>
              <a:rPr sz="1200" dirty="0"/>
              <a:t>🤗</a:t>
            </a:r>
          </a:p>
        </p:txBody>
      </p:sp>
      <p:sp>
        <p:nvSpPr>
          <p:cNvPr id="328" name="TextBox 327"/>
          <p:cNvSpPr txBox="1"/>
          <p:nvPr/>
        </p:nvSpPr>
        <p:spPr>
          <a:xfrm>
            <a:off x="25593460" y="12936306"/>
            <a:ext cx="3101720" cy="295548"/>
          </a:xfrm>
          <a:prstGeom prst="rect">
            <a:avLst/>
          </a:prstGeom>
          <a:noFill/>
        </p:spPr>
        <p:txBody>
          <a:bodyPr wrap="none" lIns="109810" tIns="54905" rIns="109810" bIns="54905" anchor="t">
            <a:spAutoFit/>
          </a:bodyPr>
          <a:lstStyle/>
          <a:p>
            <a:pPr algn="l">
              <a:defRPr sz="530" b="0">
                <a:solidFill>
                  <a:srgbClr val="08122B"/>
                </a:solidFill>
                <a:latin typeface="Arial"/>
              </a:defRPr>
            </a:pPr>
            <a:r>
              <a:rPr sz="1200" b="1" dirty="0" err="1"/>
              <a:t>PyTorch</a:t>
            </a:r>
            <a:r>
              <a:rPr sz="1200" b="1" dirty="0"/>
              <a:t> / Transformers (Hugging Face)</a:t>
            </a:r>
          </a:p>
        </p:txBody>
      </p:sp>
      <p:sp>
        <p:nvSpPr>
          <p:cNvPr id="329" name="TextBox 328"/>
          <p:cNvSpPr txBox="1"/>
          <p:nvPr/>
        </p:nvSpPr>
        <p:spPr>
          <a:xfrm>
            <a:off x="25134358" y="13247339"/>
            <a:ext cx="332372" cy="295548"/>
          </a:xfrm>
          <a:prstGeom prst="rect">
            <a:avLst/>
          </a:prstGeom>
          <a:noFill/>
        </p:spPr>
        <p:txBody>
          <a:bodyPr wrap="none" lIns="109810" tIns="54905" rIns="109810" bIns="54905" anchor="t">
            <a:spAutoFit/>
          </a:bodyPr>
          <a:lstStyle/>
          <a:p>
            <a:pPr algn="ctr">
              <a:defRPr sz="630" b="1">
                <a:solidFill>
                  <a:srgbClr val="003078"/>
                </a:solidFill>
                <a:latin typeface="Arial"/>
              </a:defRPr>
            </a:pPr>
            <a:r>
              <a:rPr sz="1200"/>
              <a:t>A</a:t>
            </a:r>
          </a:p>
        </p:txBody>
      </p:sp>
      <p:sp>
        <p:nvSpPr>
          <p:cNvPr id="330" name="TextBox 329"/>
          <p:cNvSpPr txBox="1"/>
          <p:nvPr/>
        </p:nvSpPr>
        <p:spPr>
          <a:xfrm>
            <a:off x="25593460" y="13265636"/>
            <a:ext cx="2372995" cy="295548"/>
          </a:xfrm>
          <a:prstGeom prst="rect">
            <a:avLst/>
          </a:prstGeom>
          <a:noFill/>
        </p:spPr>
        <p:txBody>
          <a:bodyPr wrap="none" lIns="109810" tIns="54905" rIns="109810" bIns="54905" anchor="t">
            <a:spAutoFit/>
          </a:bodyPr>
          <a:lstStyle/>
          <a:p>
            <a:pPr algn="l">
              <a:defRPr sz="530" b="0">
                <a:solidFill>
                  <a:srgbClr val="08122B"/>
                </a:solidFill>
                <a:latin typeface="Arial"/>
              </a:defRPr>
            </a:pPr>
            <a:r>
              <a:rPr sz="1200" b="1" dirty="0"/>
              <a:t>ANTLR (Parser Development)</a:t>
            </a:r>
          </a:p>
        </p:txBody>
      </p:sp>
      <p:sp>
        <p:nvSpPr>
          <p:cNvPr id="331" name="TextBox 330"/>
          <p:cNvSpPr txBox="1"/>
          <p:nvPr/>
        </p:nvSpPr>
        <p:spPr>
          <a:xfrm>
            <a:off x="25134358" y="13576670"/>
            <a:ext cx="332372" cy="295548"/>
          </a:xfrm>
          <a:prstGeom prst="rect">
            <a:avLst/>
          </a:prstGeom>
          <a:noFill/>
        </p:spPr>
        <p:txBody>
          <a:bodyPr wrap="none" lIns="109810" tIns="54905" rIns="109810" bIns="54905" anchor="t">
            <a:spAutoFit/>
          </a:bodyPr>
          <a:lstStyle/>
          <a:p>
            <a:pPr algn="ctr">
              <a:defRPr sz="630" b="1">
                <a:solidFill>
                  <a:srgbClr val="003078"/>
                </a:solidFill>
                <a:latin typeface="Arial"/>
              </a:defRPr>
            </a:pPr>
            <a:r>
              <a:rPr sz="1200"/>
              <a:t>N</a:t>
            </a:r>
          </a:p>
        </p:txBody>
      </p:sp>
      <p:sp>
        <p:nvSpPr>
          <p:cNvPr id="332" name="TextBox 331"/>
          <p:cNvSpPr txBox="1"/>
          <p:nvPr/>
        </p:nvSpPr>
        <p:spPr>
          <a:xfrm>
            <a:off x="25593460" y="13594967"/>
            <a:ext cx="2959694" cy="295548"/>
          </a:xfrm>
          <a:prstGeom prst="rect">
            <a:avLst/>
          </a:prstGeom>
          <a:noFill/>
        </p:spPr>
        <p:txBody>
          <a:bodyPr wrap="none" lIns="109810" tIns="54905" rIns="109810" bIns="54905" anchor="t">
            <a:spAutoFit/>
          </a:bodyPr>
          <a:lstStyle/>
          <a:p>
            <a:pPr algn="l">
              <a:defRPr sz="530" b="0">
                <a:solidFill>
                  <a:srgbClr val="08122B"/>
                </a:solidFill>
                <a:latin typeface="Arial"/>
              </a:defRPr>
            </a:pPr>
            <a:r>
              <a:rPr sz="1200" b="1" dirty="0" err="1"/>
              <a:t>NetworkX</a:t>
            </a:r>
            <a:r>
              <a:rPr sz="1200" b="1" dirty="0"/>
              <a:t> / </a:t>
            </a:r>
            <a:r>
              <a:rPr sz="1200" b="1" dirty="0" err="1"/>
              <a:t>Graphviz</a:t>
            </a:r>
            <a:r>
              <a:rPr sz="1200" b="1" dirty="0"/>
              <a:t> (Flow Diagrams)</a:t>
            </a:r>
          </a:p>
        </p:txBody>
      </p:sp>
      <p:sp>
        <p:nvSpPr>
          <p:cNvPr id="333" name="TextBox 332"/>
          <p:cNvSpPr txBox="1"/>
          <p:nvPr/>
        </p:nvSpPr>
        <p:spPr>
          <a:xfrm>
            <a:off x="25107106" y="13906001"/>
            <a:ext cx="386875" cy="295548"/>
          </a:xfrm>
          <a:prstGeom prst="rect">
            <a:avLst/>
          </a:prstGeom>
          <a:noFill/>
        </p:spPr>
        <p:txBody>
          <a:bodyPr wrap="none" lIns="109810" tIns="54905" rIns="109810" bIns="54905" anchor="t">
            <a:spAutoFit/>
          </a:bodyPr>
          <a:lstStyle/>
          <a:p>
            <a:pPr algn="ctr">
              <a:defRPr sz="630" b="1">
                <a:solidFill>
                  <a:srgbClr val="003078"/>
                </a:solidFill>
                <a:latin typeface="Arial"/>
              </a:defRPr>
            </a:pPr>
            <a:r>
              <a:rPr sz="1200"/>
              <a:t>⌘</a:t>
            </a:r>
          </a:p>
        </p:txBody>
      </p:sp>
      <p:sp>
        <p:nvSpPr>
          <p:cNvPr id="334" name="TextBox 333"/>
          <p:cNvSpPr txBox="1"/>
          <p:nvPr/>
        </p:nvSpPr>
        <p:spPr>
          <a:xfrm>
            <a:off x="25593459" y="13924298"/>
            <a:ext cx="1148300" cy="295548"/>
          </a:xfrm>
          <a:prstGeom prst="rect">
            <a:avLst/>
          </a:prstGeom>
          <a:noFill/>
        </p:spPr>
        <p:txBody>
          <a:bodyPr wrap="none" lIns="109810" tIns="54905" rIns="109810" bIns="54905" anchor="t">
            <a:spAutoFit/>
          </a:bodyPr>
          <a:lstStyle/>
          <a:p>
            <a:pPr algn="l">
              <a:defRPr sz="530" b="0">
                <a:solidFill>
                  <a:srgbClr val="08122B"/>
                </a:solidFill>
                <a:latin typeface="Arial"/>
              </a:defRPr>
            </a:pPr>
            <a:r>
              <a:rPr sz="1200" b="1" dirty="0" err="1"/>
              <a:t>Git</a:t>
            </a:r>
            <a:r>
              <a:rPr sz="1200" b="1" dirty="0"/>
              <a:t> &amp; GitHub</a:t>
            </a:r>
          </a:p>
        </p:txBody>
      </p:sp>
      <p:sp>
        <p:nvSpPr>
          <p:cNvPr id="335" name="TextBox 334"/>
          <p:cNvSpPr txBox="1"/>
          <p:nvPr/>
        </p:nvSpPr>
        <p:spPr>
          <a:xfrm>
            <a:off x="25143976" y="14235331"/>
            <a:ext cx="313136" cy="295548"/>
          </a:xfrm>
          <a:prstGeom prst="rect">
            <a:avLst/>
          </a:prstGeom>
          <a:noFill/>
        </p:spPr>
        <p:txBody>
          <a:bodyPr wrap="none" lIns="109810" tIns="54905" rIns="109810" bIns="54905" anchor="t">
            <a:spAutoFit/>
          </a:bodyPr>
          <a:lstStyle/>
          <a:p>
            <a:pPr algn="ctr">
              <a:defRPr sz="630" b="1">
                <a:solidFill>
                  <a:srgbClr val="003078"/>
                </a:solidFill>
                <a:latin typeface="Arial"/>
              </a:defRPr>
            </a:pPr>
            <a:r>
              <a:rPr sz="1200"/>
              <a:t>⌁</a:t>
            </a:r>
          </a:p>
        </p:txBody>
      </p:sp>
      <p:sp>
        <p:nvSpPr>
          <p:cNvPr id="336" name="TextBox 335"/>
          <p:cNvSpPr txBox="1"/>
          <p:nvPr/>
        </p:nvSpPr>
        <p:spPr>
          <a:xfrm>
            <a:off x="25593459" y="14253628"/>
            <a:ext cx="895026" cy="295548"/>
          </a:xfrm>
          <a:prstGeom prst="rect">
            <a:avLst/>
          </a:prstGeom>
          <a:noFill/>
        </p:spPr>
        <p:txBody>
          <a:bodyPr wrap="none" lIns="109810" tIns="54905" rIns="109810" bIns="54905" anchor="t">
            <a:spAutoFit/>
          </a:bodyPr>
          <a:lstStyle/>
          <a:p>
            <a:pPr algn="l">
              <a:defRPr sz="530" b="0">
                <a:solidFill>
                  <a:srgbClr val="08122B"/>
                </a:solidFill>
                <a:latin typeface="Arial"/>
              </a:defRPr>
            </a:pPr>
            <a:r>
              <a:rPr lang="en-GB" sz="1200" b="1" dirty="0" smtClean="0"/>
              <a:t>PyCharm</a:t>
            </a:r>
            <a:endParaRPr sz="1200" b="1" dirty="0"/>
          </a:p>
        </p:txBody>
      </p:sp>
      <p:sp>
        <p:nvSpPr>
          <p:cNvPr id="337" name="TextBox 336"/>
          <p:cNvSpPr txBox="1"/>
          <p:nvPr/>
        </p:nvSpPr>
        <p:spPr>
          <a:xfrm>
            <a:off x="25142373" y="14564662"/>
            <a:ext cx="316342" cy="295548"/>
          </a:xfrm>
          <a:prstGeom prst="rect">
            <a:avLst/>
          </a:prstGeom>
          <a:noFill/>
        </p:spPr>
        <p:txBody>
          <a:bodyPr wrap="none" lIns="109810" tIns="54905" rIns="109810" bIns="54905" anchor="t">
            <a:spAutoFit/>
          </a:bodyPr>
          <a:lstStyle/>
          <a:p>
            <a:pPr algn="ctr">
              <a:defRPr sz="630" b="1">
                <a:solidFill>
                  <a:srgbClr val="003078"/>
                </a:solidFill>
                <a:latin typeface="Arial"/>
              </a:defRPr>
            </a:pPr>
            <a:r>
              <a:rPr sz="1200"/>
              <a:t>T</a:t>
            </a:r>
          </a:p>
        </p:txBody>
      </p:sp>
      <p:sp>
        <p:nvSpPr>
          <p:cNvPr id="338" name="TextBox 337"/>
          <p:cNvSpPr txBox="1"/>
          <p:nvPr/>
        </p:nvSpPr>
        <p:spPr>
          <a:xfrm>
            <a:off x="25593460" y="14582959"/>
            <a:ext cx="2258797" cy="295548"/>
          </a:xfrm>
          <a:prstGeom prst="rect">
            <a:avLst/>
          </a:prstGeom>
          <a:noFill/>
        </p:spPr>
        <p:txBody>
          <a:bodyPr wrap="none" lIns="109810" tIns="54905" rIns="109810" bIns="54905" anchor="t">
            <a:spAutoFit/>
          </a:bodyPr>
          <a:lstStyle/>
          <a:p>
            <a:pPr algn="l">
              <a:defRPr sz="530" b="0">
                <a:solidFill>
                  <a:srgbClr val="08122B"/>
                </a:solidFill>
                <a:latin typeface="Arial"/>
              </a:defRPr>
            </a:pPr>
            <a:r>
              <a:rPr sz="1200" b="1" dirty="0" err="1"/>
              <a:t>PyTest</a:t>
            </a:r>
            <a:r>
              <a:rPr sz="1200" b="1" dirty="0"/>
              <a:t> (Testing Framework)</a:t>
            </a:r>
          </a:p>
        </p:txBody>
      </p:sp>
      <p:sp>
        <p:nvSpPr>
          <p:cNvPr id="339" name="Rectangle 338"/>
          <p:cNvSpPr/>
          <p:nvPr/>
        </p:nvSpPr>
        <p:spPr>
          <a:xfrm>
            <a:off x="24824557" y="15508278"/>
            <a:ext cx="5235858" cy="2469980"/>
          </a:xfrm>
          <a:prstGeom prst="rect">
            <a:avLst/>
          </a:prstGeom>
          <a:solidFill>
            <a:srgbClr val="FFFFFF"/>
          </a:solidFill>
          <a:ln w="10160">
            <a:solidFill>
              <a:srgbClr val="A4B8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83017" tIns="91509" rIns="183017" bIns="91509" rtlCol="0" anchor="ctr"/>
          <a:lstStyle/>
          <a:p>
            <a:pPr algn="ctr"/>
            <a:endParaRPr sz="1000" dirty="0"/>
          </a:p>
        </p:txBody>
      </p:sp>
      <p:sp>
        <p:nvSpPr>
          <p:cNvPr id="340" name="Rectangle 339"/>
          <p:cNvSpPr/>
          <p:nvPr/>
        </p:nvSpPr>
        <p:spPr>
          <a:xfrm>
            <a:off x="24824557" y="15215280"/>
            <a:ext cx="5235858" cy="530588"/>
          </a:xfrm>
          <a:prstGeom prst="rect">
            <a:avLst/>
          </a:prstGeom>
          <a:solidFill>
            <a:srgbClr val="003078"/>
          </a:solidFill>
          <a:ln w="6350">
            <a:solidFill>
              <a:srgbClr val="0030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83017" tIns="91509" rIns="183017" bIns="91509" rtlCol="0" anchor="ctr"/>
          <a:lstStyle/>
          <a:p>
            <a:pPr algn="ctr"/>
            <a:endParaRPr/>
          </a:p>
        </p:txBody>
      </p:sp>
      <p:sp>
        <p:nvSpPr>
          <p:cNvPr id="341" name="TextBox 340"/>
          <p:cNvSpPr txBox="1"/>
          <p:nvPr/>
        </p:nvSpPr>
        <p:spPr>
          <a:xfrm>
            <a:off x="24983765" y="15256965"/>
            <a:ext cx="377257" cy="418659"/>
          </a:xfrm>
          <a:prstGeom prst="rect">
            <a:avLst/>
          </a:prstGeom>
          <a:noFill/>
        </p:spPr>
        <p:txBody>
          <a:bodyPr wrap="none" lIns="109810" tIns="54905" rIns="109810" bIns="54905" anchor="t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rial"/>
              </a:defRPr>
            </a:pPr>
            <a:r>
              <a:rPr sz="2000" dirty="0"/>
              <a:t>●</a:t>
            </a:r>
          </a:p>
        </p:txBody>
      </p:sp>
      <p:sp>
        <p:nvSpPr>
          <p:cNvPr id="342" name="TextBox 341"/>
          <p:cNvSpPr txBox="1"/>
          <p:nvPr/>
        </p:nvSpPr>
        <p:spPr>
          <a:xfrm>
            <a:off x="25483616" y="15295781"/>
            <a:ext cx="1333159" cy="387881"/>
          </a:xfrm>
          <a:prstGeom prst="rect">
            <a:avLst/>
          </a:prstGeom>
          <a:noFill/>
        </p:spPr>
        <p:txBody>
          <a:bodyPr wrap="none" lIns="109810" tIns="54905" rIns="109810" bIns="54905" anchor="ctr">
            <a:spAutoFit/>
          </a:bodyPr>
          <a:lstStyle/>
          <a:p>
            <a:pPr algn="l">
              <a:defRPr sz="819" b="1">
                <a:solidFill>
                  <a:srgbClr val="FFFFFF"/>
                </a:solidFill>
                <a:latin typeface="Arial"/>
              </a:defRPr>
            </a:pPr>
            <a:r>
              <a:rPr sz="1800" dirty="0"/>
              <a:t>CONTACT</a:t>
            </a:r>
          </a:p>
        </p:txBody>
      </p:sp>
      <p:sp>
        <p:nvSpPr>
          <p:cNvPr id="343" name="TextBox 342"/>
          <p:cNvSpPr txBox="1"/>
          <p:nvPr/>
        </p:nvSpPr>
        <p:spPr>
          <a:xfrm>
            <a:off x="25153467" y="15886138"/>
            <a:ext cx="330769" cy="326326"/>
          </a:xfrm>
          <a:prstGeom prst="rect">
            <a:avLst/>
          </a:prstGeom>
          <a:noFill/>
        </p:spPr>
        <p:txBody>
          <a:bodyPr wrap="none" lIns="109810" tIns="54905" rIns="109810" bIns="54905" anchor="t">
            <a:spAutoFit/>
          </a:bodyPr>
          <a:lstStyle/>
          <a:p>
            <a:pPr algn="ctr">
              <a:defRPr sz="540" b="1">
                <a:solidFill>
                  <a:srgbClr val="003078"/>
                </a:solidFill>
                <a:latin typeface="Arial"/>
              </a:defRPr>
            </a:pPr>
            <a:r>
              <a:rPr sz="1400" dirty="0"/>
              <a:t>●</a:t>
            </a:r>
          </a:p>
        </p:txBody>
      </p:sp>
      <p:sp>
        <p:nvSpPr>
          <p:cNvPr id="344" name="TextBox 343"/>
          <p:cNvSpPr txBox="1"/>
          <p:nvPr/>
        </p:nvSpPr>
        <p:spPr>
          <a:xfrm>
            <a:off x="25593460" y="15904435"/>
            <a:ext cx="1904020" cy="295548"/>
          </a:xfrm>
          <a:prstGeom prst="rect">
            <a:avLst/>
          </a:prstGeom>
          <a:noFill/>
        </p:spPr>
        <p:txBody>
          <a:bodyPr wrap="none" lIns="109810" tIns="54905" rIns="109810" bIns="54905" anchor="t">
            <a:spAutoFit/>
          </a:bodyPr>
          <a:lstStyle/>
          <a:p>
            <a:pPr algn="l">
              <a:defRPr sz="490" b="0">
                <a:solidFill>
                  <a:srgbClr val="08122B"/>
                </a:solidFill>
                <a:latin typeface="Arial"/>
              </a:defRPr>
            </a:pPr>
            <a:r>
              <a:rPr sz="1200" b="1" dirty="0"/>
              <a:t>Student: </a:t>
            </a:r>
            <a:r>
              <a:rPr sz="1200" b="1" dirty="0" smtClean="0"/>
              <a:t>A</a:t>
            </a:r>
            <a:r>
              <a:rPr lang="en-GB" sz="1200" b="1" dirty="0" smtClean="0"/>
              <a:t>lan Johnson</a:t>
            </a:r>
            <a:endParaRPr sz="1200" b="1" dirty="0"/>
          </a:p>
        </p:txBody>
      </p:sp>
      <p:sp>
        <p:nvSpPr>
          <p:cNvPr id="345" name="TextBox 344"/>
          <p:cNvSpPr txBox="1"/>
          <p:nvPr/>
        </p:nvSpPr>
        <p:spPr>
          <a:xfrm>
            <a:off x="25118200" y="16197173"/>
            <a:ext cx="401302" cy="326326"/>
          </a:xfrm>
          <a:prstGeom prst="rect">
            <a:avLst/>
          </a:prstGeom>
          <a:noFill/>
        </p:spPr>
        <p:txBody>
          <a:bodyPr wrap="none" lIns="109810" tIns="54905" rIns="109810" bIns="54905" anchor="t">
            <a:spAutoFit/>
          </a:bodyPr>
          <a:lstStyle/>
          <a:p>
            <a:pPr algn="ctr">
              <a:defRPr sz="540" b="1">
                <a:solidFill>
                  <a:srgbClr val="003078"/>
                </a:solidFill>
                <a:latin typeface="Arial"/>
              </a:defRPr>
            </a:pPr>
            <a:r>
              <a:rPr sz="1400"/>
              <a:t>✉</a:t>
            </a:r>
          </a:p>
        </p:txBody>
      </p:sp>
      <p:sp>
        <p:nvSpPr>
          <p:cNvPr id="346" name="TextBox 345"/>
          <p:cNvSpPr txBox="1"/>
          <p:nvPr/>
        </p:nvSpPr>
        <p:spPr>
          <a:xfrm>
            <a:off x="25593460" y="16215470"/>
            <a:ext cx="2805805" cy="295548"/>
          </a:xfrm>
          <a:prstGeom prst="rect">
            <a:avLst/>
          </a:prstGeom>
          <a:noFill/>
        </p:spPr>
        <p:txBody>
          <a:bodyPr wrap="none" lIns="109810" tIns="54905" rIns="109810" bIns="54905" anchor="t">
            <a:spAutoFit/>
          </a:bodyPr>
          <a:lstStyle/>
          <a:p>
            <a:pPr algn="l">
              <a:defRPr sz="490" b="0">
                <a:solidFill>
                  <a:srgbClr val="08122B"/>
                </a:solidFill>
                <a:latin typeface="Arial"/>
              </a:defRPr>
            </a:pPr>
            <a:r>
              <a:rPr sz="1200" b="1" dirty="0"/>
              <a:t>Email: </a:t>
            </a:r>
            <a:r>
              <a:rPr lang="en-GB" sz="1200" b="1" dirty="0" smtClean="0"/>
              <a:t>y3x82@students.keele.ac.uk</a:t>
            </a:r>
            <a:endParaRPr sz="1200" b="1" dirty="0"/>
          </a:p>
        </p:txBody>
      </p:sp>
      <p:sp>
        <p:nvSpPr>
          <p:cNvPr id="347" name="TextBox 346"/>
          <p:cNvSpPr txBox="1"/>
          <p:nvPr/>
        </p:nvSpPr>
        <p:spPr>
          <a:xfrm>
            <a:off x="25134230" y="16508207"/>
            <a:ext cx="369242" cy="326326"/>
          </a:xfrm>
          <a:prstGeom prst="rect">
            <a:avLst/>
          </a:prstGeom>
          <a:noFill/>
        </p:spPr>
        <p:txBody>
          <a:bodyPr wrap="none" lIns="109810" tIns="54905" rIns="109810" bIns="54905" anchor="t">
            <a:spAutoFit/>
          </a:bodyPr>
          <a:lstStyle/>
          <a:p>
            <a:pPr algn="ctr">
              <a:defRPr sz="540" b="1">
                <a:solidFill>
                  <a:srgbClr val="003078"/>
                </a:solidFill>
                <a:latin typeface="Arial"/>
              </a:defRPr>
            </a:pPr>
            <a:r>
              <a:rPr sz="1400"/>
              <a:t>◖</a:t>
            </a:r>
          </a:p>
        </p:txBody>
      </p:sp>
      <p:sp>
        <p:nvSpPr>
          <p:cNvPr id="348" name="TextBox 347"/>
          <p:cNvSpPr txBox="1"/>
          <p:nvPr/>
        </p:nvSpPr>
        <p:spPr>
          <a:xfrm>
            <a:off x="25593459" y="16526504"/>
            <a:ext cx="4307820" cy="295548"/>
          </a:xfrm>
          <a:prstGeom prst="rect">
            <a:avLst/>
          </a:prstGeom>
          <a:noFill/>
        </p:spPr>
        <p:txBody>
          <a:bodyPr wrap="none" lIns="109810" tIns="54905" rIns="109810" bIns="54905" anchor="t">
            <a:spAutoFit/>
          </a:bodyPr>
          <a:lstStyle/>
          <a:p>
            <a:pPr>
              <a:defRPr sz="490" b="0">
                <a:solidFill>
                  <a:srgbClr val="08122B"/>
                </a:solidFill>
                <a:latin typeface="Arial"/>
              </a:defRPr>
            </a:pPr>
            <a:r>
              <a:rPr sz="1200" b="1" dirty="0"/>
              <a:t>GitHub: </a:t>
            </a:r>
            <a:r>
              <a:rPr lang="en-GB" sz="1200" b="1" dirty="0"/>
              <a:t>https://github.com/ajohnson-2210/Final_Project</a:t>
            </a:r>
            <a:endParaRPr sz="1200" b="1" dirty="0"/>
          </a:p>
        </p:txBody>
      </p:sp>
      <p:sp>
        <p:nvSpPr>
          <p:cNvPr id="351" name="TextBox 350"/>
          <p:cNvSpPr txBox="1"/>
          <p:nvPr/>
        </p:nvSpPr>
        <p:spPr>
          <a:xfrm>
            <a:off x="25134230" y="16791486"/>
            <a:ext cx="369242" cy="326326"/>
          </a:xfrm>
          <a:prstGeom prst="rect">
            <a:avLst/>
          </a:prstGeom>
          <a:noFill/>
        </p:spPr>
        <p:txBody>
          <a:bodyPr wrap="none" lIns="109810" tIns="54905" rIns="109810" bIns="54905" anchor="t">
            <a:spAutoFit/>
          </a:bodyPr>
          <a:lstStyle/>
          <a:p>
            <a:pPr algn="ctr">
              <a:defRPr sz="540" b="1">
                <a:solidFill>
                  <a:srgbClr val="003078"/>
                </a:solidFill>
                <a:latin typeface="Arial"/>
              </a:defRPr>
            </a:pPr>
            <a:r>
              <a:rPr sz="1400" dirty="0"/>
              <a:t>▦</a:t>
            </a:r>
          </a:p>
        </p:txBody>
      </p:sp>
      <p:sp>
        <p:nvSpPr>
          <p:cNvPr id="352" name="TextBox 351"/>
          <p:cNvSpPr txBox="1"/>
          <p:nvPr/>
        </p:nvSpPr>
        <p:spPr>
          <a:xfrm>
            <a:off x="25593459" y="17120340"/>
            <a:ext cx="2656727" cy="295548"/>
          </a:xfrm>
          <a:prstGeom prst="rect">
            <a:avLst/>
          </a:prstGeom>
          <a:noFill/>
        </p:spPr>
        <p:txBody>
          <a:bodyPr wrap="none" lIns="109810" tIns="54905" rIns="109810" bIns="54905" anchor="t">
            <a:spAutoFit/>
          </a:bodyPr>
          <a:lstStyle/>
          <a:p>
            <a:pPr algn="l">
              <a:defRPr sz="490" b="0">
                <a:solidFill>
                  <a:srgbClr val="08122B"/>
                </a:solidFill>
                <a:latin typeface="Arial"/>
              </a:defRPr>
            </a:pPr>
            <a:r>
              <a:rPr sz="1200" b="1" dirty="0"/>
              <a:t>Department of Computer Science</a:t>
            </a:r>
          </a:p>
        </p:txBody>
      </p:sp>
      <p:sp>
        <p:nvSpPr>
          <p:cNvPr id="353" name="TextBox 352"/>
          <p:cNvSpPr txBox="1"/>
          <p:nvPr/>
        </p:nvSpPr>
        <p:spPr>
          <a:xfrm>
            <a:off x="25134230" y="17102520"/>
            <a:ext cx="369242" cy="326326"/>
          </a:xfrm>
          <a:prstGeom prst="rect">
            <a:avLst/>
          </a:prstGeom>
          <a:noFill/>
        </p:spPr>
        <p:txBody>
          <a:bodyPr wrap="none" lIns="109810" tIns="54905" rIns="109810" bIns="54905" anchor="t">
            <a:spAutoFit/>
          </a:bodyPr>
          <a:lstStyle/>
          <a:p>
            <a:pPr algn="ctr">
              <a:defRPr sz="540" b="1">
                <a:solidFill>
                  <a:srgbClr val="003078"/>
                </a:solidFill>
                <a:latin typeface="Arial"/>
              </a:defRPr>
            </a:pPr>
            <a:r>
              <a:rPr sz="1400" dirty="0"/>
              <a:t>▥</a:t>
            </a:r>
          </a:p>
        </p:txBody>
      </p:sp>
      <p:sp>
        <p:nvSpPr>
          <p:cNvPr id="354" name="TextBox 353"/>
          <p:cNvSpPr txBox="1"/>
          <p:nvPr/>
        </p:nvSpPr>
        <p:spPr>
          <a:xfrm>
            <a:off x="25593460" y="16832845"/>
            <a:ext cx="1605157" cy="295548"/>
          </a:xfrm>
          <a:prstGeom prst="rect">
            <a:avLst/>
          </a:prstGeom>
          <a:noFill/>
        </p:spPr>
        <p:txBody>
          <a:bodyPr wrap="none" lIns="109810" tIns="54905" rIns="109810" bIns="54905" anchor="t">
            <a:spAutoFit/>
          </a:bodyPr>
          <a:lstStyle/>
          <a:p>
            <a:pPr algn="l">
              <a:defRPr sz="490" b="0">
                <a:solidFill>
                  <a:srgbClr val="08122B"/>
                </a:solidFill>
                <a:latin typeface="Arial"/>
              </a:defRPr>
            </a:pPr>
            <a:r>
              <a:rPr sz="1200" b="1" dirty="0"/>
              <a:t>University of </a:t>
            </a:r>
            <a:r>
              <a:rPr lang="en-GB" sz="1200" b="1" dirty="0" smtClean="0"/>
              <a:t>Keele</a:t>
            </a:r>
            <a:endParaRPr sz="1200" b="1" dirty="0"/>
          </a:p>
        </p:txBody>
      </p:sp>
      <p:cxnSp>
        <p:nvCxnSpPr>
          <p:cNvPr id="417" name="Connector 195"/>
          <p:cNvCxnSpPr>
            <a:stCxn id="419" idx="2"/>
            <a:endCxn id="185" idx="0"/>
          </p:cNvCxnSpPr>
          <p:nvPr/>
        </p:nvCxnSpPr>
        <p:spPr>
          <a:xfrm>
            <a:off x="12778633" y="11811092"/>
            <a:ext cx="535333" cy="370493"/>
          </a:xfrm>
          <a:prstGeom prst="line">
            <a:avLst/>
          </a:prstGeom>
          <a:ln w="6985">
            <a:solidFill>
              <a:srgbClr val="E7702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8" name="Connector 195"/>
          <p:cNvCxnSpPr>
            <a:stCxn id="183" idx="2"/>
            <a:endCxn id="419" idx="0"/>
          </p:cNvCxnSpPr>
          <p:nvPr/>
        </p:nvCxnSpPr>
        <p:spPr>
          <a:xfrm flipH="1">
            <a:off x="12778633" y="11253059"/>
            <a:ext cx="457470" cy="265294"/>
          </a:xfrm>
          <a:prstGeom prst="line">
            <a:avLst/>
          </a:prstGeom>
          <a:ln w="6985">
            <a:solidFill>
              <a:srgbClr val="E7702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9" name="Rounded Rectangle 418"/>
          <p:cNvSpPr/>
          <p:nvPr/>
        </p:nvSpPr>
        <p:spPr>
          <a:xfrm>
            <a:off x="12394182" y="11518354"/>
            <a:ext cx="768902" cy="292738"/>
          </a:xfrm>
          <a:prstGeom prst="roundRect">
            <a:avLst/>
          </a:prstGeom>
          <a:solidFill>
            <a:srgbClr val="FFF8F0"/>
          </a:solidFill>
          <a:ln w="8890">
            <a:solidFill>
              <a:srgbClr val="E770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83017" tIns="91509" rIns="183017" bIns="91509" rtlCol="0" anchor="ctr"/>
          <a:lstStyle/>
          <a:p>
            <a:pPr algn="ctr"/>
            <a:endParaRPr/>
          </a:p>
        </p:txBody>
      </p:sp>
      <p:sp>
        <p:nvSpPr>
          <p:cNvPr id="420" name="Rounded Rectangle 419"/>
          <p:cNvSpPr/>
          <p:nvPr/>
        </p:nvSpPr>
        <p:spPr>
          <a:xfrm>
            <a:off x="13474096" y="11518354"/>
            <a:ext cx="768902" cy="292738"/>
          </a:xfrm>
          <a:prstGeom prst="roundRect">
            <a:avLst/>
          </a:prstGeom>
          <a:solidFill>
            <a:srgbClr val="FFF8F0"/>
          </a:solidFill>
          <a:ln w="8890">
            <a:solidFill>
              <a:srgbClr val="E770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83017" tIns="91509" rIns="183017" bIns="91509" rtlCol="0" anchor="ctr"/>
          <a:lstStyle/>
          <a:p>
            <a:pPr algn="ctr"/>
            <a:endParaRPr/>
          </a:p>
        </p:txBody>
      </p:sp>
      <p:sp>
        <p:nvSpPr>
          <p:cNvPr id="430" name="TextBox 429"/>
          <p:cNvSpPr txBox="1"/>
          <p:nvPr/>
        </p:nvSpPr>
        <p:spPr>
          <a:xfrm>
            <a:off x="12445267" y="11530639"/>
            <a:ext cx="643355" cy="264771"/>
          </a:xfrm>
          <a:prstGeom prst="rect">
            <a:avLst/>
          </a:prstGeom>
          <a:noFill/>
        </p:spPr>
        <p:txBody>
          <a:bodyPr wrap="none" lIns="109810" tIns="54905" rIns="109810" bIns="54905" anchor="t">
            <a:spAutoFit/>
          </a:bodyPr>
          <a:lstStyle/>
          <a:p>
            <a:pPr algn="ctr">
              <a:defRPr sz="420" b="0">
                <a:solidFill>
                  <a:srgbClr val="08122B"/>
                </a:solidFill>
                <a:latin typeface="Arial"/>
              </a:defRPr>
            </a:pPr>
            <a:r>
              <a:rPr lang="en-GB" sz="1000" dirty="0"/>
              <a:t>f</a:t>
            </a:r>
            <a:r>
              <a:rPr lang="en-GB" sz="1000" dirty="0" smtClean="0"/>
              <a:t>act = 1</a:t>
            </a:r>
            <a:endParaRPr sz="1000" dirty="0"/>
          </a:p>
        </p:txBody>
      </p:sp>
      <p:sp>
        <p:nvSpPr>
          <p:cNvPr id="431" name="TextBox 430"/>
          <p:cNvSpPr txBox="1"/>
          <p:nvPr/>
        </p:nvSpPr>
        <p:spPr>
          <a:xfrm>
            <a:off x="13645536" y="11533175"/>
            <a:ext cx="467025" cy="264771"/>
          </a:xfrm>
          <a:prstGeom prst="rect">
            <a:avLst/>
          </a:prstGeom>
          <a:noFill/>
        </p:spPr>
        <p:txBody>
          <a:bodyPr wrap="none" lIns="109810" tIns="54905" rIns="109810" bIns="54905" anchor="t">
            <a:spAutoFit/>
          </a:bodyPr>
          <a:lstStyle/>
          <a:p>
            <a:pPr algn="ctr">
              <a:defRPr sz="420" b="0">
                <a:solidFill>
                  <a:srgbClr val="08122B"/>
                </a:solidFill>
                <a:latin typeface="Arial"/>
              </a:defRPr>
            </a:pPr>
            <a:r>
              <a:rPr lang="en-GB" sz="1000" dirty="0"/>
              <a:t>i</a:t>
            </a:r>
            <a:r>
              <a:rPr lang="en-GB" sz="1000" dirty="0" smtClean="0"/>
              <a:t> = 1</a:t>
            </a:r>
            <a:endParaRPr sz="1000" dirty="0"/>
          </a:p>
        </p:txBody>
      </p:sp>
      <p:sp>
        <p:nvSpPr>
          <p:cNvPr id="461" name="TextBox 460"/>
          <p:cNvSpPr txBox="1"/>
          <p:nvPr/>
        </p:nvSpPr>
        <p:spPr>
          <a:xfrm>
            <a:off x="923522" y="18151753"/>
            <a:ext cx="2264130" cy="363338"/>
          </a:xfrm>
          <a:prstGeom prst="rect">
            <a:avLst/>
          </a:prstGeom>
          <a:noFill/>
        </p:spPr>
        <p:txBody>
          <a:bodyPr wrap="square" lIns="109810" tIns="54905" rIns="109810" bIns="54905" anchor="t">
            <a:spAutoFit/>
          </a:bodyPr>
          <a:lstStyle/>
          <a:p>
            <a:pPr algn="l">
              <a:defRPr sz="830" b="1">
                <a:solidFill>
                  <a:srgbClr val="003078"/>
                </a:solidFill>
                <a:latin typeface="Arial"/>
              </a:defRPr>
            </a:pPr>
            <a:r>
              <a:rPr lang="en-GB" sz="1600" dirty="0">
                <a:solidFill>
                  <a:schemeClr val="bg1"/>
                </a:solidFill>
              </a:rPr>
              <a:t>SHORT BIOGRAPHY</a:t>
            </a:r>
            <a:endParaRPr sz="1600" dirty="0">
              <a:solidFill>
                <a:schemeClr val="bg1"/>
              </a:solidFill>
            </a:endParaRPr>
          </a:p>
        </p:txBody>
      </p:sp>
      <p:sp>
        <p:nvSpPr>
          <p:cNvPr id="462" name="TextBox 461"/>
          <p:cNvSpPr txBox="1"/>
          <p:nvPr/>
        </p:nvSpPr>
        <p:spPr>
          <a:xfrm>
            <a:off x="368470" y="18106130"/>
            <a:ext cx="327563" cy="264771"/>
          </a:xfrm>
          <a:prstGeom prst="rect">
            <a:avLst/>
          </a:prstGeom>
          <a:noFill/>
        </p:spPr>
        <p:txBody>
          <a:bodyPr wrap="none" lIns="109810" tIns="54905" rIns="109810" bIns="54905" anchor="t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rial"/>
              </a:defRPr>
            </a:pPr>
            <a:r>
              <a:rPr dirty="0"/>
              <a:t>◎</a:t>
            </a:r>
          </a:p>
        </p:txBody>
      </p:sp>
      <p:pic>
        <p:nvPicPr>
          <p:cNvPr id="463" name="Picture 46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086686" y="1018194"/>
            <a:ext cx="2565632" cy="2564084"/>
          </a:xfrm>
          <a:prstGeom prst="rect">
            <a:avLst/>
          </a:prstGeom>
        </p:spPr>
      </p:pic>
      <p:sp>
        <p:nvSpPr>
          <p:cNvPr id="72" name="TextBox 71"/>
          <p:cNvSpPr txBox="1"/>
          <p:nvPr/>
        </p:nvSpPr>
        <p:spPr>
          <a:xfrm>
            <a:off x="262402" y="7940742"/>
            <a:ext cx="5669129" cy="1836400"/>
          </a:xfrm>
          <a:prstGeom prst="rect">
            <a:avLst/>
          </a:prstGeom>
          <a:noFill/>
        </p:spPr>
        <p:txBody>
          <a:bodyPr wrap="square" lIns="18302" tIns="0" rIns="18302" bIns="0">
            <a:spAutoFit/>
          </a:bodyPr>
          <a:lstStyle/>
          <a:p>
            <a:pPr>
              <a:spcAft>
                <a:spcPts val="400"/>
              </a:spcAft>
              <a:defRPr sz="570">
                <a:solidFill>
                  <a:srgbClr val="08122B"/>
                </a:solidFill>
                <a:latin typeface="Arial"/>
              </a:defRPr>
            </a:pPr>
            <a:r>
              <a:rPr sz="1200" dirty="0"/>
              <a:t>• </a:t>
            </a:r>
            <a:r>
              <a:rPr sz="1200" b="1" dirty="0"/>
              <a:t> Bridging the gap between human </a:t>
            </a:r>
            <a:r>
              <a:rPr sz="1200" b="1" dirty="0" smtClean="0"/>
              <a:t>problem</a:t>
            </a:r>
            <a:r>
              <a:rPr lang="en-GB" sz="1200" b="1" dirty="0" smtClean="0"/>
              <a:t> </a:t>
            </a:r>
            <a:r>
              <a:rPr sz="1200" b="1" dirty="0" smtClean="0"/>
              <a:t>descriptions </a:t>
            </a:r>
            <a:r>
              <a:rPr sz="1200" b="1" dirty="0"/>
              <a:t>and </a:t>
            </a:r>
            <a:r>
              <a:rPr sz="1200" b="1" dirty="0" smtClean="0"/>
              <a:t>executable</a:t>
            </a:r>
            <a:r>
              <a:rPr lang="en-GB" sz="1200" b="1" dirty="0" smtClean="0"/>
              <a:t> </a:t>
            </a:r>
          </a:p>
          <a:p>
            <a:pPr>
              <a:spcAft>
                <a:spcPts val="400"/>
              </a:spcAft>
              <a:defRPr sz="570">
                <a:solidFill>
                  <a:srgbClr val="08122B"/>
                </a:solidFill>
                <a:latin typeface="Arial"/>
              </a:defRPr>
            </a:pPr>
            <a:r>
              <a:rPr lang="en-GB" sz="1200" b="1" dirty="0"/>
              <a:t> </a:t>
            </a:r>
            <a:r>
              <a:rPr lang="en-GB" sz="1200" b="1" dirty="0" smtClean="0"/>
              <a:t>  </a:t>
            </a:r>
            <a:r>
              <a:rPr sz="1200" b="1" dirty="0" smtClean="0"/>
              <a:t>code</a:t>
            </a:r>
            <a:r>
              <a:rPr sz="1200" b="1" dirty="0"/>
              <a:t>.</a:t>
            </a:r>
          </a:p>
          <a:p>
            <a:pPr>
              <a:spcAft>
                <a:spcPts val="400"/>
              </a:spcAft>
              <a:defRPr sz="570">
                <a:solidFill>
                  <a:srgbClr val="08122B"/>
                </a:solidFill>
                <a:latin typeface="Arial"/>
              </a:defRPr>
            </a:pPr>
            <a:r>
              <a:rPr sz="1200" b="1" dirty="0"/>
              <a:t>•  Improving automation in education, </a:t>
            </a:r>
            <a:r>
              <a:rPr sz="1200" b="1" dirty="0" smtClean="0"/>
              <a:t>software</a:t>
            </a:r>
            <a:r>
              <a:rPr lang="en-GB" sz="1200" b="1" dirty="0"/>
              <a:t> </a:t>
            </a:r>
            <a:r>
              <a:rPr sz="1200" b="1" dirty="0" smtClean="0"/>
              <a:t>development</a:t>
            </a:r>
            <a:r>
              <a:rPr sz="1200" b="1" dirty="0"/>
              <a:t>, </a:t>
            </a:r>
            <a:r>
              <a:rPr sz="1200" b="1" dirty="0" smtClean="0"/>
              <a:t>and AI-assisted</a:t>
            </a:r>
            <a:endParaRPr lang="en-GB" sz="1200" b="1" dirty="0" smtClean="0"/>
          </a:p>
          <a:p>
            <a:pPr>
              <a:spcAft>
                <a:spcPts val="400"/>
              </a:spcAft>
              <a:defRPr sz="570">
                <a:solidFill>
                  <a:srgbClr val="08122B"/>
                </a:solidFill>
                <a:latin typeface="Arial"/>
              </a:defRPr>
            </a:pPr>
            <a:r>
              <a:rPr lang="en-GB" sz="1200" b="1" dirty="0"/>
              <a:t> </a:t>
            </a:r>
            <a:r>
              <a:rPr lang="en-GB" sz="1200" b="1" dirty="0" smtClean="0"/>
              <a:t>  </a:t>
            </a:r>
            <a:r>
              <a:rPr sz="1200" b="1" dirty="0" smtClean="0"/>
              <a:t>programming</a:t>
            </a:r>
            <a:r>
              <a:rPr sz="1200" b="1" dirty="0"/>
              <a:t>.</a:t>
            </a:r>
          </a:p>
          <a:p>
            <a:pPr>
              <a:spcAft>
                <a:spcPts val="400"/>
              </a:spcAft>
              <a:defRPr sz="570">
                <a:solidFill>
                  <a:srgbClr val="08122B"/>
                </a:solidFill>
                <a:latin typeface="Arial"/>
              </a:defRPr>
            </a:pPr>
            <a:r>
              <a:rPr sz="1200" b="1" dirty="0"/>
              <a:t>•  Analysing the strengths and limitations of </a:t>
            </a:r>
            <a:r>
              <a:rPr sz="1200" b="1" dirty="0" smtClean="0"/>
              <a:t>large</a:t>
            </a:r>
            <a:r>
              <a:rPr lang="en-GB" sz="1200" b="1" dirty="0" smtClean="0"/>
              <a:t> </a:t>
            </a:r>
            <a:r>
              <a:rPr sz="1200" b="1" dirty="0" smtClean="0"/>
              <a:t>language </a:t>
            </a:r>
            <a:r>
              <a:rPr sz="1200" b="1" dirty="0"/>
              <a:t>models in </a:t>
            </a:r>
            <a:endParaRPr lang="en-GB" sz="1200" b="1" dirty="0" smtClean="0"/>
          </a:p>
          <a:p>
            <a:pPr>
              <a:spcAft>
                <a:spcPts val="400"/>
              </a:spcAft>
              <a:defRPr sz="570">
                <a:solidFill>
                  <a:srgbClr val="08122B"/>
                </a:solidFill>
                <a:latin typeface="Arial"/>
              </a:defRPr>
            </a:pPr>
            <a:r>
              <a:rPr lang="en-GB" sz="1200" b="1" dirty="0"/>
              <a:t> </a:t>
            </a:r>
            <a:r>
              <a:rPr lang="en-GB" sz="1200" b="1" dirty="0" smtClean="0"/>
              <a:t>  </a:t>
            </a:r>
            <a:r>
              <a:rPr sz="1200" b="1" dirty="0" smtClean="0"/>
              <a:t>structured </a:t>
            </a:r>
            <a:r>
              <a:rPr sz="1200" b="1" dirty="0"/>
              <a:t>program </a:t>
            </a:r>
            <a:r>
              <a:rPr lang="en-GB" sz="1200" b="1" dirty="0" smtClean="0"/>
              <a:t>generation</a:t>
            </a:r>
            <a:r>
              <a:rPr sz="1200" b="1" dirty="0" smtClean="0"/>
              <a:t>.</a:t>
            </a:r>
            <a:endParaRPr lang="en-GB" sz="1200" b="1" dirty="0" smtClean="0"/>
          </a:p>
          <a:p>
            <a:pPr>
              <a:spcAft>
                <a:spcPts val="400"/>
              </a:spcAft>
              <a:defRPr sz="570">
                <a:solidFill>
                  <a:srgbClr val="08122B"/>
                </a:solidFill>
                <a:latin typeface="Arial"/>
              </a:defRPr>
            </a:pPr>
            <a:r>
              <a:rPr lang="en-GB" sz="1200" b="1" dirty="0" smtClean="0"/>
              <a:t>• Improving semantic correctness between compiled programs from various </a:t>
            </a:r>
          </a:p>
          <a:p>
            <a:pPr>
              <a:spcAft>
                <a:spcPts val="400"/>
              </a:spcAft>
              <a:defRPr sz="570">
                <a:solidFill>
                  <a:srgbClr val="08122B"/>
                </a:solidFill>
                <a:latin typeface="Arial"/>
              </a:defRPr>
            </a:pPr>
            <a:r>
              <a:rPr lang="en-GB" sz="1200" b="1" dirty="0"/>
              <a:t> </a:t>
            </a:r>
            <a:r>
              <a:rPr lang="en-GB" sz="1200" b="1" dirty="0" smtClean="0"/>
              <a:t> languages.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853</Words>
  <Application>Microsoft Office PowerPoint</Application>
  <PresentationFormat>Custom</PresentationFormat>
  <Paragraphs>201</Paragraphs>
  <Slides>1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2" baseType="lpstr">
      <vt:lpstr>Office Theme</vt:lpstr>
      <vt:lpstr>PowerPoint Presentation</vt:lpstr>
    </vt:vector>
  </TitlesOfParts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cp:lastModifiedBy/>
  <cp:revision>1</cp:revision>
  <dcterms:created xsi:type="dcterms:W3CDTF">2026-07-11T01:53:57Z</dcterms:created>
  <dcterms:modified xsi:type="dcterms:W3CDTF">2026-07-11T03:24:06Z</dcterms:modified>
</cp:coreProperties>
</file>